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62" y="49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702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109728" cy="2560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2011680" cy="2011680"/>
          </a:xfrm>
          <a:prstGeom prst="rect">
            <a:avLst/>
          </a:prstGeom>
          <a:solidFill>
            <a:srgbClr val="06B6D4">
              <a:alpha val="9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914400"/>
            <a:ext cx="1463040" cy="1463040"/>
          </a:xfrm>
          <a:prstGeom prst="rect">
            <a:avLst/>
          </a:prstGeom>
          <a:solidFill>
            <a:srgbClr val="06B6D4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 STORAGE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INTERNALS &amp;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REPLICATION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274320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into Storage Architecture, Replication, and Operations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Vikash Verma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 |  Segments  |  Replication  |  ISR  |  Retention  |  Compaction  | 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 Storage Internals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persists all messages to disk using an append-only commit log, ensuring durability even during broker restarts.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partition maps to a directory with segment files (.log), offset indexes (.index), and timestamp indexes (.timeindex).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assigned a monotonically increasing 64-bit offset as their unique identifier within a partition.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throughput is achieved via sequential disk I/O, OS page cache, and zero-copy (sendfile) transfers.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control durability with acks: 0 (fire-and-forget), 1 (leader ack), or all (full ISR acknowledgment).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 Storage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Kafka cluster consists of multiple brokers, each hosting a subset of topic partitions for load balancing and fault tolerance.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partition is an independent, ordered, immutable sequence of records, stored in /tmp/kafka-logs/&lt;topic&gt;-&lt;partition&gt;/.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enable horizontal scalability: more partitions = more consumers can read in parallel within a consumer group.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broker (elected via ZooKeeper or KRaft) manages partition assignments, leader elections, and cluster metadata.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data is replicated across brokers (replication.factor), with one leader handling all reads/writes per partition.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layout: Topic "orders" with 3 partitions creates directories orders-0/, orders-1/, orders-2/ on different brokers.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 Storage Architecture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051560"/>
            <a:ext cx="6400800" cy="379476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1097280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2743200"/>
            <a:ext cx="100584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688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Cluster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554480"/>
            <a:ext cx="192024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46888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0 (Leader)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2057400"/>
            <a:ext cx="19202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6888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68880" y="2423160"/>
            <a:ext cx="594360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468880" y="24231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0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108960" y="2423160"/>
            <a:ext cx="59436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108960" y="24231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1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749040" y="2423160"/>
            <a:ext cx="59436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749040" y="24231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709160" y="1554480"/>
            <a:ext cx="1920240" cy="411480"/>
          </a:xfrm>
          <a:prstGeom prst="rect">
            <a:avLst/>
          </a:prstGeom>
          <a:solidFill>
            <a:srgbClr val="7B1FA2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0916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1 (Follower)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057400"/>
            <a:ext cx="19202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0916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1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2423160"/>
            <a:ext cx="594360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09160" y="24231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0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349240" y="2423160"/>
            <a:ext cx="59436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349240" y="24231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989320" y="2423160"/>
            <a:ext cx="59436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989320" y="24231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949440" y="1554480"/>
            <a:ext cx="164592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949440" y="1554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2 (Follower)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49440" y="2057400"/>
            <a:ext cx="164592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94944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2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49440" y="2423160"/>
            <a:ext cx="502920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949440" y="24231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0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498080" y="2423160"/>
            <a:ext cx="50292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498080" y="24231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1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046720" y="2423160"/>
            <a:ext cx="5029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046720" y="24231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468880" y="3063240"/>
            <a:ext cx="612648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468880" y="30632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Segment: .log (data) + .index (offset map) + .timeindex (timestamp map)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468880" y="3566160"/>
            <a:ext cx="3200400" cy="100584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00000000000000000000.log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00000000000000000000.index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00000000000000000000.timeindex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852160" y="35661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at 1GB (log.segment.bytes)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segment receives all writes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segments are immutable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 Files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partition directory contains multiple segment files; the active segment receives writes while older segments are sealed and immutable.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 consists of three files: .log (message data), .index (offset-to-position mapping), and .timeindex (timestamp-to-offset mapping).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files are named by their base offset (e.g., 00000000000000000000.log starts at offset 0).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roll over when they reach log.segment.bytes (default 1GB) or log.roll.ms/log.roll.hours time threshold.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segments are eligible for cleanup by retention or compaction policies, enabling efficient garbage collection.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segment is never deleted or compacted, ensuring current writes are always preserved.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 Log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 log is the fundamental data structure: each record has an offset, timestamp, key, value, and headers.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stored in batches (RecordBatch) for efficiency, sharing compression, timestamp type, and producer metadata.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compression codecs: none, gzip, snappy, lz4, and zstd, applied at the batch level.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contains: offset (8 bytes), message size, CRC checksum, magic byte, timestamp, key, value, and optional headers.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ordering guarantee: messages from the same producer to the same partition maintain strict ordering.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track their position via committed offsets stored in the __consumer_offsets internal topic.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Quiz: Storage Fundamentals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26187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What syscall does Kafka use for zero-copy data transfer?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mmap   B) read/write   C) sendfile   D) splice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80467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40487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What happens when a segment reaches log.segment.bytes?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Deleted   B) New active segment created   C) Partition stops writes   D) Compression triggered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354787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How does a consumer locate a specific offset?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Linear scan of .log   B) Binary search on .index   C) Query ZooKeeper   D) Hash lookup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answers with your neighbor before we reveal the solutions!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Lab: Inspect Kafka Log Files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Locate your Kafka log directory (default: /tmp/kafka-logs/) and navigate to a partition directory.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List all files: ls -la *.log *.index *.timeindex (observe segment naming by base offset).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Dump a log segment: kafka-dump-log.sh --files 00000000000000000000.log --print-data-log | head -20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Inspect the offset index: kafka-dump-log.sh --files 00000000000000000000.index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Check the time index: kafka-dump-log.sh --files 00000000000000000000.timeindex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Compare: pick an offset from the index, find it in the log dump, verify the byte position matches.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Calculate how many bytes each index entry saves vs. a full linear scan.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 Index Files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index (.index) is a sparse index mapping logical offsets to physical byte positions in the .log file for O(1) lookup.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stores entries at intervals controlled by log.index.interval.bytes (default 4096), not for every record.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index (.timeindex) maps timestamps to offsets, enabling time-based lookups like "fetch messages from last hour."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fetch requests use binary search on the index to locate the target offset, then sequential scan within the segment.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files are memory-mapped (mmap) for fast access without explicit I/O, leveraging the OS virtual memory system.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consumer joins or resets, the timestamp index enables efficient seeking to a specific point in time.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Lab: Explore Index and Offset Lookup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Create a topic: kafka-topics.sh --create --topic index-lab --partitions 1 --replication-factor 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Produce 10,000 messages: kafka-producer-perf-test.sh --topic index-lab --num-records 10000 --record-size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Locate the partition directory: ls -la /tmp/kafka-logs/index-lab-0/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Dump the offset index: kafka-dump-log.sh --files 00000000000000000000.index --print-data-log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Dump the time index: kafka-dump-log.sh --files 00000000000000000000.timeindex --print-data-log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Compare index entries to log positions - verify the sparse index mapping.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Calculate the average gap between indexed offsets and explain why Kafka uses sparse indexing.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Replication Process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replicates each partition across multiple brokers (replication.factor, recommended minimum: 3 for production).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replica is elected as leader, handling ALL produce and consume requests; followers exist only for fault tolerance.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continuously fetch data from the leader using the same protocol consumers use, maintaining local copies.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fetch process is pull-based: followers send FetchRequests specifying the offset they need.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is asynchronous by default, but acks=all forces the producer to wait until all ISR members acknowledge.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bandwidth between brokers is the primary bottleneck; inter-broker traffic scales linearly with replication factor.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Replication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1097280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2651760"/>
            <a:ext cx="7315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371600" y="2377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03120" y="1188720"/>
            <a:ext cx="22860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10312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Broker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31720" y="1691640"/>
            <a:ext cx="18288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33172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0 (Leader)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31720" y="2148840"/>
            <a:ext cx="182880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33172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Offset: 0-5000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31720" y="2514600"/>
            <a:ext cx="18288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3317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HW: 4500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331720" y="2880360"/>
            <a:ext cx="1828800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33172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LEO: 5000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89120" y="196596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389120" y="1691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89120" y="361188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389120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20640" y="1188720"/>
            <a:ext cx="182880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2064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03520" y="1645920"/>
            <a:ext cx="1463040" cy="274320"/>
          </a:xfrm>
          <a:prstGeom prst="rect">
            <a:avLst/>
          </a:prstGeom>
          <a:solidFill>
            <a:srgbClr val="7B1FA2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303520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0 (Replica)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03520" y="1965960"/>
            <a:ext cx="14630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303520" y="1965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Offset: 0-4500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03520" y="2286000"/>
            <a:ext cx="146304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303520" y="2286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ISR: Yes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120640" y="2926080"/>
            <a:ext cx="182880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12064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03520" y="3337560"/>
            <a:ext cx="1463040" cy="274320"/>
          </a:xfrm>
          <a:prstGeom prst="rect">
            <a:avLst/>
          </a:prstGeom>
          <a:solidFill>
            <a:srgbClr val="E65100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30352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0 (Replica)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03520" y="3657600"/>
            <a:ext cx="146304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30352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Offset: 0-4200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03520" y="3977640"/>
            <a:ext cx="146304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303520" y="3977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ISR: Yes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498080" y="2286000"/>
            <a:ext cx="1097280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498080" y="22860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66560" y="2651760"/>
            <a:ext cx="73152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766560" y="2377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= High Watermark (committed)  |  LEO = Log End Offset  |  ISR = In-Sync Replica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 and Followers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always send records to the partition leader; followers never serve produce or consume requests directly.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Kafka 2.4+, follower fetching (KIP-392) allows consumers to read from the closest replica.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track follower progress via the replica fetch offset; lagging followers are removed from ISR.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broker can be leader for some partitions and follower for others, distributing load across the cluster.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leader fails, the controller reassigns leadership to an in-sync follower automatically.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replica election rebalances leadership after recovery (auto.leader.rebalance.enable=true).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Think-Pair-Share: Replication Trade-offs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You are designing a Kafka deployment for a financial trading platform.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What replication factor would you choose and why?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acks=all vs acks=1 - when would you accept the latency cost of full ISR acknowledgment?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throughput as you increase the replication factor from 2 to 3 to 5?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min.insync.replicas=2 with replication.factor=3 means the cluster can tolerate 1 broker failure.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share: What is the minimum acceptable replication factor for your use case?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Lab: Broker Failure Simulation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Start a 3-broker cluster (server-0.properties, server-1.properties, server-2.properties).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Create a replicated topic: kafka-topics.sh --create --topic failover-lab --partitions 3 --replication-factor 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Describe the topic to note current leaders: kafka-topics.sh --describe --topic failover-lab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Start a producer with acks=all sending continuous messages.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Kill the leader broker: kill -9 &lt;leader-pid&gt;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Re-describe the topic: observe the new leader and reduced ISR.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Restart the failed broker and verify ISR recovery - watch ISR expand back.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ISR (In-Sync Replicas)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contains the leader plus all followers that are fully caught up within the configured lag threshold.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follower is removed from ISR if it has not fetched within replica.lag.time.max.ms (default: 30 seconds).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ISR members are eligible for leader election (clean election), ensuring the new leader has all committed records.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min.insync.replicas defines the minimum ISR size for a producer with acks=all to succeed (commonly set to 2).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ISR shrinks below min.insync.replicas, producers with acks=all receive NotEnoughReplicasException.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is dynamic: a recovered follower automatically rejoins once it catches up to the leader high-water mark.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 Election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 the current partition leader becomes unavailable (crash, network partition, or controlled shutdown).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Kafka controller detects failure via ZooKeeper session expiry or KRaft heartbeat timeout.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election: controller selects a new leader from ISR, guaranteeing no data loss.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Unclean election (unclean.leader.election.enable=true): allows non-ISR replicas to become leader, risking data loss.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latency is typically under 1 second; clients experience a brief NotLeaderForPartitionException.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leader increments the leader epoch to fence stale producers and prevent duplicates.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ISR &amp; Leader Election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Normal State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10058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0" y="1417320"/>
            <a:ext cx="100584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71600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68880" y="1417320"/>
            <a:ext cx="100584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468880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1920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ISR: [0, 1, 2]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Broker 0 Fails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1417320"/>
            <a:ext cx="10058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40480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6908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X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937760" y="1417320"/>
            <a:ext cx="100584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35040" y="1417320"/>
            <a:ext cx="100584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035040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0480" y="1920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ISR: [1, 2]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Controller Elects New Leader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743200"/>
            <a:ext cx="137160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7432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0" y="2971800"/>
            <a:ext cx="64008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286000" y="2743200"/>
            <a:ext cx="1371600" cy="54864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28600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[1, 2]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0" y="2971800"/>
            <a:ext cx="64008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297680" y="2743200"/>
            <a:ext cx="13716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29768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Leader: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New Leader Serving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886200"/>
            <a:ext cx="100584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74320" y="3886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371600" y="3886200"/>
            <a:ext cx="10058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371600" y="3886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468880" y="3886200"/>
            <a:ext cx="100584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468880" y="3886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74320" y="4389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ISR: [1, 2] | Epoch: 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43600" y="2423160"/>
            <a:ext cx="2926080" cy="24688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12648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26480" y="27889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election: new leader from ISR only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Unclean election: risk of data loss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&lt; 1 second typically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epoch prevents stale writes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auto-discover new leader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Scenario: ISR Troubleshooting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Your cluster has 3 brokers with replication.factor=3 and min.insync.replicas=2.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Producers are failing with NotEnoughReplicasException on topic "payments."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1: kafka-topics.sh shows ISR=[1] for partition 0 (down from [1,2,3]).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2: Broker 2 logs show "WARN Fetch request from follower timed out." Broker 3 is unreachable.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task: What caused the ISR to shrink? What immediate steps would you take?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 How would you prevent this? What monitoring would you set up?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If you set unclean.leader.election.enable=true, what are the risks?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Lab: Monitor ISR and Leader Election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Start a 3-broker cluster and create topic: kafka-topics.sh --create --topic isr-lab --partitions 3 --replication-factor 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Check ISR status: kafka-topics.sh --describe --topic isr-lab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Start a producer: kafka-producer-perf-test.sh --topic isr-lab --num-records 100000 --throughput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Simulate broker failure: kill -9 &lt;broker2-pid&gt;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Re-check ISR: kafka-topics.sh --describe --topic isr-lab (observe ISR shrink).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Restart broker 2 and watch ISR expand back.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Verify all partitions have full ISR and check for under-replicated partitions.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Retention Policies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automatically deletes old data based on configurable retention policies at the topic level.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(retention.ms): messages older than the threshold are eligible for deletion (default: 7 days).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Size-based (retention.bytes): when partition size exceeds the limit, oldest segments are deleted first.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applies to sealed segments only; the active segment is never deleted.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time and size can be active simultaneously; whichever threshold is breached first triggers deletion.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per topic: kafka-configs.sh --alter --entity-name my-topic --add-config retention.ms=86400000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Compaction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the latest record for each unique key, ideal for maintaining a changelog or snapshot of current state.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with cleanup.policy=compact; the log cleaner thread runs asynchronously in the background.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CDC (Change Data Capture), KTable state in Kafka Streams, latest config/profile per entity.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the cleaner identifies dirty segments, builds an offset map of latest keys, and rewrites cleaned segments.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Tombstone records (key with null value) mark a key for deletion; retained for delete.retention.ms before removal.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Guarantee: consumers starting from offset 0 will always see at least the latest value for every key.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Retention vs Log Compaction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Retention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82296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0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(old)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234440" y="1783080"/>
            <a:ext cx="82296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34440" y="1783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03120" y="1783080"/>
            <a:ext cx="82296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103120" y="1783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71800" y="1783080"/>
            <a:ext cx="8229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71800" y="1783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03120" y="2606040"/>
            <a:ext cx="82296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103120" y="26060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71800" y="2606040"/>
            <a:ext cx="8229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971800" y="26060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segments deleted entirely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80560" y="1097280"/>
            <a:ext cx="27432" cy="365760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Compaction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1463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783080"/>
            <a:ext cx="64008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0" y="1783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A:v1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440680" y="1783080"/>
            <a:ext cx="64008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40680" y="1783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B:v1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126480" y="1783080"/>
            <a:ext cx="64008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26480" y="1783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A:v2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12280" y="1783080"/>
            <a:ext cx="64008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812280" y="1783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C:v1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498080" y="1783080"/>
            <a:ext cx="64008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498080" y="1783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B:v2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183880" y="1783080"/>
            <a:ext cx="640080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183880" y="1783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A:v3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75488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606040"/>
            <a:ext cx="640080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54880" y="2606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A:v3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440680" y="2606040"/>
            <a:ext cx="64008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440680" y="2606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B:v2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126480" y="2606040"/>
            <a:ext cx="64008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126480" y="2606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C:v1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75488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latest value per key retained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3429000"/>
            <a:ext cx="8412480" cy="1508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5720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92024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(delete)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21208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(compact)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38221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920240" y="38221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segments by age/size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12080" y="38221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records per key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41696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920240" y="41696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after expiry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212080" y="4169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value for each key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" y="45171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920240" y="45171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logs, metrics, audit trails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212080" y="45171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CDC, user profiles, config state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Quiz: Retention &amp; Compaction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26187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A topic has retention.ms=86400000. What does this mean?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Messages expire after 24 hours   B) Segments roll every 24 hours   C) Compaction runs daily   D) Offsets expire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80467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240487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When cleanup.policy=compact, what happens to duplicate keys?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All duplicates removed   B) Latest value per key retained   C) Keys merged   D) Partition rebalanced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354787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Can you combine retention and compaction?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No, mutually exclusive   B) Yes, cleanup.policy=delete,compact   C) Only with ZooKeeper   D) Only in KRaft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choose compaction over time-based retention?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Lab: Configure Retention Policies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Create topic with short retention: kafka-topics.sh --create --topic retention-lab --config retention.ms=60000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Produce 500 messages using kafka-console-producer.sh.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Check current segment files: ls -la /tmp/kafka-logs/retention-lab-0/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Wait 60+ seconds, then force a log segment roll with segment.ms=10000.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Observe segment deletion: old segments should disappear.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Verify with kafka-configs.sh --describe to confirm active retention settings.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Test size-based retention by setting retention.bytes=1024.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Lab: Enable Log Compaction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Create a compacted topic: kafka-topics.sh --create --topic compact-lab --config cleanup.policy=compact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Produce records with duplicate keys using kafka-console-producer.sh with parse.key=true.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Consume all records to see duplicates: kafka-console-consumer.sh --from-beginning --print.key=true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Trigger compaction: set min.cleanable.dirty.ratio=0.01.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Re-consume: you should see only the latest value per key (A, B, C).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Send a tombstone for key A (key with null value).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After delete.retention.ms passes, key A should be completely removed.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Replication Health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kafka-topics.sh --describe: shows partition leaders, replicas, and current ISR for every topic.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Under-replicated partitions (URP) is the critical metric: URP &gt; 0 means a follower has fallen out of ISR.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JMX metrics: UnderReplicatedPartitions, IsrShrinksPerSec, IsrExpandsPerSec, ActiveControllerCount.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lag (bytes behind leader) indicates follower health; sustained lag suggests bottlenecks.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kafka-consumer-groups.sh --describe to monitor consumer lag separately from replication lag.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AlertManager/Prometheus: alert when URP &gt; 0 for 5+ minutes, or ISR shrink rate exceeds expand rate.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Lab: Replication Monitoring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Enable JMX on all brokers with KAFKA_JMX_OPTS for remote monitoring.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Monitor key metric: kafka.server:type=ReplicaManager,name=UnderReplicatedPartitions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Track ISR changes: IsrShrinksPerSec and IsrExpandsPerSec.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Monitor replication lag via FetcherLagMetrics.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Set up alerts for: URP &gt; 0, ISR shrinks, leader election rate spikes.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Use kafka-consumer-groups.sh to monitor consumer lag alongside replication health.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Configure alerting thresholds and explain what each metric tells you.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56032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&gt;= 3 with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min.insync.replicas=2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91840" y="1143000"/>
            <a:ext cx="2560320" cy="4572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2900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Election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unclean election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critical topics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5603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6364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 Setting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acks=all for critical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acks=1 for metrics/logs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560320" cy="4572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436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520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for real-time streams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for replay and audit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301752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91840" y="3017520"/>
            <a:ext cx="256032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2900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29000" y="3520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SSDs for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3-5x throughput boost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56032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26480" y="301752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6364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3520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URP, ISR shrinks,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&amp; consumer lag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Challenge: Production Kafka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286000" cy="3200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Design Kafka for an e-commerce platform handling 100K orders/second.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Zero message loss, 99.99% availability, 7-day retention, real-time analytics.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Define topic config - partitions, replication factor, min.insync.replicas, acks.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Choose retention policy - time-based, size-based, or compaction? Justify for "orders" topic.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Plan monitoring - which JMX metrics? What alerting thresholds?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4: Design failure recovery - 1 broker down? 2 brokers simultaneously?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design to the group and defend your trade-offs!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5943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051560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commit logs with segment files, sparse indexes, and zero-copy transfers.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54864" cy="5943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764792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ISR-based leader election prevents data loss during broker failures.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478024"/>
            <a:ext cx="54864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2478024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478024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and log compaction provide flexible storage lifecycle management.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91256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3191256"/>
            <a:ext cx="54864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3191256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191256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replication.factor=3, min.insync.replicas=2, acks=all, no unclean election.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04488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" y="3904488"/>
            <a:ext cx="54864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390448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3904488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URP, ISR changes, replication lag, and consumer lag continuously.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2880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Streams  |  KRaft Mode  |  Tiered Storage  |  Schema Registry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31</TotalTime>
  <Words>3595</Words>
  <Application>Microsoft Office PowerPoint</Application>
  <PresentationFormat>On-screen Show (16:9)</PresentationFormat>
  <Paragraphs>414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3</cp:revision>
  <dcterms:created xsi:type="dcterms:W3CDTF">2013-01-27T09:14:16Z</dcterms:created>
  <dcterms:modified xsi:type="dcterms:W3CDTF">2026-05-22T01:10:06Z</dcterms:modified>
  <cp:category/>
</cp:coreProperties>
</file>