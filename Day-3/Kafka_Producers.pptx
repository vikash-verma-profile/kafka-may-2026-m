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62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62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7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2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6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3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08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5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39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57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Line"/>
          <p:cNvSpPr/>
          <p:nvPr/>
        </p:nvSpPr>
        <p:spPr>
          <a:xfrm>
            <a:off x="0" y="32000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w Cen MT Condensed"/>
              </a:rPr>
              <a:t>Kafka Producers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914400" y="3400000"/>
            <a:ext cx="73152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 lang="en-US" sz="2000" dirty="0">
                <a:solidFill>
                  <a:srgbClr val="27CED7"/>
                </a:solidFill>
                <a:latin typeface="Calibri"/>
              </a:rPr>
              <a:t>A Deep Dive into Event-Driven Data Publishing</a:t>
            </a:r>
          </a:p>
        </p:txBody>
      </p:sp>
      <p:sp>
        <p:nvSpPr>
          <p:cNvPr id="104" name="Footer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8FAAB8"/>
                </a:solidFill>
                <a:latin typeface="Calibri"/>
              </a:rPr>
              <a:t>Apache Kafka | Producer Architecture, Configuration &amp;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Agenda</a:t>
            </a:r>
          </a:p>
        </p:txBody>
      </p:sp>
      <p:sp>
        <p:nvSpPr>
          <p:cNvPr id="103" name="LeftBg"/>
          <p:cNvSpPr/>
          <p:nvPr/>
        </p:nvSpPr>
        <p:spPr>
          <a:xfrm>
            <a:off x="3657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RightBg"/>
          <p:cNvSpPr/>
          <p:nvPr/>
        </p:nvSpPr>
        <p:spPr>
          <a:xfrm>
            <a:off x="48916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LeftContent"/>
          <p:cNvSpPr txBox="1"/>
          <p:nvPr/>
        </p:nvSpPr>
        <p:spPr>
          <a:xfrm>
            <a:off x="4572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Topics 1-4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01  Kafka Producer API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Core components and classes for publishing messages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02  Producer Workflow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End-to-end lifecycle from creation to broker acknowledgment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03  Message Keys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Partition routing and ordering guarantees via keys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04  Partitioning Logic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Round-robin vs hash-based vs custom partitioners</a:t>
            </a:r>
          </a:p>
        </p:txBody>
      </p:sp>
      <p:sp>
        <p:nvSpPr>
          <p:cNvPr id="106" name="RightContent"/>
          <p:cNvSpPr txBox="1"/>
          <p:nvPr/>
        </p:nvSpPr>
        <p:spPr>
          <a:xfrm>
            <a:off x="49831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Topics 5-8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05  Delivery Guarantees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At-most-once, at-least-once, and exactly-once semantics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06  Acks &amp; Retries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Acknowledgment modes, retry strategies, and idempotence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07  Performance Tuning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Batching, compression, and memory configuration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dirty="0">
                <a:solidFill>
                  <a:srgbClr val="2D2D2D"/>
                </a:solidFill>
                <a:latin typeface="Calibri"/>
              </a:rPr>
              <a:t>08  Hands-on Labs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7B8D"/>
                </a:solidFill>
                <a:latin typeface="Calibri"/>
              </a:rPr>
              <a:t>Practical exercises with Java and Python producers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What Is a Kafka Producer?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Definition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A Kafka Producer is a client application that serializes, partitions, and publishes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records to one or more Kafka topics. It acts as the entry point for all data flowing into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the Kafka cluster, handling connection management, batching, and delivery confirmation.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How It Works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Producers connect to any broker in the cluster (bootstrap servers) to discover topic metadata.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Messages are serialized into byte arrays, partitioned, then batched for network efficiency.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The producer uses an internal record accumulator and a background I/O thread to send batches.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Real-World Examples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Order Service emitting order events, Payment Gateway streaming transactions, IoT sensors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publishing telemetry data, log aggregators forwarding application logs, and click-stream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collectors capturing user behavior for real-time analytics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Kafka Producer Architecture</a:t>
            </a:r>
          </a:p>
        </p:txBody>
      </p:sp>
      <p:sp>
        <p:nvSpPr>
          <p:cNvPr id="103" name="CardBg0"/>
          <p:cNvSpPr/>
          <p:nvPr/>
        </p:nvSpPr>
        <p:spPr>
          <a:xfrm>
            <a:off x="36576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CardAccent0"/>
          <p:cNvSpPr/>
          <p:nvPr/>
        </p:nvSpPr>
        <p:spPr>
          <a:xfrm>
            <a:off x="45720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CardText0"/>
          <p:cNvSpPr txBox="1"/>
          <p:nvPr/>
        </p:nvSpPr>
        <p:spPr>
          <a:xfrm>
            <a:off x="45720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Bootstrap &amp; Connect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The producer discovers cluster topology by connecting to bootstrap servers.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Metadata requests return partition leaders so the producer sends directly to the right broker.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Connection pooling keeps TCP connections alive for reuse across sends.</a:t>
            </a:r>
          </a:p>
        </p:txBody>
      </p:sp>
      <p:sp>
        <p:nvSpPr>
          <p:cNvPr id="106" name="CardBg1"/>
          <p:cNvSpPr/>
          <p:nvPr/>
        </p:nvSpPr>
        <p:spPr>
          <a:xfrm>
            <a:off x="323088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7" name="CardAccent1"/>
          <p:cNvSpPr/>
          <p:nvPr/>
        </p:nvSpPr>
        <p:spPr>
          <a:xfrm>
            <a:off x="332232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8" name="CardText1"/>
          <p:cNvSpPr txBox="1"/>
          <p:nvPr/>
        </p:nvSpPr>
        <p:spPr>
          <a:xfrm>
            <a:off x="332232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Serialize &amp; Partition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Key and value serializers convert objects into byte arrays (String, JSON, Avro, Protobuf).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The partitioner assigns each record to a specific partition using key hashing or round-robin.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Custom partitioners let you implement domain-specific routing strategies.</a:t>
            </a:r>
          </a:p>
        </p:txBody>
      </p:sp>
      <p:sp>
        <p:nvSpPr>
          <p:cNvPr id="109" name="CardBg2"/>
          <p:cNvSpPr/>
          <p:nvPr/>
        </p:nvSpPr>
        <p:spPr>
          <a:xfrm>
            <a:off x="609600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CardAccent2"/>
          <p:cNvSpPr/>
          <p:nvPr/>
        </p:nvSpPr>
        <p:spPr>
          <a:xfrm>
            <a:off x="618744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1" name="CardText2"/>
          <p:cNvSpPr txBox="1"/>
          <p:nvPr/>
        </p:nvSpPr>
        <p:spPr>
          <a:xfrm>
            <a:off x="618744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Batch &amp; Deliver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Records accumulate in per-partition batches within the RecordAccumulator.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The sender thread transmits batches when batch.size or linger.ms thresholds are met.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Brokers write to the commit log and return acks based on the configured acks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Kafka Producer Workflow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Tw Cen MT Condensed"/>
              </a:rPr>
              <a:t>1. Create Record 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Build a ProducerRecord with topic, optional key, value, headers, and timestamp. The key determines partition routing.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Tw Cen MT Condensed"/>
              </a:rPr>
              <a:t>2. Serialize 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Key and value serializers transform objects into byte arrays. Schema Registry validates Avro/Protobuf schemas if configured.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Tw Cen MT Condensed"/>
              </a:rPr>
              <a:t>3. Partition 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The partitioner selects the target partition: murmur2 hash of key, round-robin for null keys, or a custom strategy.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Tw Cen MT Condensed"/>
              </a:rPr>
              <a:t>4. Batch &amp; Compress 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Records accumulate in the RecordAccumulator. Batches compress using gzip, snappy, lz4, or zstd before transmission.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Tw Cen MT Condensed"/>
              </a:rPr>
              <a:t>5. Send to Leader 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The sender thread transmits the batch to the partition leader broker via a produce request over TCP.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Tw Cen MT Condensed"/>
              </a:rPr>
              <a:t>6. Acknowledge 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Broker persists the batch to the commit log, replicates per acks config, then returns a RecordMetadata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Producer API Components</a:t>
            </a:r>
          </a:p>
        </p:txBody>
      </p:sp>
      <p:sp>
        <p:nvSpPr>
          <p:cNvPr id="103" name="CardBg0"/>
          <p:cNvSpPr/>
          <p:nvPr/>
        </p:nvSpPr>
        <p:spPr>
          <a:xfrm>
            <a:off x="36576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CardAccent0"/>
          <p:cNvSpPr/>
          <p:nvPr/>
        </p:nvSpPr>
        <p:spPr>
          <a:xfrm>
            <a:off x="45720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CardText0"/>
          <p:cNvSpPr txBox="1"/>
          <p:nvPr/>
        </p:nvSpPr>
        <p:spPr>
          <a:xfrm>
            <a:off x="45720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KafkaProducer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The main client class that manages connections, serialization, and sending.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Thread-safe: share one instance across threads for efficiency.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Provides send(), flush(), and close() methods.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Returns Future&lt;RecordMetadata&gt; for async tracking.</a:t>
            </a:r>
          </a:p>
        </p:txBody>
      </p:sp>
      <p:sp>
        <p:nvSpPr>
          <p:cNvPr id="106" name="CardBg1"/>
          <p:cNvSpPr/>
          <p:nvPr/>
        </p:nvSpPr>
        <p:spPr>
          <a:xfrm>
            <a:off x="323088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7" name="CardAccent1"/>
          <p:cNvSpPr/>
          <p:nvPr/>
        </p:nvSpPr>
        <p:spPr>
          <a:xfrm>
            <a:off x="332232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8" name="CardText1"/>
          <p:cNvSpPr txBox="1"/>
          <p:nvPr/>
        </p:nvSpPr>
        <p:spPr>
          <a:xfrm>
            <a:off x="332232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ProducerRecord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Represents a single message to be sent to a Kafka topic.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Required: topic name and value.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Optional: key, partition, timestamp, and headers.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Headers carry metadata without altering the payload.</a:t>
            </a:r>
          </a:p>
        </p:txBody>
      </p:sp>
      <p:sp>
        <p:nvSpPr>
          <p:cNvPr id="109" name="CardBg2"/>
          <p:cNvSpPr/>
          <p:nvPr/>
        </p:nvSpPr>
        <p:spPr>
          <a:xfrm>
            <a:off x="609600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CardAccent2"/>
          <p:cNvSpPr/>
          <p:nvPr/>
        </p:nvSpPr>
        <p:spPr>
          <a:xfrm>
            <a:off x="618744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1" name="CardText2"/>
          <p:cNvSpPr txBox="1"/>
          <p:nvPr/>
        </p:nvSpPr>
        <p:spPr>
          <a:xfrm>
            <a:off x="618744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Serializer &amp; Config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Serializers convert Java/Python objects into byte arrays for transmission.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Built-in: String, Integer, ByteArray serializers.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Schema-aware: Avro, Protobuf, JSON Schema via Confluent SR.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ProducerConfig centralizes all tuning knobs.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Producer Message Structure</a:t>
            </a:r>
          </a:p>
        </p:txBody>
      </p:sp>
      <p:sp>
        <p:nvSpPr>
          <p:cNvPr id="103" name="LeftBg"/>
          <p:cNvSpPr/>
          <p:nvPr/>
        </p:nvSpPr>
        <p:spPr>
          <a:xfrm>
            <a:off x="3657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RightBg"/>
          <p:cNvSpPr/>
          <p:nvPr/>
        </p:nvSpPr>
        <p:spPr>
          <a:xfrm>
            <a:off x="48916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LeftContent"/>
          <p:cNvSpPr txBox="1"/>
          <p:nvPr/>
        </p:nvSpPr>
        <p:spPr>
          <a:xfrm>
            <a:off x="4572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Core Fields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Calibri"/>
              </a:rPr>
              <a:t>Topic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The logical channel name the message is published to. Topics are divided into partitions for parallelism.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Calibri"/>
              </a:rPr>
              <a:t>Key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Optional field used for partition routing. Same key always maps to the same partition, ensuring ordering.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Calibri"/>
              </a:rPr>
              <a:t>Value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The actual message payload. Can be any byte array: JSON, Avro, Protobuf, or plain text.</a:t>
            </a:r>
          </a:p>
        </p:txBody>
      </p:sp>
      <p:sp>
        <p:nvSpPr>
          <p:cNvPr id="106" name="RightContent"/>
          <p:cNvSpPr txBox="1"/>
          <p:nvPr/>
        </p:nvSpPr>
        <p:spPr>
          <a:xfrm>
            <a:off x="49831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Metadata Fields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Calibri"/>
              </a:rPr>
              <a:t>Partition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Explicitly set a target partition, bypassing the partitioner. Use sparingly for special routing needs.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Calibri"/>
              </a:rPr>
              <a:t>Timestamp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CreateTime (producer-set) or LogAppendTime (broker-set). Used for time-based retention and windowed queries.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CADE4"/>
                </a:solidFill>
                <a:latin typeface="Calibri"/>
              </a:rPr>
              <a:t>Headers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Key-value metadata pairs for tracing, routing, or encoding info without modifying the payload.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Message Keys in Kafka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Why Keys Matter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Keys determine which partition a message lands in. Kafka hashes the key using murmur2 and maps it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to a partition via modulo arithmetic. Messages with the same key always go to the same partition,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guaranteeing ordering for that key across all messages in the topic.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Ordering Guarantees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Within a partition, messages are strictly ordered by offset. If your consumer needs to process events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for a customer in sequence, use CustomerID as the key so all events for that customer are ordered.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Common key choices: CustomerID, OrderID, UserID, SessionID, DeviceID.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Null Keys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When the key is null, Kafka uses a sticky partitioner (since 2.4+) that batches records to the same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partition until the batch is full, then switches. This replaced the older round-robin approach and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significantly improved batching efficiency and throughput for keyless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Partitioning Logic</a:t>
            </a:r>
          </a:p>
        </p:txBody>
      </p:sp>
      <p:sp>
        <p:nvSpPr>
          <p:cNvPr id="103" name="LeftBg"/>
          <p:cNvSpPr/>
          <p:nvPr/>
        </p:nvSpPr>
        <p:spPr>
          <a:xfrm>
            <a:off x="3657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RightBg"/>
          <p:cNvSpPr/>
          <p:nvPr/>
        </p:nvSpPr>
        <p:spPr>
          <a:xfrm>
            <a:off x="48916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LeftContent"/>
          <p:cNvSpPr txBox="1"/>
          <p:nvPr/>
        </p:nvSpPr>
        <p:spPr>
          <a:xfrm>
            <a:off x="4572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Sticky / Round Robin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Default behavior when key is null.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Kafka 2.4+ uses sticky partitioning: fills one partition batch before rotating.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Ensures even distribution across all partitions over time.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Maximizes batch efficiency by grouping records together.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No ordering guarantees since records spread across partitions.</a:t>
            </a:r>
          </a:p>
        </p:txBody>
      </p:sp>
      <p:sp>
        <p:nvSpPr>
          <p:cNvPr id="106" name="RightContent"/>
          <p:cNvSpPr txBox="1"/>
          <p:nvPr/>
        </p:nvSpPr>
        <p:spPr>
          <a:xfrm>
            <a:off x="49831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Key-Based Hashing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Uses murmur2(key) % numPartitions to route messages.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Same key always maps to the same partition (assuming stable partition count).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Adding partitions breaks existing key-to-partition mapping.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Custom partitioners override this logic for domain-specific routing.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Useful when ordering or co-location matters.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Round Robin vs Key-Based Routing</a:t>
            </a:r>
          </a:p>
        </p:txBody>
      </p:sp>
      <p:sp>
        <p:nvSpPr>
          <p:cNvPr id="103" name="LeftBg"/>
          <p:cNvSpPr/>
          <p:nvPr/>
        </p:nvSpPr>
        <p:spPr>
          <a:xfrm>
            <a:off x="3657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RightBg"/>
          <p:cNvSpPr/>
          <p:nvPr/>
        </p:nvSpPr>
        <p:spPr>
          <a:xfrm>
            <a:off x="48916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LeftContent"/>
          <p:cNvSpPr txBox="1"/>
          <p:nvPr/>
        </p:nvSpPr>
        <p:spPr>
          <a:xfrm>
            <a:off x="4572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Round Robin</a:t>
            </a:r>
          </a:p>
          <a:p>
            <a:pPr algn="l">
              <a:spcBef>
                <a:spcPts val="3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Messages distributed evenly across all partitions.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Best for stateless workloads where ordering does not matter.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Maximizes throughput by keeping partition load balanced.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No single partition becomes a hotspot.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Use when: logging, metrics collection, bulk data ingestion.</a:t>
            </a:r>
          </a:p>
        </p:txBody>
      </p:sp>
      <p:sp>
        <p:nvSpPr>
          <p:cNvPr id="106" name="RightContent"/>
          <p:cNvSpPr txBox="1"/>
          <p:nvPr/>
        </p:nvSpPr>
        <p:spPr>
          <a:xfrm>
            <a:off x="49831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Key-Based Routing</a:t>
            </a:r>
          </a:p>
          <a:p>
            <a:pPr algn="l">
              <a:spcBef>
                <a:spcPts val="3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All messages with the same key go to one partition.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Guarantees strict ordering for records sharing a key.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Risk of hot partitions if key distribution is skewed.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Partition count changes invalidate existing mappings.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</a:rPr>
              <a:t>Use when: order processing, user session tracking, CDC streams.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Delivery Guarantees in Kafka</a:t>
            </a:r>
          </a:p>
        </p:txBody>
      </p:sp>
      <p:sp>
        <p:nvSpPr>
          <p:cNvPr id="103" name="CardBg0"/>
          <p:cNvSpPr/>
          <p:nvPr/>
        </p:nvSpPr>
        <p:spPr>
          <a:xfrm>
            <a:off x="36576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CardAccent0"/>
          <p:cNvSpPr/>
          <p:nvPr/>
        </p:nvSpPr>
        <p:spPr>
          <a:xfrm>
            <a:off x="45720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CardText0"/>
          <p:cNvSpPr txBox="1"/>
          <p:nvPr/>
        </p:nvSpPr>
        <p:spPr>
          <a:xfrm>
            <a:off x="45720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At Most Once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Messages may be lost but are never duplicated.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Producer fires and forgets with acks=0 and no retries.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Fastest option with lowest latency.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Acceptable for: metrics, logs, non-critical telemetry.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Data loss risk on broker or network failures.</a:t>
            </a:r>
          </a:p>
        </p:txBody>
      </p:sp>
      <p:sp>
        <p:nvSpPr>
          <p:cNvPr id="106" name="CardBg1"/>
          <p:cNvSpPr/>
          <p:nvPr/>
        </p:nvSpPr>
        <p:spPr>
          <a:xfrm>
            <a:off x="323088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7" name="CardAccent1"/>
          <p:cNvSpPr/>
          <p:nvPr/>
        </p:nvSpPr>
        <p:spPr>
          <a:xfrm>
            <a:off x="332232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8" name="CardText1"/>
          <p:cNvSpPr txBox="1"/>
          <p:nvPr/>
        </p:nvSpPr>
        <p:spPr>
          <a:xfrm>
            <a:off x="332232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At Least Once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Messages are never lost but may be duplicated.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Retries enabled with acks=1 or acks=all.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Consumers must handle deduplication.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Most common setting for reliable delivery.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Good balance of reliability and performance.</a:t>
            </a:r>
          </a:p>
        </p:txBody>
      </p:sp>
      <p:sp>
        <p:nvSpPr>
          <p:cNvPr id="109" name="CardBg2"/>
          <p:cNvSpPr/>
          <p:nvPr/>
        </p:nvSpPr>
        <p:spPr>
          <a:xfrm>
            <a:off x="609600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CardAccent2"/>
          <p:cNvSpPr/>
          <p:nvPr/>
        </p:nvSpPr>
        <p:spPr>
          <a:xfrm>
            <a:off x="618744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1" name="CardText2"/>
          <p:cNvSpPr txBox="1"/>
          <p:nvPr/>
        </p:nvSpPr>
        <p:spPr>
          <a:xfrm>
            <a:off x="618744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Exactly Once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No data loss and no duplicates, the strongest guarantee.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Requires idempotent producer (enable.idempotence=true).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Uses sequence numbers and producer IDs internally.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Transactions extend this to multi-partition writes.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Slight throughput overhead, critical for financial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Acks Configuration</a:t>
            </a:r>
          </a:p>
        </p:txBody>
      </p:sp>
      <p:sp>
        <p:nvSpPr>
          <p:cNvPr id="103" name="CardBg0"/>
          <p:cNvSpPr/>
          <p:nvPr/>
        </p:nvSpPr>
        <p:spPr>
          <a:xfrm>
            <a:off x="36576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CardAccent0"/>
          <p:cNvSpPr/>
          <p:nvPr/>
        </p:nvSpPr>
        <p:spPr>
          <a:xfrm>
            <a:off x="45720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CardText0"/>
          <p:cNvSpPr txBox="1"/>
          <p:nvPr/>
        </p:nvSpPr>
        <p:spPr>
          <a:xfrm>
            <a:off x="45720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acks=0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Fire and forget: no acknowledgment from broker.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Highest throughput, lowest latency.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Producer does not know if the message was received.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Data loss is possible on broker failure.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Best for non-critical, high-volume streams.</a:t>
            </a:r>
          </a:p>
        </p:txBody>
      </p:sp>
      <p:sp>
        <p:nvSpPr>
          <p:cNvPr id="106" name="CardBg1"/>
          <p:cNvSpPr/>
          <p:nvPr/>
        </p:nvSpPr>
        <p:spPr>
          <a:xfrm>
            <a:off x="323088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7" name="CardAccent1"/>
          <p:cNvSpPr/>
          <p:nvPr/>
        </p:nvSpPr>
        <p:spPr>
          <a:xfrm>
            <a:off x="332232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8" name="CardText1"/>
          <p:cNvSpPr txBox="1"/>
          <p:nvPr/>
        </p:nvSpPr>
        <p:spPr>
          <a:xfrm>
            <a:off x="332232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acks=1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Leader-only acknowledgment before responding.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Good balance of speed and safety.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Risk: leader crash before replication loses data.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Default setting in many deployments.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Suitable for most general-purpose use cases.</a:t>
            </a:r>
          </a:p>
        </p:txBody>
      </p:sp>
      <p:sp>
        <p:nvSpPr>
          <p:cNvPr id="109" name="CardBg2"/>
          <p:cNvSpPr/>
          <p:nvPr/>
        </p:nvSpPr>
        <p:spPr>
          <a:xfrm>
            <a:off x="609600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CardAccent2"/>
          <p:cNvSpPr/>
          <p:nvPr/>
        </p:nvSpPr>
        <p:spPr>
          <a:xfrm>
            <a:off x="618744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1" name="CardText2"/>
          <p:cNvSpPr txBox="1"/>
          <p:nvPr/>
        </p:nvSpPr>
        <p:spPr>
          <a:xfrm>
            <a:off x="618744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acks=all (-1)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Leader waits for min.insync.replicas to confirm.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Strongest durability guarantee available.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Higher latency due to replication wait.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Set min.insync.replicas=2 for production safety.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Required for exactly-once semantics.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Producer Retries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Why Retries Matter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Transient failures (network blips, leader elections, broker restarts) are inevitable in distributed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systems. Retries let the producer automatically recover without application-level intervention.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Key Configuration Properties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retries: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Maximum number of retry attempts per record. Default is Integer.MAX_VALUE (effectively infinite with delivery.timeout.ms).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retry.backoff.ms: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Wait time between retries. Default 100ms. Increase for heavily loaded clusters to avoid retry storms.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delivery.timeout.ms: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Upper bound on total time for a send (including retries). Default 120000ms (2 min). This is the true retry limiter.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Ordering Risk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Retries can reorder messages if max.in.flight.requests.per.connection &gt; 1. Set it to 1 or enable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idempotence (which internally limits in-flight to 5 with sequence tracking) to preserve 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Idempotent Producer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What Is Idempotence?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An idempotent producer ensures that retries do not result in duplicate messages in the broker log.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Each producer instance gets a unique Producer ID (PID), and every message carries a monotonically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increasing sequence number. The broker deduplicates based on PID + sequence.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How to Enable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onsolas"/>
              </a:rPr>
              <a:t>enable.idempotence=true 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This is the default since Kafka 3.0+.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Automatically sets acks=all, retries=MAX, and max.in.flight.requests.per.connection=5.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Zero performance overhead in practice, since sequence tracking is lightweight.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Beyond Single-Partition Guarantees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Idempotence guarantees exactly-once within a single partition. For multi-partition atomicity, use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Kafka Transactions (transactional.id + initTransactions/commitTransaction APIs).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Producer Performance Tuning</a:t>
            </a:r>
          </a:p>
        </p:txBody>
      </p:sp>
      <p:sp>
        <p:nvSpPr>
          <p:cNvPr id="103" name="LeftBg"/>
          <p:cNvSpPr/>
          <p:nvPr/>
        </p:nvSpPr>
        <p:spPr>
          <a:xfrm>
            <a:off x="3657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RightBg"/>
          <p:cNvSpPr/>
          <p:nvPr/>
        </p:nvSpPr>
        <p:spPr>
          <a:xfrm>
            <a:off x="48916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LeftContent"/>
          <p:cNvSpPr txBox="1"/>
          <p:nvPr/>
        </p:nvSpPr>
        <p:spPr>
          <a:xfrm>
            <a:off x="4572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Batching Settings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batch.size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Max bytes per batch (default 16KB). Larger batches improve throughput but increase latency and memory usage.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linger.ms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Time to wait for more records before sending (default 0). Set 5-50ms to build fuller batches.</a:t>
            </a:r>
          </a:p>
        </p:txBody>
      </p:sp>
      <p:sp>
        <p:nvSpPr>
          <p:cNvPr id="106" name="RightContent"/>
          <p:cNvSpPr txBox="1"/>
          <p:nvPr/>
        </p:nvSpPr>
        <p:spPr>
          <a:xfrm>
            <a:off x="49831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Compression &amp; Memory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compression.type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Options: gzip, snappy, lz4, zstd. LZ4 offers best speed; zstd gives best ratio. Reduces network I/O significantly.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buffer.memory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Total memory for unsent records (default 32MB). If exhausted, send() blocks for max.block.ms.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Java Kafka Producer Example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Setting Up the Java Producer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The Java client (org.apache.kafka:kafka-clients) is the reference implementation maintained by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the Apache Kafka project. It provides the richest feature set and lowest latency.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Key Steps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1. Configure: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Set bootstrap.servers, key/value serializers, acks, and any tuning properties in a Properties object.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2. Create: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Instantiate KafkaProducer with the config. This opens connections and starts the sender thread.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3. Send: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Build ProducerRecord objects and call send() with an optional Callback for async error handling.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4. Close: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Always call producer.close() in a finally block to flush pending records and release resources.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Best Practice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Use a single KafkaProducer instance per application. It is thread-safe, and creating multiple instances</a:t>
            </a:r>
          </a:p>
          <a:p>
            <a:pPr algn="l"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wastes TCP connections and memory. Use Callbacks or Future.get() for error handling strategies.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Python Kafka Producer Example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Python Producer Libraries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Two main libraries: kafka-python (pure Python, easy setup) and confluent-kafka-python (librdkafka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wrapper, production-grade performance). Choose confluent-kafka for high-throughput production systems.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Key Steps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1. Install: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pip install kafka-python or pip install confluent-kafka. Both support Python 3.6+.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2. Connect: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Create KafkaProducer with bootstrap_servers and value_serializer (typically json.dumps + encode).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3. Send: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Call producer.send(topic, value=data, key=key). Returns a FutureRecordMetadata for tracking.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4. Flush: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Call producer.flush() to ensure all buffered records are sent before application exit.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Error Handling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Use on_send_success and on_send_error callbacks with add_callback/add_errback on the Future.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Always wrap send() in try/except to catch KafkaError for connection and serialization failures.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Structured Messages</a:t>
            </a:r>
          </a:p>
        </p:txBody>
      </p:sp>
      <p:sp>
        <p:nvSpPr>
          <p:cNvPr id="103" name="LeftBg"/>
          <p:cNvSpPr/>
          <p:nvPr/>
        </p:nvSpPr>
        <p:spPr>
          <a:xfrm>
            <a:off x="3657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RightBg"/>
          <p:cNvSpPr/>
          <p:nvPr/>
        </p:nvSpPr>
        <p:spPr>
          <a:xfrm>
            <a:off x="48916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LeftContent"/>
          <p:cNvSpPr txBox="1"/>
          <p:nvPr/>
        </p:nvSpPr>
        <p:spPr>
          <a:xfrm>
            <a:off x="4572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JSON Format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Lightweight, human-readable format widely used in REST APIs and microservices.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No schema enforcement: flexible but risky in production.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Larger payload size compared to binary formats.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Good for prototyping and internal tooling.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Easy debugging: messages are readable in console consumer.</a:t>
            </a:r>
          </a:p>
        </p:txBody>
      </p:sp>
      <p:sp>
        <p:nvSpPr>
          <p:cNvPr id="106" name="RightContent"/>
          <p:cNvSpPr txBox="1"/>
          <p:nvPr/>
        </p:nvSpPr>
        <p:spPr>
          <a:xfrm>
            <a:off x="49831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Avro / Protobuf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Binary, schema-enforced formats for production pipelines.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Avro: compact, schema evolution support, Confluent Schema Registry.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Protobuf: Google standard, strong typing, code generation.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Smaller payloads reduce network I/O and storage costs.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Schema Registry prevents breaking changes across teams.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Testing Partition Routing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Verifying Your Partitioning Strategy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Testing partition routing is essential to confirm that your key design provides the expected ordering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guarantees and balanced distribution across partitions.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Step-by-Step Approach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1. Create Topic: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Use kafka-topics --create with 4+ partitions to give the partitioner room to distribute.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2. Send with Keys: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Produce messages using varied keys (e.g., customer-1 through customer-20) and observe partition assignments.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3. Verify Ordering: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Consume from individual partitions and confirm same-key messages arrive in send order.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4. Check Balance: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Use kafka-consumer-groups --describe or JMX metrics to verify partition lag and message distribution.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Watch Out For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Hot partitions from low-cardinality keys, and broken mappings if you later add partitions to the topic.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Hands-on Lab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Lab Setup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Install Kafka locally or use Docker Compose (recommended). Create a topic with 3 partitions and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replication factor 1 for local testing. Ensure Zookeeper or KRaft mode is running.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Lab Tasks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Task 1: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Build a basic Java/Python producer that sends 50 JSON events to an orders-topic.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Task 2: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Add OrderID as the message key and verify all orders for the same ID land on one partition.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Task 3: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Test acks=0 vs acks=all and measure throughput difference using System.nanoTime or timeit.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Task 4: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Enable idempotence, simulate a broker restart (docker stop/start), and verify no duplicate records.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Task 5: </a:t>
            </a:r>
            <a:r>
              <a:rPr lang="en-US" sz="1300" dirty="0">
                <a:solidFill>
                  <a:srgbClr val="2D2D2D"/>
                </a:solidFill>
                <a:latin typeface="Calibri"/>
              </a:rPr>
              <a:t>Write a console consumer to read from each partition independently and validate ordering guarantees.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Mini Exercise: Multi-Partition Producer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Exercise: Multi-Partition Producer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Build a producer application that demonstrates partitioning, ordering, and load balancing across</a:t>
            </a:r>
          </a:p>
          <a:p>
            <a:pPr algn="l">
              <a:buNone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multiple partitions in a realistic e-commerce scenario.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Requirements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Create a topic with 4 partitions and use CustomerID as the partition key.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Generate 100+ order events with 10-20 distinct customer IDs to test distribution.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Each event should be a JSON object with orderId, customerId, amount, and timestamp.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Log the partition assignment returned in RecordMetadata for each sent message.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Validation Criteria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Confirm that all events for a given CustomerID go to the same partition.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Verify roughly even distribution across the 4 partitions (within 10% variance).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Consume and verify that within each partition, events for the same customer are strictly ordered.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Real-Time Use Cases</a:t>
            </a:r>
          </a:p>
        </p:txBody>
      </p:sp>
      <p:sp>
        <p:nvSpPr>
          <p:cNvPr id="103" name="CardBg0"/>
          <p:cNvSpPr/>
          <p:nvPr/>
        </p:nvSpPr>
        <p:spPr>
          <a:xfrm>
            <a:off x="36576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CardAccent0"/>
          <p:cNvSpPr/>
          <p:nvPr/>
        </p:nvSpPr>
        <p:spPr>
          <a:xfrm>
            <a:off x="45720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CardText0"/>
          <p:cNvSpPr txBox="1"/>
          <p:nvPr/>
        </p:nvSpPr>
        <p:spPr>
          <a:xfrm>
            <a:off x="45720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Commerce &amp; Finance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E-commerce order processing with event-driven inventory updates.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Real-time fraud detection scoring on payment transactions.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Banking ledger updates streamed to downstream reconciliation.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Stock trade execution and market data distribution.</a:t>
            </a:r>
          </a:p>
        </p:txBody>
      </p:sp>
      <p:sp>
        <p:nvSpPr>
          <p:cNvPr id="106" name="CardBg1"/>
          <p:cNvSpPr/>
          <p:nvPr/>
        </p:nvSpPr>
        <p:spPr>
          <a:xfrm>
            <a:off x="323088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7" name="CardAccent1"/>
          <p:cNvSpPr/>
          <p:nvPr/>
        </p:nvSpPr>
        <p:spPr>
          <a:xfrm>
            <a:off x="332232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8" name="CardText1"/>
          <p:cNvSpPr txBox="1"/>
          <p:nvPr/>
        </p:nvSpPr>
        <p:spPr>
          <a:xfrm>
            <a:off x="332232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IoT &amp; Telemetry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Sensor data streaming from thousands of edge devices.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Connected vehicle telemetry for fleet management.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Smart grid energy monitoring and anomaly detection.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Industrial equipment predictive maintenance alerts.</a:t>
            </a:r>
          </a:p>
        </p:txBody>
      </p:sp>
      <p:sp>
        <p:nvSpPr>
          <p:cNvPr id="109" name="CardBg2"/>
          <p:cNvSpPr/>
          <p:nvPr/>
        </p:nvSpPr>
        <p:spPr>
          <a:xfrm>
            <a:off x="6096000" y="1600200"/>
            <a:ext cx="268224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CardAccent2"/>
          <p:cNvSpPr/>
          <p:nvPr/>
        </p:nvSpPr>
        <p:spPr>
          <a:xfrm>
            <a:off x="6187440" y="1691640"/>
            <a:ext cx="249936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1" name="CardText2"/>
          <p:cNvSpPr txBox="1"/>
          <p:nvPr/>
        </p:nvSpPr>
        <p:spPr>
          <a:xfrm>
            <a:off x="6187440" y="1783080"/>
            <a:ext cx="2499360" cy="3383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Ops &amp; Analytics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Centralized log aggregation from microservices.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Click-stream capture for real-time user analytics.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CDC (Change Data Capture) for database replication.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</a:rPr>
              <a:t>Application metrics pipeline feeding dashboards.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Common Producer Errors</a:t>
            </a:r>
          </a:p>
        </p:txBody>
      </p:sp>
      <p:sp>
        <p:nvSpPr>
          <p:cNvPr id="103" name="LeftBg"/>
          <p:cNvSpPr/>
          <p:nvPr/>
        </p:nvSpPr>
        <p:spPr>
          <a:xfrm>
            <a:off x="3657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4" name="RightBg"/>
          <p:cNvSpPr/>
          <p:nvPr/>
        </p:nvSpPr>
        <p:spPr>
          <a:xfrm>
            <a:off x="4891660" y="1600200"/>
            <a:ext cx="3886200" cy="3657600"/>
          </a:xfrm>
          <a:prstGeom prst="roundRect">
            <a:avLst>
              <a:gd name="adj" fmla="val 5000"/>
            </a:avLst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LeftContent"/>
          <p:cNvSpPr txBox="1"/>
          <p:nvPr/>
        </p:nvSpPr>
        <p:spPr>
          <a:xfrm>
            <a:off x="4572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Client-Side Errors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TimeoutException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Broker did not respond within request.timeout.ms. Check broker health, network connectivity, and increase timeout if needed.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SerializationException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Failed to convert key/value to bytes. Verify serializer config matches the data type being sent.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BufferExhaustedException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Producer buffer.memory is full. Either increase buffer size, reduce send rate, or increase max.block.ms.</a:t>
            </a:r>
          </a:p>
        </p:txBody>
      </p:sp>
      <p:sp>
        <p:nvSpPr>
          <p:cNvPr id="106" name="RightContent"/>
          <p:cNvSpPr txBox="1"/>
          <p:nvPr/>
        </p:nvSpPr>
        <p:spPr>
          <a:xfrm>
            <a:off x="4983100" y="1691640"/>
            <a:ext cx="3703320" cy="3474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35B74"/>
                </a:solidFill>
                <a:latin typeface="Tw Cen MT Condensed"/>
              </a:rPr>
              <a:t>Broker-Side Errors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NotLeaderOrFollower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Partition leader has changed. Usually self-recovers via metadata refresh. Increase metadata.max.age.ms if frequent.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UnknownTopicOrPartition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Topic does not exist. Enable auto.create.topics.enable on broker or create topics before producing.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CADE4"/>
                </a:solidFill>
                <a:latin typeface="Calibri"/>
              </a:rPr>
              <a:t>RecordTooLargeException  </a:t>
            </a:r>
            <a:r>
              <a:rPr lang="en-US" sz="1200" dirty="0">
                <a:solidFill>
                  <a:srgbClr val="2D2D2D"/>
                </a:solidFill>
                <a:latin typeface="Calibri"/>
              </a:rPr>
              <a:t>Message exceeds max.request.size (default 1MB). Compress, split the payload, or increase broker max.message.bytes.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Best Practices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55448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Reliability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Enable idempotence for all production producers: it is free and prevents duplicate records on retries.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Set acks=all with min.insync.replicas=2 for critical data that cannot tolerate any loss.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Always implement a Callback or handle the Future to detect and log send failures.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Performance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Use linger.ms=5-20 and increase batch.size to 64KB-256KB for high-throughput workloads.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Enable compression (lz4 or zstd) to reduce network bandwidth by 50-80% on text-heavy payloads.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Monitor producer metrics (record-send-rate, record-error-rate, request-latency-avg) via JMX.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Design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Choose keys carefully: high cardinality keys (e.g., OrderID) prevent partition hot spots.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Keep messages small (under 100KB). Use a reference pattern for large payloads.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/>
              </a:rPr>
              <a:t>Use schema evolution (Avro + Schema Registry) for long-lived topics shared across teams.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w Cen MT Condensed"/>
              </a:rPr>
              <a:t>Key Takeaways</a:t>
            </a:r>
          </a:p>
        </p:txBody>
      </p:sp>
      <p:sp>
        <p:nvSpPr>
          <p:cNvPr id="110" name="Content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3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Kafka Producers are the gateway for all data entering the Kafka ecosystem, handling serialization,</a:t>
            </a:r>
          </a:p>
          <a:p>
            <a:pPr algn="l">
              <a:buNone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partitioning, batching, compression, and delivery confirmation in a single client.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Message keys are the primary mechanism for controlling partition assignment and ordering guarantees.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Without keys, the sticky partitioner optimizes for throughput; with keys, same-key ordering is ensured.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Three delivery semantics (at-most-once, at-least-once, exactly-once) offer a clear trade-off between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performance and reliability. Enable idempotence by default for production workloads.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Acks configuration (0, 1, all) directly controls durability. Pair acks=all with min.insync.replicas for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maximum safety on critical data streams.</a:t>
            </a:r>
          </a:p>
          <a:p>
            <a:pPr algn="l">
              <a:spcBef>
                <a:spcPts val="400"/>
              </a:spcBef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Performance tuning via batch.size, linger.ms, compression, and buffer.memory can dramatically improve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throughput without sacrificing reliability when configured thoughtfully.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Java Producer Code</a:t>
            </a:r>
          </a:p>
        </p:txBody>
      </p:sp>
      <p:sp>
        <p:nvSpPr>
          <p:cNvPr id="103" name="CodeBg"/>
          <p:cNvSpPr/>
          <p:nvPr/>
        </p:nvSpPr>
        <p:spPr>
          <a:xfrm>
            <a:off x="365760" y="1554480"/>
            <a:ext cx="8412480" cy="5120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Code"/>
          <p:cNvSpPr txBox="1"/>
          <p:nvPr/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Java Producer Code Sample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Properties props = new Properties();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props.put("bootstrap.servers", "localhost:9092");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props.put("key.serializer",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    "org.apache.kafka.common.serialization.StringSerializer");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props.put("value.serializer",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    "org.apache.kafka.common.serialization.StringSerializer");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1CADE4"/>
                </a:solidFill>
                <a:latin typeface="Consolas"/>
              </a:rPr>
              <a:t>props.put("enable.idempotence", "true");</a:t>
            </a:r>
          </a:p>
          <a:p>
            <a:pPr algn="l">
              <a:spcBef>
                <a:spcPts val="200"/>
              </a:spcBef>
              <a:buNone/>
            </a:pPr>
            <a:endParaRPr lang="en-US" sz="1200" dirty="0">
              <a:solidFill>
                <a:srgbClr val="1CADE4"/>
              </a:solidFill>
              <a:latin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KafkaProducer&lt;String, String&gt; producer = new KafkaProducer&lt;&gt;(props);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ProducerRecord&lt;String, String&gt; record =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    new ProducerRecord&lt;&gt;("orders-topic", "101", "Order Created");</a:t>
            </a:r>
          </a:p>
          <a:p>
            <a:pPr algn="l">
              <a:spcBef>
                <a:spcPts val="200"/>
              </a:spcBef>
              <a:buNone/>
            </a:pPr>
            <a:endParaRPr lang="en-US" sz="1200" dirty="0">
              <a:solidFill>
                <a:srgbClr val="2D2D2D"/>
              </a:solidFill>
              <a:latin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producer.send(record, (metadata, exception) -&gt; {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    if (exception != null) exception.printStackTrace();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    else System.out.printf("Sent to partition %d%n", metadata.partition());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});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producer.close();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5B7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" name="AccentBar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w Cen MT Condensed"/>
              </a:rPr>
              <a:t>Python Producer Code</a:t>
            </a:r>
          </a:p>
        </p:txBody>
      </p:sp>
      <p:sp>
        <p:nvSpPr>
          <p:cNvPr id="103" name="CodeBg"/>
          <p:cNvSpPr/>
          <p:nvPr/>
        </p:nvSpPr>
        <p:spPr>
          <a:xfrm>
            <a:off x="365760" y="1554480"/>
            <a:ext cx="8412480" cy="5120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Code"/>
          <p:cNvSpPr txBox="1"/>
          <p:nvPr/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335B74"/>
                </a:solidFill>
                <a:latin typeface="Tw Cen MT Condensed"/>
              </a:rPr>
              <a:t>Python Producer Code Sample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from kafka import KafkaProducer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import json</a:t>
            </a:r>
          </a:p>
          <a:p>
            <a:pPr algn="l">
              <a:spcBef>
                <a:spcPts val="200"/>
              </a:spcBef>
              <a:buNone/>
            </a:pPr>
            <a:endParaRPr lang="en-US" sz="1200" dirty="0">
              <a:solidFill>
                <a:srgbClr val="2D2D2D"/>
              </a:solidFill>
              <a:latin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producer = KafkaProducer(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    bootstrap_servers='localhost:9092',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    value_serializer=lambda v: json.dumps(v).encode('utf-8'),</a:t>
            </a:r>
          </a:p>
          <a:p>
            <a:pPr algn="l">
              <a:buNone/>
            </a:pPr>
            <a:r>
              <a:rPr lang="en-US" sz="1200" dirty="0">
                <a:solidFill>
                  <a:srgbClr val="1CADE4"/>
                </a:solidFill>
                <a:latin typeface="Consolas"/>
              </a:rPr>
              <a:t>    acks='all',</a:t>
            </a:r>
          </a:p>
          <a:p>
            <a:pPr algn="l">
              <a:buNone/>
            </a:pPr>
            <a:r>
              <a:rPr lang="en-US" sz="1200" dirty="0">
                <a:solidFill>
                  <a:srgbClr val="1CADE4"/>
                </a:solidFill>
                <a:latin typeface="Consolas"/>
              </a:rPr>
              <a:t>    retries=5</a:t>
            </a:r>
          </a:p>
          <a:p>
            <a:pPr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)</a:t>
            </a:r>
          </a:p>
          <a:p>
            <a:pPr algn="l">
              <a:spcBef>
                <a:spcPts val="200"/>
              </a:spcBef>
              <a:buNone/>
            </a:pPr>
            <a:endParaRPr lang="en-US" sz="1200" dirty="0">
              <a:solidFill>
                <a:srgbClr val="2D2D2D"/>
              </a:solidFill>
              <a:latin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event = {"orderId": 101, "status": "CREATED", "amount": 49.99}</a:t>
            </a:r>
          </a:p>
          <a:p>
            <a:pPr algn="l">
              <a:spcBef>
                <a:spcPts val="200"/>
              </a:spcBef>
              <a:buNone/>
            </a:pPr>
            <a:endParaRPr lang="en-US" sz="1200" dirty="0">
              <a:solidFill>
                <a:srgbClr val="2D2D2D"/>
              </a:solidFill>
              <a:latin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future = producer.send('orders-topic', key=b'101', value=event)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result = future.get(timeout=10)  # Block until sent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print(f"Sent to partition {result.partition}")</a:t>
            </a:r>
          </a:p>
          <a:p>
            <a:pPr algn="l">
              <a:spcBef>
                <a:spcPts val="200"/>
              </a:spcBef>
              <a:buNone/>
            </a:pPr>
            <a:endParaRPr lang="en-US" sz="1200" dirty="0">
              <a:solidFill>
                <a:srgbClr val="2D2D2D"/>
              </a:solidFill>
              <a:latin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producer.flush()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Consolas"/>
              </a:rPr>
              <a:t>producer.close()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</TotalTime>
  <Words>3508</Words>
  <Application>Microsoft Office PowerPoint</Application>
  <PresentationFormat>On-screen Show (4:3)</PresentationFormat>
  <Paragraphs>346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Consolas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7</cp:revision>
  <dcterms:created xsi:type="dcterms:W3CDTF">2013-01-27T09:14:16Z</dcterms:created>
  <dcterms:modified xsi:type="dcterms:W3CDTF">2026-05-20T02:37:19Z</dcterms:modified>
  <cp:category/>
</cp:coreProperties>
</file>