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6"/>
  </p:notesMasterIdLst>
  <p:sldIdLst>
    <p:sldId id="322" r:id="rId2"/>
    <p:sldId id="321" r:id="rId3"/>
    <p:sldId id="258" r:id="rId4"/>
    <p:sldId id="259" r:id="rId5"/>
    <p:sldId id="260" r:id="rId6"/>
    <p:sldId id="347" r:id="rId7"/>
    <p:sldId id="261" r:id="rId8"/>
    <p:sldId id="337" r:id="rId9"/>
    <p:sldId id="262" r:id="rId10"/>
    <p:sldId id="263" r:id="rId11"/>
    <p:sldId id="264" r:id="rId12"/>
    <p:sldId id="338" r:id="rId13"/>
    <p:sldId id="265" r:id="rId14"/>
    <p:sldId id="266" r:id="rId15"/>
    <p:sldId id="267" r:id="rId16"/>
    <p:sldId id="339" r:id="rId17"/>
    <p:sldId id="268" r:id="rId18"/>
    <p:sldId id="269" r:id="rId19"/>
    <p:sldId id="340" r:id="rId20"/>
    <p:sldId id="270" r:id="rId21"/>
    <p:sldId id="271" r:id="rId22"/>
    <p:sldId id="341" r:id="rId23"/>
    <p:sldId id="272" r:id="rId24"/>
    <p:sldId id="273" r:id="rId25"/>
    <p:sldId id="342" r:id="rId26"/>
    <p:sldId id="274" r:id="rId27"/>
    <p:sldId id="275" r:id="rId28"/>
    <p:sldId id="276" r:id="rId29"/>
    <p:sldId id="343" r:id="rId30"/>
    <p:sldId id="277" r:id="rId31"/>
    <p:sldId id="344" r:id="rId32"/>
    <p:sldId id="278" r:id="rId33"/>
    <p:sldId id="279" r:id="rId34"/>
    <p:sldId id="345" r:id="rId35"/>
    <p:sldId id="280" r:id="rId36"/>
    <p:sldId id="281" r:id="rId37"/>
    <p:sldId id="282" r:id="rId38"/>
    <p:sldId id="346" r:id="rId39"/>
    <p:sldId id="287" r:id="rId40"/>
    <p:sldId id="288" r:id="rId41"/>
    <p:sldId id="289" r:id="rId42"/>
    <p:sldId id="290" r:id="rId43"/>
    <p:sldId id="291" r:id="rId44"/>
    <p:sldId id="292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635E3-F44D-4BD1-A257-95DC134779EB}" type="datetimeFigureOut">
              <a:rPr lang="en-IN" smtClean="0"/>
              <a:t>27/05/2026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B17B8-6E42-4A7F-BFB0-5B1869897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7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B17B8-6E42-4A7F-BFB0-5B186989764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46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82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2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90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2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3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1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1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171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5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9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ornerMark"/>
          <p:cNvSpPr/>
          <p:nvPr userDrawn="1"/>
        </p:nvSpPr>
        <p:spPr>
          <a:xfrm>
            <a:off x="8915400" y="6500000"/>
            <a:ext cx="200000" cy="20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E8ECF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8ECF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8ECF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ECF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1"/>
          </a:solidFill>
        </a:defRPr>
      </a:defPPr>
      <a:lvl1pPr marL="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Kafka Production Deployment &amp;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192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1900" dirty="0"/>
              <a:t>Deploy multi-node Kafka clusters</a:t>
            </a:r>
          </a:p>
          <a:p>
            <a:pPr>
              <a:buChar char="•"/>
            </a:pPr>
            <a:r>
              <a:rPr lang="en-US" sz="1900" dirty="0"/>
              <a:t>Understand Kafka deployment on Kubernetes</a:t>
            </a:r>
          </a:p>
          <a:p>
            <a:pPr>
              <a:buChar char="•"/>
            </a:pPr>
            <a:r>
              <a:rPr lang="en-US" sz="1900" dirty="0"/>
              <a:t>Optimize Kafka performance and throughput</a:t>
            </a:r>
          </a:p>
          <a:p>
            <a:pPr>
              <a:buChar char="•"/>
            </a:pPr>
            <a:r>
              <a:rPr lang="en-US" sz="1900" dirty="0"/>
              <a:t>Tune producer and consumer configurations</a:t>
            </a:r>
          </a:p>
          <a:p>
            <a:pPr>
              <a:buChar char="•"/>
            </a:pPr>
            <a:r>
              <a:rPr lang="en-US" sz="1900" dirty="0"/>
              <a:t>Handle production troubleshooting scenarios</a:t>
            </a:r>
          </a:p>
          <a:p>
            <a:pPr>
              <a:buChar char="•"/>
            </a:pPr>
            <a:r>
              <a:rPr lang="en-US" sz="1900" dirty="0"/>
              <a:t>Build an end-to-end real-time streaming system</a:t>
            </a:r>
          </a:p>
          <a:p>
            <a:pPr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10 hands-on labs throughout</a:t>
            </a:r>
          </a:p>
        </p:txBody>
      </p:sp>
    </p:spTree>
    <p:extLst>
      <p:ext uri="{BB962C8B-B14F-4D97-AF65-F5344CB8AC3E}">
        <p14:creationId xmlns:p14="http://schemas.microsoft.com/office/powerpoint/2010/main" val="54759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Production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Kafka is designed for distributed event streaming</a:t>
            </a:r>
          </a:p>
          <a:p>
            <a:pPr>
              <a:defRPr sz="1900"/>
            </a:pPr>
            <a:r>
              <a:t>Production clusters require scalability and fault tolerance</a:t>
            </a:r>
          </a:p>
          <a:p>
            <a:pPr>
              <a:defRPr sz="1900"/>
            </a:pPr>
            <a:r>
              <a:t>Enterprise deployments demand monitoring and security</a:t>
            </a:r>
          </a:p>
          <a:p>
            <a:pPr>
              <a:defRPr sz="1900"/>
            </a:pPr>
            <a:r>
              <a:t>Performance optimization is critical for throughput</a:t>
            </a:r>
          </a:p>
          <a:p>
            <a:pPr>
              <a:defRPr sz="1900"/>
            </a:pPr>
            <a:r>
              <a:t>Proper tuning improves reliability and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Multi-Node Kafka Cluster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Multiple brokers form a Kafka cluster</a:t>
            </a:r>
          </a:p>
          <a:p>
            <a:pPr>
              <a:defRPr sz="1900"/>
            </a:pPr>
            <a:r>
              <a:t>Partitions distributed across brokers</a:t>
            </a:r>
          </a:p>
          <a:p>
            <a:pPr>
              <a:defRPr sz="1900"/>
            </a:pPr>
            <a:r>
              <a:t>Replication ensures fault tolerance</a:t>
            </a:r>
          </a:p>
          <a:p>
            <a:pPr>
              <a:defRPr sz="1900"/>
            </a:pPr>
            <a:r>
              <a:t>ZooKeeper/KRaft manages metadata</a:t>
            </a:r>
          </a:p>
          <a:p>
            <a:pPr>
              <a:defRPr sz="1900"/>
            </a:pPr>
            <a:r>
              <a:t>Supports high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Cluster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Producers send data to brokers</a:t>
            </a:r>
          </a:p>
          <a:p>
            <a:pPr>
              <a:defRPr sz="1900"/>
            </a:pPr>
            <a:r>
              <a:t>Partitions distributed across nodes</a:t>
            </a:r>
          </a:p>
          <a:p>
            <a:pPr>
              <a:defRPr sz="1900"/>
            </a:pPr>
            <a:r>
              <a:t>Replication factor ensures durability</a:t>
            </a:r>
          </a:p>
          <a:p>
            <a:pPr>
              <a:defRPr sz="1900"/>
            </a:pPr>
            <a:r>
              <a:t>Consumers read from replicas</a:t>
            </a:r>
          </a:p>
          <a:p>
            <a:pPr>
              <a:defRPr sz="1900"/>
            </a:pPr>
            <a:r>
              <a:t>Cluster scales horizontally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0E76-86B7-7F36-CD18-5E2BAF82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Kafka Cluster Topology</a:t>
            </a:r>
          </a:p>
        </p:txBody>
      </p:sp>
      <p:sp>
        <p:nvSpPr>
          <p:cNvPr id="100" name="L_prod"/>
          <p:cNvSpPr/>
          <p:nvPr/>
        </p:nvSpPr>
        <p:spPr>
          <a:xfrm>
            <a:off x="381000" y="2286000"/>
            <a:ext cx="1651000" cy="381000"/>
          </a:xfrm>
          <a:prstGeom prst="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0B4A6"/>
                </a:solidFill>
              </a:rPr>
              <a:t>PRODUCERS</a:t>
            </a:r>
          </a:p>
        </p:txBody>
      </p:sp>
      <p:sp>
        <p:nvSpPr>
          <p:cNvPr id="101" name="L_brokers"/>
          <p:cNvSpPr/>
          <p:nvPr/>
        </p:nvSpPr>
        <p:spPr>
          <a:xfrm>
            <a:off x="3302000" y="2286000"/>
            <a:ext cx="2540000" cy="381000"/>
          </a:xfrm>
          <a:prstGeom prst="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0B4A6"/>
                </a:solidFill>
              </a:rPr>
              <a:t>KAFKA BROKERS</a:t>
            </a:r>
          </a:p>
        </p:txBody>
      </p:sp>
      <p:sp>
        <p:nvSpPr>
          <p:cNvPr id="102" name="L_cons"/>
          <p:cNvSpPr/>
          <p:nvPr/>
        </p:nvSpPr>
        <p:spPr>
          <a:xfrm>
            <a:off x="7112000" y="2286000"/>
            <a:ext cx="1651000" cy="381000"/>
          </a:xfrm>
          <a:prstGeom prst="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0B4A6"/>
                </a:solidFill>
              </a:rPr>
              <a:t>CONSUMERS</a:t>
            </a:r>
          </a:p>
        </p:txBody>
      </p:sp>
      <p:sp>
        <p:nvSpPr>
          <p:cNvPr id="103" name="L_zk"/>
          <p:cNvSpPr/>
          <p:nvPr/>
        </p:nvSpPr>
        <p:spPr>
          <a:xfrm>
            <a:off x="3302000" y="5588000"/>
            <a:ext cx="2540000" cy="381000"/>
          </a:xfrm>
          <a:prstGeom prst="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A89BD9"/>
                </a:solidFill>
              </a:rPr>
              <a:t>ZOOKEEPER / KRAFT</a:t>
            </a:r>
          </a:p>
        </p:txBody>
      </p:sp>
      <p:sp>
        <p:nvSpPr>
          <p:cNvPr id="110" name="P1"/>
          <p:cNvSpPr/>
          <p:nvPr/>
        </p:nvSpPr>
        <p:spPr>
          <a:xfrm>
            <a:off x="381000" y="27940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Producer A
order-service</a:t>
            </a:r>
          </a:p>
        </p:txBody>
      </p:sp>
      <p:sp>
        <p:nvSpPr>
          <p:cNvPr id="111" name="P2"/>
          <p:cNvSpPr/>
          <p:nvPr/>
        </p:nvSpPr>
        <p:spPr>
          <a:xfrm>
            <a:off x="381000" y="36195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Producer B
payment-svc</a:t>
            </a:r>
          </a:p>
        </p:txBody>
      </p:sp>
      <p:sp>
        <p:nvSpPr>
          <p:cNvPr id="112" name="P3"/>
          <p:cNvSpPr/>
          <p:nvPr/>
        </p:nvSpPr>
        <p:spPr>
          <a:xfrm>
            <a:off x="381000" y="44450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Producer C
audit-log</a:t>
            </a:r>
          </a:p>
        </p:txBody>
      </p:sp>
      <p:sp>
        <p:nvSpPr>
          <p:cNvPr id="120" name="B1"/>
          <p:cNvSpPr/>
          <p:nvPr/>
        </p:nvSpPr>
        <p:spPr>
          <a:xfrm>
            <a:off x="3302000" y="2794000"/>
            <a:ext cx="2540000" cy="69850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Broker 1 (leader)
orders-p0, orders-p1*</a:t>
            </a:r>
          </a:p>
        </p:txBody>
      </p:sp>
      <p:sp>
        <p:nvSpPr>
          <p:cNvPr id="121" name="B2"/>
          <p:cNvSpPr/>
          <p:nvPr/>
        </p:nvSpPr>
        <p:spPr>
          <a:xfrm>
            <a:off x="3302000" y="3683000"/>
            <a:ext cx="2540000" cy="69850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Broker 2
orders-p1, orders-p2*</a:t>
            </a:r>
          </a:p>
        </p:txBody>
      </p:sp>
      <p:sp>
        <p:nvSpPr>
          <p:cNvPr id="122" name="B3"/>
          <p:cNvSpPr/>
          <p:nvPr/>
        </p:nvSpPr>
        <p:spPr>
          <a:xfrm>
            <a:off x="3302000" y="4572000"/>
            <a:ext cx="2540000" cy="69850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Broker 3
orders-p2, orders-p0*</a:t>
            </a:r>
          </a:p>
        </p:txBody>
      </p:sp>
      <p:sp>
        <p:nvSpPr>
          <p:cNvPr id="130" name="C1"/>
          <p:cNvSpPr/>
          <p:nvPr/>
        </p:nvSpPr>
        <p:spPr>
          <a:xfrm>
            <a:off x="7112000" y="27940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Consumer
Group analytics</a:t>
            </a:r>
          </a:p>
        </p:txBody>
      </p:sp>
      <p:sp>
        <p:nvSpPr>
          <p:cNvPr id="131" name="C2"/>
          <p:cNvSpPr/>
          <p:nvPr/>
        </p:nvSpPr>
        <p:spPr>
          <a:xfrm>
            <a:off x="7112000" y="36195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Consumer
Group billing</a:t>
            </a:r>
          </a:p>
        </p:txBody>
      </p:sp>
      <p:sp>
        <p:nvSpPr>
          <p:cNvPr id="132" name="C3"/>
          <p:cNvSpPr/>
          <p:nvPr/>
        </p:nvSpPr>
        <p:spPr>
          <a:xfrm>
            <a:off x="7112000" y="4445000"/>
            <a:ext cx="1651000" cy="635000"/>
          </a:xfrm>
          <a:prstGeom prst="round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0" dirty="0">
                <a:solidFill>
                  <a:srgbClr val="E8ECF1"/>
                </a:solidFill>
              </a:rPr>
              <a:t>Consumer
Group alerts</a:t>
            </a:r>
          </a:p>
        </p:txBody>
      </p:sp>
      <p:sp>
        <p:nvSpPr>
          <p:cNvPr id="140" name="Z1"/>
          <p:cNvSpPr/>
          <p:nvPr/>
        </p:nvSpPr>
        <p:spPr>
          <a:xfrm>
            <a:off x="3556000" y="6159500"/>
            <a:ext cx="635000" cy="4445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ZK1</a:t>
            </a:r>
          </a:p>
        </p:txBody>
      </p:sp>
      <p:sp>
        <p:nvSpPr>
          <p:cNvPr id="141" name="Z2"/>
          <p:cNvSpPr/>
          <p:nvPr/>
        </p:nvSpPr>
        <p:spPr>
          <a:xfrm>
            <a:off x="4381500" y="6159500"/>
            <a:ext cx="635000" cy="4445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ZK2</a:t>
            </a:r>
          </a:p>
        </p:txBody>
      </p:sp>
      <p:sp>
        <p:nvSpPr>
          <p:cNvPr id="142" name="Z3"/>
          <p:cNvSpPr/>
          <p:nvPr/>
        </p:nvSpPr>
        <p:spPr>
          <a:xfrm>
            <a:off x="5207000" y="6159500"/>
            <a:ext cx="635000" cy="4445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ZK3</a:t>
            </a:r>
          </a:p>
        </p:txBody>
      </p:sp>
      <p:cxnSp>
        <p:nvCxnSpPr>
          <p:cNvPr id="200" name="Line200"/>
          <p:cNvCxnSpPr/>
          <p:nvPr/>
        </p:nvCxnSpPr>
        <p:spPr>
          <a:xfrm>
            <a:off x="2032000" y="3111500"/>
            <a:ext cx="1270000" cy="12700"/>
          </a:xfrm>
          <a:prstGeom prst="line">
            <a:avLst/>
          </a:prstGeom>
          <a:ln w="15875">
            <a:solidFill>
              <a:srgbClr val="00B4A6"/>
            </a:solidFill>
            <a:tailEnd type="none"/>
          </a:ln>
        </p:spPr>
      </p:cxnSp>
      <p:cxnSp>
        <p:nvCxnSpPr>
          <p:cNvPr id="201" name="Line201"/>
          <p:cNvCxnSpPr/>
          <p:nvPr/>
        </p:nvCxnSpPr>
        <p:spPr>
          <a:xfrm>
            <a:off x="2032000" y="3937000"/>
            <a:ext cx="1270000" cy="63500"/>
          </a:xfrm>
          <a:prstGeom prst="line">
            <a:avLst/>
          </a:prstGeom>
          <a:ln w="15875">
            <a:solidFill>
              <a:srgbClr val="00B4A6"/>
            </a:solidFill>
            <a:tailEnd type="none"/>
          </a:ln>
        </p:spPr>
      </p:cxnSp>
      <p:cxnSp>
        <p:nvCxnSpPr>
          <p:cNvPr id="202" name="Line202"/>
          <p:cNvCxnSpPr/>
          <p:nvPr/>
        </p:nvCxnSpPr>
        <p:spPr>
          <a:xfrm>
            <a:off x="2032000" y="4762500"/>
            <a:ext cx="1270000" cy="127000"/>
          </a:xfrm>
          <a:prstGeom prst="line">
            <a:avLst/>
          </a:prstGeom>
          <a:ln w="15875">
            <a:solidFill>
              <a:srgbClr val="00B4A6"/>
            </a:solidFill>
            <a:tailEnd type="none"/>
          </a:ln>
        </p:spPr>
      </p:cxnSp>
      <p:cxnSp>
        <p:nvCxnSpPr>
          <p:cNvPr id="210" name="Line210"/>
          <p:cNvCxnSpPr/>
          <p:nvPr/>
        </p:nvCxnSpPr>
        <p:spPr>
          <a:xfrm>
            <a:off x="5842000" y="3111500"/>
            <a:ext cx="1270000" cy="12700"/>
          </a:xfrm>
          <a:prstGeom prst="line">
            <a:avLst/>
          </a:prstGeom>
          <a:ln w="15875">
            <a:solidFill>
              <a:srgbClr val="F25C54"/>
            </a:solidFill>
            <a:tailEnd type="none"/>
          </a:ln>
        </p:spPr>
      </p:cxnSp>
      <p:cxnSp>
        <p:nvCxnSpPr>
          <p:cNvPr id="211" name="Line211"/>
          <p:cNvCxnSpPr/>
          <p:nvPr/>
        </p:nvCxnSpPr>
        <p:spPr>
          <a:xfrm>
            <a:off x="5842000" y="3937000"/>
            <a:ext cx="1270000" cy="63500"/>
          </a:xfrm>
          <a:prstGeom prst="line">
            <a:avLst/>
          </a:prstGeom>
          <a:ln w="15875">
            <a:solidFill>
              <a:srgbClr val="F25C54"/>
            </a:solidFill>
            <a:tailEnd type="none"/>
          </a:ln>
        </p:spPr>
      </p:cxnSp>
      <p:cxnSp>
        <p:nvCxnSpPr>
          <p:cNvPr id="212" name="Line212"/>
          <p:cNvCxnSpPr/>
          <p:nvPr/>
        </p:nvCxnSpPr>
        <p:spPr>
          <a:xfrm>
            <a:off x="5842000" y="4762500"/>
            <a:ext cx="1270000" cy="127000"/>
          </a:xfrm>
          <a:prstGeom prst="line">
            <a:avLst/>
          </a:prstGeom>
          <a:ln w="15875">
            <a:solidFill>
              <a:srgbClr val="F25C54"/>
            </a:solidFill>
            <a:tailEnd type="none"/>
          </a:ln>
        </p:spPr>
      </p:cxnSp>
      <p:cxnSp>
        <p:nvCxnSpPr>
          <p:cNvPr id="220" name="Line220"/>
          <p:cNvCxnSpPr/>
          <p:nvPr/>
        </p:nvCxnSpPr>
        <p:spPr>
          <a:xfrm>
            <a:off x="3873500" y="5969000"/>
            <a:ext cx="698500" cy="190500"/>
          </a:xfrm>
          <a:prstGeom prst="line">
            <a:avLst/>
          </a:prstGeom>
          <a:ln w="15875">
            <a:solidFill>
              <a:srgbClr val="8B6FCB"/>
            </a:solidFill>
            <a:tailEnd type="none"/>
          </a:ln>
        </p:spPr>
      </p:cxnSp>
      <p:cxnSp>
        <p:nvCxnSpPr>
          <p:cNvPr id="221" name="Line221"/>
          <p:cNvCxnSpPr/>
          <p:nvPr/>
        </p:nvCxnSpPr>
        <p:spPr>
          <a:xfrm>
            <a:off x="4572000" y="5969000"/>
            <a:ext cx="127000" cy="190500"/>
          </a:xfrm>
          <a:prstGeom prst="line">
            <a:avLst/>
          </a:prstGeom>
          <a:ln w="15875">
            <a:solidFill>
              <a:srgbClr val="8B6FCB"/>
            </a:solidFill>
            <a:tailEnd type="none"/>
          </a:ln>
        </p:spPr>
      </p:cxnSp>
      <p:cxnSp>
        <p:nvCxnSpPr>
          <p:cNvPr id="222" name="Line222"/>
          <p:cNvCxnSpPr/>
          <p:nvPr/>
        </p:nvCxnSpPr>
        <p:spPr>
          <a:xfrm>
            <a:off x="4572000" y="5969000"/>
            <a:ext cx="952500" cy="190500"/>
          </a:xfrm>
          <a:prstGeom prst="line">
            <a:avLst/>
          </a:prstGeom>
          <a:ln w="15875">
            <a:solidFill>
              <a:srgbClr val="8B6FCB"/>
            </a:solidFill>
            <a:tailEnd type="none"/>
          </a:ln>
        </p:spPr>
      </p:cxnSp>
      <p:cxnSp>
        <p:nvCxnSpPr>
          <p:cNvPr id="230" name="Line230"/>
          <p:cNvCxnSpPr/>
          <p:nvPr/>
        </p:nvCxnSpPr>
        <p:spPr>
          <a:xfrm>
            <a:off x="3556000" y="3492500"/>
            <a:ext cx="12700" cy="1079500"/>
          </a:xfrm>
          <a:prstGeom prst="line">
            <a:avLst/>
          </a:prstGeom>
          <a:ln w="15875">
            <a:solidFill>
              <a:srgbClr val="00B4A6"/>
            </a:solidFill>
            <a:tailEnd type="none"/>
          </a:ln>
        </p:spPr>
      </p:cxnSp>
      <p:cxnSp>
        <p:nvCxnSpPr>
          <p:cNvPr id="231" name="Line231"/>
          <p:cNvCxnSpPr/>
          <p:nvPr/>
        </p:nvCxnSpPr>
        <p:spPr>
          <a:xfrm>
            <a:off x="5588000" y="3492500"/>
            <a:ext cx="12700" cy="1079500"/>
          </a:xfrm>
          <a:prstGeom prst="line">
            <a:avLst/>
          </a:prstGeom>
          <a:ln w="15875">
            <a:solidFill>
              <a:srgbClr val="00B4A6"/>
            </a:solidFill>
            <a:tailEnd type="none"/>
          </a:ln>
        </p:spPr>
      </p:cxnSp>
      <p:sp>
        <p:nvSpPr>
          <p:cNvPr id="300" name="Legend"/>
          <p:cNvSpPr/>
          <p:nvPr/>
        </p:nvSpPr>
        <p:spPr>
          <a:xfrm>
            <a:off x="381000" y="6477000"/>
            <a:ext cx="8382000" cy="254000"/>
          </a:xfrm>
          <a:prstGeom prst="rect">
            <a:avLst/>
          </a:prstGeom>
          <a:solidFill>
            <a:srgbClr val="1A2942"/>
          </a:solidFill>
          <a:ln w="12700"/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n-US" sz="1000" b="0" dirty="0">
                <a:solidFill>
                  <a:srgbClr val="E8ECF1"/>
                </a:solidFill>
              </a:rPr>
              <a:t>* = replica  |  Teal = produce  |  Coral = consume  |  Purple = metadata sync</a:t>
            </a:r>
          </a:p>
        </p:txBody>
      </p:sp>
    </p:spTree>
    <p:extLst>
      <p:ext uri="{BB962C8B-B14F-4D97-AF65-F5344CB8AC3E}">
        <p14:creationId xmlns:p14="http://schemas.microsoft.com/office/powerpoint/2010/main" val="264777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Multi-Broker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Fault tolerance during broker failures</a:t>
            </a:r>
          </a:p>
          <a:p>
            <a:pPr>
              <a:defRPr sz="1900"/>
            </a:pPr>
            <a:r>
              <a:t>High throughput parallel processing</a:t>
            </a:r>
          </a:p>
          <a:p>
            <a:pPr>
              <a:defRPr sz="1900"/>
            </a:pPr>
            <a:r>
              <a:t>Load balancing across brokers</a:t>
            </a:r>
          </a:p>
          <a:p>
            <a:pPr>
              <a:defRPr sz="1900"/>
            </a:pPr>
            <a:r>
              <a:t>Improved scalability</a:t>
            </a:r>
          </a:p>
          <a:p>
            <a:pPr>
              <a:defRPr sz="1900"/>
            </a:pPr>
            <a:r>
              <a:t>Supports enterprise workloads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A8E-301A-5B29-45DC-C72231A3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Inspect a Running Kafka Cluster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25C54"/>
          </a:solidFill>
          <a:ln>
            <a:noFill/>
          </a:ln>
        </p:spPr>
        <p:txBody>
          <a:bodyPr wrap="square" lIns="72000" tIns="36000" rIns="7200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🧪 LAB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889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 algn="l">
              <a:buNone/>
            </a:pPr>
            <a:r>
              <a:rPr lang="en-US" sz="1400" dirty="0">
                <a:solidFill>
                  <a:srgbClr val="E8ECF1"/>
                </a:solidFill>
              </a:rPr>
              <a:t>Inspect topics, brokers, and partition assignments on a running Kafka cluster using built-in CLI tools.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175000"/>
            <a:ext cx="8382000" cy="889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Kafka 3.x installed locally OR access to a running cluster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$KAFKA_HOME/bin on your PATH; broker reachable on :9092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191000"/>
            <a:ext cx="8382000" cy="16510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List broker API versions: </a:t>
            </a:r>
            <a:r>
              <a:rPr lang="en-US" sz="1300" dirty="0">
                <a:latin typeface="Consolas"/>
              </a:rPr>
              <a:t>kafka-broker-api-versions.sh --bootstrap-server 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List topics: </a:t>
            </a:r>
            <a:r>
              <a:rPr lang="en-US" sz="1300" dirty="0">
                <a:latin typeface="Consolas"/>
              </a:rPr>
              <a:t>kafka-topics.sh --bootstrap-server localhost:9092 --list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Describe a topic to see partitions, leaders, ISR: </a:t>
            </a:r>
            <a:r>
              <a:rPr lang="en-US" sz="1300" dirty="0">
                <a:latin typeface="Consolas"/>
              </a:rPr>
              <a:t>kafka-topics.sh --bootstrap-server localhost:9092 --describe --topic orders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List active consumer groups: </a:t>
            </a:r>
            <a:r>
              <a:rPr lang="en-US" sz="1300" dirty="0">
                <a:latin typeface="Consolas"/>
              </a:rPr>
              <a:t>kafka-consumer-groups.sh --bootstrap-server localhost:9092 --list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985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OUTPUT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Topic: orders   PartitionCount: 3   ReplicationFactor: 3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  Partition: 0  Leader: 1  Replicas: 1,2,3  Isr: 1,2,3</a:t>
            </a:r>
          </a:p>
        </p:txBody>
      </p:sp>
    </p:spTree>
    <p:extLst>
      <p:ext uri="{BB962C8B-B14F-4D97-AF65-F5344CB8AC3E}">
        <p14:creationId xmlns:p14="http://schemas.microsoft.com/office/powerpoint/2010/main" val="375599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on Kubernetes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Containerized Kafka deployment</a:t>
            </a:r>
          </a:p>
          <a:p>
            <a:pPr>
              <a:defRPr sz="1900"/>
            </a:pPr>
            <a:r>
              <a:t>Orchestrated using Kubernetes</a:t>
            </a:r>
          </a:p>
          <a:p>
            <a:pPr>
              <a:defRPr sz="1900"/>
            </a:pPr>
            <a:r>
              <a:t>Supports scaling and automation</a:t>
            </a:r>
          </a:p>
          <a:p>
            <a:pPr>
              <a:defRPr sz="1900"/>
            </a:pPr>
            <a:r>
              <a:t>Simplifies rolling upgrades</a:t>
            </a:r>
          </a:p>
          <a:p>
            <a:pPr>
              <a:defRPr sz="1900"/>
            </a:pPr>
            <a:r>
              <a:t>Provides self-healing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Kubernetes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Kafka StatefulSets</a:t>
            </a:r>
          </a:p>
          <a:p>
            <a:pPr>
              <a:defRPr sz="1900"/>
            </a:pPr>
            <a:r>
              <a:t>Persistent Volumes</a:t>
            </a:r>
          </a:p>
          <a:p>
            <a:pPr>
              <a:defRPr sz="1900"/>
            </a:pPr>
            <a:r>
              <a:t>Services and Load Balancers</a:t>
            </a:r>
          </a:p>
          <a:p>
            <a:pPr>
              <a:defRPr sz="1900"/>
            </a:pPr>
            <a:r>
              <a:t>Zookeeper/KRaft Pods</a:t>
            </a:r>
          </a:p>
          <a:p>
            <a:pPr>
              <a:defRPr sz="1900"/>
            </a:pPr>
            <a:r>
              <a:t>Monitoring Sidecars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Kafka on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Automated deployment</a:t>
            </a:r>
          </a:p>
          <a:p>
            <a:pPr>
              <a:defRPr sz="1900"/>
            </a:pPr>
            <a:r>
              <a:t>Dynamic scaling</a:t>
            </a:r>
          </a:p>
          <a:p>
            <a:pPr>
              <a:defRPr sz="1900"/>
            </a:pPr>
            <a:r>
              <a:t>Self-healing infrastructure</a:t>
            </a:r>
          </a:p>
          <a:p>
            <a:pPr>
              <a:defRPr sz="1900"/>
            </a:pPr>
            <a:r>
              <a:t>Infrastructure as Code</a:t>
            </a:r>
          </a:p>
          <a:p>
            <a:pPr>
              <a:defRPr sz="1900"/>
            </a:pPr>
            <a:r>
              <a:t>Simplified CI/CD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82F5-FE11-BED9-532D-9A9F9336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Deploy Kafka on Kubernetes with Strimzi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25C54"/>
          </a:solidFill>
          <a:ln>
            <a:noFill/>
          </a:ln>
        </p:spPr>
        <p:txBody>
          <a:bodyPr wrap="square" lIns="72000" tIns="36000" rIns="7200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🧪 LAB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 algn="l">
              <a:buNone/>
            </a:pPr>
            <a:r>
              <a:rPr lang="en-US" sz="1400" dirty="0">
                <a:solidFill>
                  <a:srgbClr val="E8ECF1"/>
                </a:solidFill>
              </a:rPr>
              <a:t>Stand up a 3-broker Kafka cluster on Kubernetes using the Strimzi operator.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89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kubectl context pointing at a cluster (minikube/kind OK); cluster-admin rights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Nodes with ≥ 4 GB free RAM total for brokers + ZooKeeper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64000"/>
            <a:ext cx="8382000" cy="1714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Create namespace: </a:t>
            </a:r>
            <a:r>
              <a:rPr lang="en-US" sz="1300" dirty="0">
                <a:latin typeface="Consolas"/>
              </a:rPr>
              <a:t>kubectl create namespace kafka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Install Strimzi operator: </a:t>
            </a:r>
            <a:r>
              <a:rPr lang="en-US" sz="1300" dirty="0">
                <a:latin typeface="Consolas"/>
              </a:rPr>
              <a:t>kubectl apply -f 'https://strimzi.io/install/latest?namespace=kafka' -n kafka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Apply 3-broker Kafka cluster CR: </a:t>
            </a:r>
            <a:r>
              <a:rPr lang="en-US" sz="1300" dirty="0">
                <a:latin typeface="Consolas"/>
              </a:rPr>
              <a:t>kubectl apply -f kafka-persistent.yaml -n kafka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Wait for readiness: </a:t>
            </a:r>
            <a:r>
              <a:rPr lang="en-US" sz="1300" dirty="0">
                <a:latin typeface="Consolas"/>
              </a:rPr>
              <a:t>kubectl wait kafka/my-cluster --for=condition=Ready --timeout=300s -n kafka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055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OUTPUT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kafka.kafka.strimzi.io/my-cluster condition met</a:t>
            </a:r>
          </a:p>
        </p:txBody>
      </p:sp>
    </p:spTree>
    <p:extLst>
      <p:ext uri="{BB962C8B-B14F-4D97-AF65-F5344CB8AC3E}">
        <p14:creationId xmlns:p14="http://schemas.microsoft.com/office/powerpoint/2010/main" val="324335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Deployment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Strimzi Operator</a:t>
            </a:r>
          </a:p>
          <a:p>
            <a:pPr>
              <a:defRPr sz="1900"/>
            </a:pPr>
            <a:r>
              <a:t>Confluent Operator</a:t>
            </a:r>
          </a:p>
          <a:p>
            <a:pPr>
              <a:defRPr sz="1900"/>
            </a:pPr>
            <a:r>
              <a:t>Helm Charts</a:t>
            </a:r>
          </a:p>
          <a:p>
            <a:pPr>
              <a:defRPr sz="1900"/>
            </a:pPr>
            <a:r>
              <a:t>Bitnami Kafka</a:t>
            </a:r>
          </a:p>
          <a:p>
            <a:pPr>
              <a:defRPr sz="1900"/>
            </a:pPr>
            <a:r>
              <a:t>Custom Kubernetes manifests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Optimize throughput and latency</a:t>
            </a:r>
          </a:p>
          <a:p>
            <a:pPr>
              <a:defRPr sz="1900"/>
            </a:pPr>
            <a:r>
              <a:t>Reduce bottlenecks</a:t>
            </a:r>
          </a:p>
          <a:p>
            <a:pPr>
              <a:defRPr sz="1900"/>
            </a:pPr>
            <a:r>
              <a:t>Improve resource utilization</a:t>
            </a:r>
          </a:p>
          <a:p>
            <a:pPr>
              <a:defRPr sz="1900"/>
            </a:pPr>
            <a:r>
              <a:t>Handle high traffic workloads</a:t>
            </a:r>
          </a:p>
          <a:p>
            <a:pPr>
              <a:defRPr sz="1900"/>
            </a:pPr>
            <a:r>
              <a:t>Maintain cluster stability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Throughput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Increase partition count</a:t>
            </a:r>
          </a:p>
          <a:p>
            <a:pPr>
              <a:defRPr sz="1900"/>
            </a:pPr>
            <a:r>
              <a:t>Tune batch sizes</a:t>
            </a:r>
          </a:p>
          <a:p>
            <a:pPr>
              <a:defRPr sz="1900"/>
            </a:pPr>
            <a:r>
              <a:t>Enable compression</a:t>
            </a:r>
          </a:p>
          <a:p>
            <a:pPr>
              <a:defRPr sz="1900"/>
            </a:pPr>
            <a:r>
              <a:t>Optimize replication settings</a:t>
            </a:r>
          </a:p>
          <a:p>
            <a:pPr>
              <a:defRPr sz="1900"/>
            </a:pPr>
            <a:r>
              <a:t>Use efficient serialization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1681-D421-022A-D030-104FF7D7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Measure Baseline Throughput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25C54"/>
          </a:solidFill>
          <a:ln>
            <a:noFill/>
          </a:ln>
        </p:spPr>
        <p:txBody>
          <a:bodyPr wrap="square" lIns="72000" tIns="36000" rIns="7200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🧪 LAB</a:t>
            </a:r>
          </a:p>
        </p:txBody>
      </p:sp>
      <p:sp>
        <p:nvSpPr>
          <p:cNvPr id="401" name="Obj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 algn="l">
              <a:buNone/>
            </a:pPr>
            <a:r>
              <a:rPr lang="en-US" sz="1400" dirty="0">
                <a:solidFill>
                  <a:srgbClr val="E8ECF1"/>
                </a:solidFill>
              </a:rPr>
              <a:t>Capture a baseline producer + consumer throughput number before any tuning. Always tune against a baseline.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89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Cluster from Lab 2 (or any reachable 3-broker cluster)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Run from a client host with low-latency network to brokers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64000"/>
            <a:ext cx="8382000" cy="1714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Create a test topic: </a:t>
            </a:r>
            <a:r>
              <a:rPr lang="en-US" sz="1300" dirty="0">
                <a:latin typeface="Consolas"/>
              </a:rPr>
              <a:t>kafka-topics.sh --create --topic bench --partitions 6 --replication-factor 3 --bootstrap-server 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Run producer perf test: </a:t>
            </a:r>
            <a:r>
              <a:rPr lang="en-US" sz="1300" dirty="0">
                <a:latin typeface="Consolas"/>
              </a:rPr>
              <a:t>kafka-producer-perf-test.sh --topic bench --num-records 1000000 --record-size 1024 --throughput -1 --producer-props bootstrap.servers=localhost:9092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Run consumer perf test: </a:t>
            </a:r>
            <a:r>
              <a:rPr lang="en-US" sz="1300" dirty="0">
                <a:latin typeface="Consolas"/>
              </a:rPr>
              <a:t>kafka-consumer-perf-test.sh --topic bench --messages 1000000 --bootstrap-server 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Record MB/sec and p99 latency as your baseline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055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OUTPUT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1000000 records sent, 85,234 records/sec (83.24 MB/sec), 9.1ms avg latency</a:t>
            </a:r>
          </a:p>
        </p:txBody>
      </p:sp>
    </p:spTree>
    <p:extLst>
      <p:ext uri="{BB962C8B-B14F-4D97-AF65-F5344CB8AC3E}">
        <p14:creationId xmlns:p14="http://schemas.microsoft.com/office/powerpoint/2010/main" val="3941693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Increase batch.size</a:t>
            </a:r>
          </a:p>
          <a:p>
            <a:pPr>
              <a:defRPr sz="1900"/>
            </a:pPr>
            <a:r>
              <a:t>Tune linger.ms</a:t>
            </a:r>
          </a:p>
          <a:p>
            <a:pPr>
              <a:defRPr sz="1900"/>
            </a:pPr>
            <a:r>
              <a:t>Enable compression.type</a:t>
            </a:r>
          </a:p>
          <a:p>
            <a:pPr>
              <a:defRPr sz="1900"/>
            </a:pPr>
            <a:r>
              <a:t>Adjust acks configuration</a:t>
            </a:r>
          </a:p>
          <a:p>
            <a:pPr>
              <a:defRPr sz="1900"/>
            </a:pPr>
            <a:r>
              <a:t>Use asynchronous sending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Producer Configuration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acks=all for durability</a:t>
            </a:r>
          </a:p>
          <a:p>
            <a:pPr>
              <a:defRPr sz="1900"/>
            </a:pPr>
            <a:r>
              <a:t>compression.type=snappy</a:t>
            </a:r>
          </a:p>
          <a:p>
            <a:pPr>
              <a:defRPr sz="1900"/>
            </a:pPr>
            <a:r>
              <a:t>linger.ms=5</a:t>
            </a:r>
          </a:p>
          <a:p>
            <a:pPr>
              <a:defRPr sz="1900"/>
            </a:pPr>
            <a:r>
              <a:t>batch.size=65536</a:t>
            </a:r>
          </a:p>
          <a:p>
            <a:pPr>
              <a:defRPr sz="1900"/>
            </a:pPr>
            <a:r>
              <a:t>enable.idempotence=true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96B4-E98B-8EF5-CF14-4B7F91E0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Tune Producer for Throughput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25C54"/>
          </a:solidFill>
          <a:ln>
            <a:noFill/>
          </a:ln>
        </p:spPr>
        <p:txBody>
          <a:bodyPr wrap="square" lIns="72000" tIns="36000" rIns="7200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🧪 LAB</a:t>
            </a:r>
          </a:p>
        </p:txBody>
      </p:sp>
      <p:sp>
        <p:nvSpPr>
          <p:cNvPr id="401" name="Obj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 algn="l">
              <a:buNone/>
            </a:pPr>
            <a:r>
              <a:rPr lang="en-US" sz="1400" dirty="0">
                <a:solidFill>
                  <a:srgbClr val="E8ECF1"/>
                </a:solidFill>
              </a:rPr>
              <a:t>Push producer throughput 3–5x over baseline by tuning batching, compression, and in-flight requests.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Baseline numbers from Lab 3; same topic (bench) and cluster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39370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Re-run perf test with batching: </a:t>
            </a:r>
            <a:r>
              <a:rPr lang="en-US" sz="1300" dirty="0">
                <a:latin typeface="Consolas"/>
              </a:rPr>
              <a:t>--producer-props batch.size=65536 linger.ms=20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Add LZ4 compression: </a:t>
            </a:r>
            <a:r>
              <a:rPr lang="en-US" sz="1300" dirty="0">
                <a:latin typeface="Consolas"/>
              </a:rPr>
              <a:t>compression.type=lz4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Increase in-flight + idempotence: </a:t>
            </a:r>
            <a:r>
              <a:rPr lang="en-US" sz="1300" dirty="0">
                <a:latin typeface="Consolas"/>
              </a:rPr>
              <a:t>max.in.flight.requests.per.connection=5 enable.idempotence=true acks=all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Compare MB/sec, records/sec, and p99 latency against baseline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055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OUTPUT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~3–5x throughput over baseline; latency may rise modestly with larger linger.ms</a:t>
            </a:r>
          </a:p>
        </p:txBody>
      </p:sp>
    </p:spTree>
    <p:extLst>
      <p:ext uri="{BB962C8B-B14F-4D97-AF65-F5344CB8AC3E}">
        <p14:creationId xmlns:p14="http://schemas.microsoft.com/office/powerpoint/2010/main" val="4188498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Increase fetch.min.bytes</a:t>
            </a:r>
          </a:p>
          <a:p>
            <a:pPr>
              <a:defRPr sz="1900"/>
            </a:pPr>
            <a:r>
              <a:t>Tune max.poll.records</a:t>
            </a:r>
          </a:p>
          <a:p>
            <a:pPr>
              <a:defRPr sz="1900"/>
            </a:pPr>
            <a:r>
              <a:t>Use parallel consumers</a:t>
            </a:r>
          </a:p>
          <a:p>
            <a:pPr>
              <a:defRPr sz="1900"/>
            </a:pPr>
            <a:r>
              <a:t>Optimize commit strategy</a:t>
            </a:r>
          </a:p>
          <a:p>
            <a:pPr>
              <a:defRPr sz="1900"/>
            </a:pPr>
            <a:r>
              <a:t>Scale consumer groups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Consumer Configuration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fetch.min.bytes=50000</a:t>
            </a:r>
          </a:p>
          <a:p>
            <a:pPr>
              <a:defRPr sz="1900"/>
            </a:pPr>
            <a:r>
              <a:t>max.poll.records=500</a:t>
            </a:r>
          </a:p>
          <a:p>
            <a:pPr>
              <a:defRPr sz="1900"/>
            </a:pPr>
            <a:r>
              <a:t>enable.auto.commit=false</a:t>
            </a:r>
          </a:p>
          <a:p>
            <a:pPr>
              <a:defRPr sz="1900"/>
            </a:pPr>
            <a:r>
              <a:t>session.timeout.ms tuning</a:t>
            </a:r>
          </a:p>
          <a:p>
            <a:pPr>
              <a:defRPr sz="1900"/>
            </a:pPr>
            <a:r>
              <a:t>Use cooperative rebalancing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D838-902A-130D-17BE-650D2B0B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Tune Consumer Fetch &amp; Parallelism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25C54"/>
          </a:solidFill>
          <a:ln>
            <a:noFill/>
          </a:ln>
        </p:spPr>
        <p:txBody>
          <a:bodyPr wrap="square" lIns="72000" tIns="36000" rIns="72000" bIns="36000" anchor="ctr" anchorCtr="1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🧪 LAB</a:t>
            </a:r>
          </a:p>
        </p:txBody>
      </p:sp>
      <p:sp>
        <p:nvSpPr>
          <p:cNvPr id="401" name="Obj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 algn="l">
              <a:buNone/>
            </a:pPr>
            <a:r>
              <a:rPr lang="en-US" sz="1400" dirty="0">
                <a:solidFill>
                  <a:srgbClr val="E8ECF1"/>
                </a:solidFill>
              </a:rPr>
              <a:t>Scale a consumer group horizontally and tune fetch behavior to keep lag at zero.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80000" indent="-180000" algn="l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Topic with 6+ partitions and continuous producer load (e.g., bench from Lab 4)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39370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Start 1 consumer in group bench-cg: </a:t>
            </a:r>
            <a:r>
              <a:rPr lang="en-US" sz="1300" dirty="0">
                <a:latin typeface="Consolas"/>
              </a:rPr>
              <a:t>kafka-console-consumer.sh --topic bench --group bench-cg --bootstrap-server 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Check lag: </a:t>
            </a:r>
            <a:r>
              <a:rPr lang="en-US" sz="1300" dirty="0">
                <a:latin typeface="Consolas"/>
              </a:rPr>
              <a:t>kafka-consumer-groups.sh --describe --group bench-cg --bootstrap-server localhost:9092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Scale to 3 consumers; tune fetch: </a:t>
            </a:r>
            <a:r>
              <a:rPr lang="en-US" sz="1300" dirty="0">
                <a:latin typeface="Consolas"/>
              </a:rPr>
              <a:t>fetch.min.bytes=65536 fetch.max.wait.ms=50 max.poll.records=500</a:t>
            </a:r>
          </a:p>
          <a:p>
            <a:pPr marL="180000" indent="-180000" algn="l">
              <a:buFont typeface="Arial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Re-check lag; goal is steady-state lag ≈ 0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055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OUTPUT</a:t>
            </a:r>
          </a:p>
          <a:p>
            <a:pPr algn="l">
              <a:buNone/>
            </a:pPr>
            <a:r>
              <a:rPr lang="en-US" sz="1300" dirty="0">
                <a:latin typeface="Consolas"/>
              </a:rPr>
              <a:t>GROUP  TOPIC  PARTITION  CURRENT-OFFSET  LOG-END-OFFSET  LAG = 0</a:t>
            </a:r>
          </a:p>
        </p:txBody>
      </p:sp>
    </p:spTree>
    <p:extLst>
      <p:ext uri="{BB962C8B-B14F-4D97-AF65-F5344CB8AC3E}">
        <p14:creationId xmlns:p14="http://schemas.microsoft.com/office/powerpoint/2010/main" val="1911336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Broker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Tune log.segment.bytes</a:t>
            </a:r>
          </a:p>
          <a:p>
            <a:pPr>
              <a:defRPr sz="1900"/>
            </a:pPr>
            <a:r>
              <a:t>Increase num.network.threads</a:t>
            </a:r>
          </a:p>
          <a:p>
            <a:pPr>
              <a:defRPr sz="1900"/>
            </a:pPr>
            <a:r>
              <a:t>Optimize page cache usage</a:t>
            </a:r>
          </a:p>
          <a:p>
            <a:pPr>
              <a:defRPr sz="1900"/>
            </a:pPr>
            <a:r>
              <a:t>Tune replication settings</a:t>
            </a:r>
          </a:p>
          <a:p>
            <a:pPr>
              <a:defRPr sz="1900"/>
            </a:pPr>
            <a:r>
              <a:t>Monitor JVM memory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Storage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Use SSD storage</a:t>
            </a:r>
          </a:p>
          <a:p>
            <a:pPr>
              <a:defRPr sz="1900"/>
            </a:pPr>
            <a:r>
              <a:t>Separate Kafka logs from OS disk</a:t>
            </a:r>
          </a:p>
          <a:p>
            <a:pPr>
              <a:defRPr sz="1900"/>
            </a:pPr>
            <a:r>
              <a:t>Tune retention policies</a:t>
            </a:r>
          </a:p>
          <a:p>
            <a:pPr>
              <a:defRPr sz="1900"/>
            </a:pPr>
            <a:r>
              <a:t>Optimize page cache</a:t>
            </a:r>
          </a:p>
          <a:p>
            <a:pPr>
              <a:defRPr sz="1900"/>
            </a:pPr>
            <a:r>
              <a:t>Monitor disk throughput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2412-D9AC-FADC-0EE7-7648B150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Tune Log Segment and Retention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LAB 6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>
              <a:buNone/>
            </a:pPr>
            <a:r>
              <a:rPr lang="en-US" sz="1400" dirty="0">
                <a:solidFill>
                  <a:srgbClr val="E8ECF1"/>
                </a:solidFill>
              </a:rPr>
              <a:t>Configure log segment size and retention policies on a topic to control disk usage and replay window.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255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Running Kafka cluster from Lab 1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Topic 'orders' created with 6 partitions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005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Set segment size to 128 MB: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kafka-configs --alter --topic orders --add-config segment.bytes=134217728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Set 7-day retention: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--add-config retention.ms=604800000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Verify on the broker: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kafka-configs --describe --topic orders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Inspect segments on disk: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ls -lh /var/lib/kafka/orders-0/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Outcome</a:t>
            </a:r>
          </a:p>
          <a:p>
            <a:pPr>
              <a:buNone/>
            </a:pPr>
            <a:r>
              <a:rPr lang="en-US" sz="1300" dirty="0">
                <a:solidFill>
                  <a:srgbClr val="E8ECF1"/>
                </a:solidFill>
                <a:latin typeface="Consolas"/>
              </a:rPr>
              <a:t>segment.bytes=134217728, retention.ms=604800000 confirmed; older segments roll off after 7 days.</a:t>
            </a:r>
          </a:p>
        </p:txBody>
      </p:sp>
    </p:spTree>
    <p:extLst>
      <p:ext uri="{BB962C8B-B14F-4D97-AF65-F5344CB8AC3E}">
        <p14:creationId xmlns:p14="http://schemas.microsoft.com/office/powerpoint/2010/main" val="2941570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Production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Under-replicated partitions</a:t>
            </a:r>
          </a:p>
          <a:p>
            <a:pPr>
              <a:defRPr sz="1900"/>
            </a:pPr>
            <a:r>
              <a:t>High consumer lag</a:t>
            </a:r>
          </a:p>
          <a:p>
            <a:pPr>
              <a:defRPr sz="1900"/>
            </a:pPr>
            <a:r>
              <a:t>Broker crashes</a:t>
            </a:r>
          </a:p>
          <a:p>
            <a:pPr>
              <a:defRPr sz="1900"/>
            </a:pPr>
            <a:r>
              <a:t>Disk space exhaustion</a:t>
            </a:r>
          </a:p>
          <a:p>
            <a:pPr>
              <a:defRPr sz="1900"/>
            </a:pPr>
            <a:r>
              <a:t>Slow producers and consumers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Broker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Check ISR status</a:t>
            </a:r>
          </a:p>
          <a:p>
            <a:pPr>
              <a:defRPr sz="1900"/>
            </a:pPr>
            <a:r>
              <a:t>Review Kafka logs</a:t>
            </a:r>
          </a:p>
          <a:p>
            <a:pPr>
              <a:defRPr sz="1900"/>
            </a:pPr>
            <a:r>
              <a:t>Validate network connectivity</a:t>
            </a:r>
          </a:p>
          <a:p>
            <a:pPr>
              <a:defRPr sz="1900"/>
            </a:pPr>
            <a:r>
              <a:t>Monitor disk health</a:t>
            </a:r>
          </a:p>
          <a:p>
            <a:pPr>
              <a:defRPr sz="1900"/>
            </a:pPr>
            <a:r>
              <a:t>Verify replication health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Analyze slow consumers</a:t>
            </a:r>
          </a:p>
          <a:p>
            <a:pPr>
              <a:defRPr sz="1900"/>
            </a:pPr>
            <a:r>
              <a:t>Increase consumer instances</a:t>
            </a:r>
          </a:p>
          <a:p>
            <a:pPr>
              <a:defRPr sz="1900"/>
            </a:pPr>
            <a:r>
              <a:t>Optimize processing logic</a:t>
            </a:r>
          </a:p>
          <a:p>
            <a:pPr>
              <a:defRPr sz="1900"/>
            </a:pPr>
            <a:r>
              <a:t>Monitor partition assignment</a:t>
            </a:r>
          </a:p>
          <a:p>
            <a:pPr>
              <a:defRPr sz="1900"/>
            </a:pPr>
            <a:r>
              <a:t>Tune fetch configurations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7EC9-7393-B781-74A8-EA3D9819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Diagnose Consumer Lag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LAB 7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>
              <a:buNone/>
            </a:pPr>
            <a:r>
              <a:rPr lang="en-US" sz="1400" dirty="0">
                <a:solidFill>
                  <a:srgbClr val="E8ECF1"/>
                </a:solidFill>
              </a:rPr>
              <a:t>Measure consumer group lag, identify the slow partition, and reset offsets to recover.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255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Consumer group 'order-processor' actively consuming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Producer load generator running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005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Show group lag: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kafka-consumer-groups --describe --group order-processor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Identify partition with highest LAG column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Reset offsets to latest: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--reset-offsets --to-latest --topic orders --execute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Re-describe and confirm lag returned to near-zero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Outcome</a:t>
            </a:r>
          </a:p>
          <a:p>
            <a:pPr>
              <a:buNone/>
            </a:pPr>
            <a:r>
              <a:rPr lang="en-US" sz="1300" dirty="0">
                <a:solidFill>
                  <a:srgbClr val="E8ECF1"/>
                </a:solidFill>
                <a:latin typeface="Consolas"/>
              </a:rPr>
              <a:t>LAG drops from thousands to under 100 within a few seconds across all partitions.</a:t>
            </a:r>
          </a:p>
        </p:txBody>
      </p:sp>
    </p:spTree>
    <p:extLst>
      <p:ext uri="{BB962C8B-B14F-4D97-AF65-F5344CB8AC3E}">
        <p14:creationId xmlns:p14="http://schemas.microsoft.com/office/powerpoint/2010/main" val="995079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Monitoring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Track throughput metrics</a:t>
            </a:r>
          </a:p>
          <a:p>
            <a:pPr>
              <a:defRPr sz="1900"/>
            </a:pPr>
            <a:r>
              <a:t>Monitor latency</a:t>
            </a:r>
          </a:p>
          <a:p>
            <a:pPr>
              <a:defRPr sz="1900"/>
            </a:pPr>
            <a:r>
              <a:t>Observe partition health</a:t>
            </a:r>
          </a:p>
          <a:p>
            <a:pPr>
              <a:defRPr sz="1900"/>
            </a:pPr>
            <a:r>
              <a:t>Analyze JVM performance</a:t>
            </a:r>
          </a:p>
          <a:p>
            <a:pPr>
              <a:defRPr sz="1900"/>
            </a:pPr>
            <a:r>
              <a:t>Enable proactive alerting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BE96-AFB5-AED3-455F-D1F13302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Wire Up JMX and Prometheus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LAB 8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>
              <a:buNone/>
            </a:pPr>
            <a:r>
              <a:rPr lang="en-US" sz="1400" dirty="0">
                <a:solidFill>
                  <a:srgbClr val="E8ECF1"/>
                </a:solidFill>
              </a:rPr>
              <a:t>Expose broker JMX metrics, scrape them with the Prometheus JMX exporter, and verify key signals.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255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jmx_prometheus_javaagent JAR on each broker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Prometheus server reachable from brokers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005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Attach the JMX exporter agent: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KAFKA_OPTS="-javaagent:/opt/jmx_prom.jar=7071:kafka.yml"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Restart brokers and curl the endpoint: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curl localhost:7071/metrics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Add scrape job in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prometheus.yml</a:t>
            </a:r>
            <a:r>
              <a:rPr lang="en-US" sz="1300" b="1" dirty="0">
                <a:solidFill>
                  <a:srgbClr val="E8ECF1"/>
                </a:solidFill>
              </a:rPr>
              <a:t> targeting broker:7071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Query in Prometheus: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kafka_server_BrokerTopicMetrics_MessagesInPerSec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Outcome</a:t>
            </a:r>
          </a:p>
          <a:p>
            <a:pPr>
              <a:buNone/>
            </a:pPr>
            <a:r>
              <a:rPr lang="en-US" sz="1300" dirty="0">
                <a:solidFill>
                  <a:srgbClr val="E8ECF1"/>
                </a:solidFill>
                <a:latin typeface="Consolas"/>
              </a:rPr>
              <a:t>Prometheus targets show UP; broker metrics graph in Grafana with non-zero MessagesInPerSec.</a:t>
            </a:r>
          </a:p>
        </p:txBody>
      </p:sp>
    </p:spTree>
    <p:extLst>
      <p:ext uri="{BB962C8B-B14F-4D97-AF65-F5344CB8AC3E}">
        <p14:creationId xmlns:p14="http://schemas.microsoft.com/office/powerpoint/2010/main" val="1823000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Production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Use replication factor &gt;= 3</a:t>
            </a:r>
          </a:p>
          <a:p>
            <a:pPr>
              <a:defRPr sz="1900"/>
            </a:pPr>
            <a:r>
              <a:t>Enable monitoring and alerting</a:t>
            </a:r>
          </a:p>
          <a:p>
            <a:pPr>
              <a:defRPr sz="1900"/>
            </a:pPr>
            <a:r>
              <a:t>Secure Kafka using SSL/SASL</a:t>
            </a:r>
          </a:p>
          <a:p>
            <a:pPr>
              <a:defRPr sz="1900"/>
            </a:pPr>
            <a:r>
              <a:t>Automate backups</a:t>
            </a:r>
          </a:p>
          <a:p>
            <a:pPr>
              <a:defRPr sz="1900"/>
            </a:pPr>
            <a:r>
              <a:t>Perform regular performance testing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Disaster Recovery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Multi-datacenter replication</a:t>
            </a:r>
          </a:p>
          <a:p>
            <a:pPr>
              <a:defRPr sz="1900"/>
            </a:pPr>
            <a:r>
              <a:t>Use MirrorMaker 2</a:t>
            </a:r>
          </a:p>
          <a:p>
            <a:pPr>
              <a:defRPr sz="1900"/>
            </a:pPr>
            <a:r>
              <a:t>Backup critical topics</a:t>
            </a:r>
          </a:p>
          <a:p>
            <a:pPr>
              <a:defRPr sz="1900"/>
            </a:pPr>
            <a:r>
              <a:t>Implement failover planning</a:t>
            </a:r>
          </a:p>
          <a:p>
            <a:pPr>
              <a:defRPr sz="1900"/>
            </a:pPr>
            <a:r>
              <a:t>Test recovery procedures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51CD-FAE3-4655-2B28-B821FEDA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Replicate with MirrorMaker 2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LAB 9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>
              <a:buNone/>
            </a:pPr>
            <a:r>
              <a:rPr lang="en-US" sz="1400" dirty="0">
                <a:solidFill>
                  <a:srgbClr val="E8ECF1"/>
                </a:solidFill>
              </a:rPr>
              <a:t>Replicate the orders topic from cluster A to cluster B using MirrorMaker 2 and verify failover readiness.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255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Two Kafka clusters reachable from MM2 host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connect-mirror-maker.sh available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005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Create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mm2.properties</a:t>
            </a:r>
            <a:r>
              <a:rPr lang="en-US" sz="1300" b="1" dirty="0">
                <a:solidFill>
                  <a:srgbClr val="E8ECF1"/>
                </a:solidFill>
              </a:rPr>
              <a:t> with clusters A, B and flow A-&gt;B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Whitelist topic: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topics=orders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Start MM2: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connect-mirror-maker.sh mm2.properties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Consume from cluster B: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kafka-console-consumer --topic A.orders --from-beginning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Outcome</a:t>
            </a:r>
          </a:p>
          <a:p>
            <a:pPr>
              <a:buNone/>
            </a:pPr>
            <a:r>
              <a:rPr lang="en-US" sz="1300" dirty="0">
                <a:solidFill>
                  <a:srgbClr val="E8ECF1"/>
                </a:solidFill>
                <a:latin typeface="Consolas"/>
              </a:rPr>
              <a:t>Topic A.orders on cluster B mirrors all records from cluster A with replication lag under a few seconds.</a:t>
            </a:r>
          </a:p>
        </p:txBody>
      </p:sp>
    </p:spTree>
    <p:extLst>
      <p:ext uri="{BB962C8B-B14F-4D97-AF65-F5344CB8AC3E}">
        <p14:creationId xmlns:p14="http://schemas.microsoft.com/office/powerpoint/2010/main" val="95171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Case Study - Netflix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Kafka handles billions of events daily</a:t>
            </a:r>
          </a:p>
          <a:p>
            <a:pPr>
              <a:defRPr sz="1900"/>
            </a:pPr>
            <a:r>
              <a:t>Used for real-time recommendations</a:t>
            </a:r>
          </a:p>
          <a:p>
            <a:pPr>
              <a:defRPr sz="1900"/>
            </a:pPr>
            <a:r>
              <a:t>Supports monitoring and analytics</a:t>
            </a:r>
          </a:p>
          <a:p>
            <a:pPr>
              <a:defRPr sz="1900"/>
            </a:pPr>
            <a:r>
              <a:t>Highly scalable architecture</a:t>
            </a:r>
          </a:p>
          <a:p>
            <a:pPr>
              <a:defRPr sz="1900"/>
            </a:pPr>
            <a:r>
              <a:t>Integrated with microservices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Case Study - LinkedIn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Kafka originally developed at LinkedIn</a:t>
            </a:r>
          </a:p>
          <a:p>
            <a:pPr>
              <a:defRPr sz="1900"/>
            </a:pPr>
            <a:r>
              <a:t>Handles activity streams</a:t>
            </a:r>
          </a:p>
          <a:p>
            <a:pPr>
              <a:defRPr sz="1900"/>
            </a:pPr>
            <a:r>
              <a:t>Supports event-driven architecture</a:t>
            </a:r>
          </a:p>
          <a:p>
            <a:pPr>
              <a:defRPr sz="1900"/>
            </a:pPr>
            <a:r>
              <a:t>Processes massive data volumes</a:t>
            </a:r>
          </a:p>
          <a:p>
            <a:pPr>
              <a:defRPr sz="1900"/>
            </a:pPr>
            <a:r>
              <a:t>Provides real-time analytics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Case Study - Uber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Kafka powers ride-tracking systems</a:t>
            </a:r>
          </a:p>
          <a:p>
            <a:pPr>
              <a:defRPr sz="1900"/>
            </a:pPr>
            <a:r>
              <a:t>Real-time location streaming</a:t>
            </a:r>
          </a:p>
          <a:p>
            <a:pPr>
              <a:defRPr sz="1900"/>
            </a:pPr>
            <a:r>
              <a:t>Fraud detection pipelines</a:t>
            </a:r>
          </a:p>
          <a:p>
            <a:pPr>
              <a:defRPr sz="1900"/>
            </a:pPr>
            <a:r>
              <a:t>Dynamic pricing systems</a:t>
            </a:r>
          </a:p>
          <a:p>
            <a:pPr>
              <a:defRPr sz="1900"/>
            </a:pPr>
            <a:r>
              <a:t>Scalable distributed processing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76DF-D1DB-B761-47DB-EE038759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dk1"/>
                </a:solidFill>
              </a:rPr>
              <a:t>Lab: Capacity Plan a Cluster</a:t>
            </a:r>
          </a:p>
        </p:txBody>
      </p:sp>
      <p:sp>
        <p:nvSpPr>
          <p:cNvPr id="400" name="LabBadge"/>
          <p:cNvSpPr/>
          <p:nvPr/>
        </p:nvSpPr>
        <p:spPr>
          <a:xfrm>
            <a:off x="7366000" y="762000"/>
            <a:ext cx="1397000" cy="381000"/>
          </a:xfrm>
          <a:prstGeom prst="rect">
            <a:avLst/>
          </a:prstGeom>
          <a:solidFill>
            <a:srgbClr val="F25C5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LAB 10</a:t>
            </a:r>
          </a:p>
        </p:txBody>
      </p:sp>
      <p:sp>
        <p:nvSpPr>
          <p:cNvPr id="401" name="Objective"/>
          <p:cNvSpPr/>
          <p:nvPr/>
        </p:nvSpPr>
        <p:spPr>
          <a:xfrm>
            <a:off x="381000" y="2159000"/>
            <a:ext cx="8382000" cy="7620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Objective</a:t>
            </a:r>
          </a:p>
          <a:p>
            <a:pPr>
              <a:buNone/>
            </a:pPr>
            <a:r>
              <a:rPr lang="en-US" sz="1400" dirty="0">
                <a:solidFill>
                  <a:srgbClr val="E8ECF1"/>
                </a:solidFill>
              </a:rPr>
              <a:t>Size a production cluster from peak throughput, retention, and replication requirements.</a:t>
            </a:r>
          </a:p>
        </p:txBody>
      </p:sp>
      <p:sp>
        <p:nvSpPr>
          <p:cNvPr id="402" name="Prereq"/>
          <p:cNvSpPr/>
          <p:nvPr/>
        </p:nvSpPr>
        <p:spPr>
          <a:xfrm>
            <a:off x="381000" y="3048000"/>
            <a:ext cx="8382000" cy="825500"/>
          </a:xfrm>
          <a:prstGeom prst="rect">
            <a:avLst/>
          </a:prstGeom>
          <a:solidFill>
            <a:srgbClr val="1A294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Prerequisites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Workload spec: 100 MB/s peak, 7-day retention, RF=3</a:t>
            </a:r>
          </a:p>
          <a:p>
            <a:pPr marL="171450" indent="-171450">
              <a:buFont typeface="Arial"/>
              <a:buChar char="•"/>
            </a:pPr>
            <a:r>
              <a:rPr lang="en-US" sz="1400" dirty="0">
                <a:solidFill>
                  <a:srgbClr val="E8ECF1"/>
                </a:solidFill>
              </a:rPr>
              <a:t>Spreadsheet or notebook for calculations</a:t>
            </a:r>
          </a:p>
        </p:txBody>
      </p:sp>
      <p:sp>
        <p:nvSpPr>
          <p:cNvPr id="403" name="Steps"/>
          <p:cNvSpPr/>
          <p:nvPr/>
        </p:nvSpPr>
        <p:spPr>
          <a:xfrm>
            <a:off x="381000" y="4000500"/>
            <a:ext cx="8382000" cy="1841500"/>
          </a:xfrm>
          <a:prstGeom prst="rect">
            <a:avLst/>
          </a:prstGeom>
          <a:solidFill>
            <a:srgbClr val="0F1B2D"/>
          </a:solidFill>
          <a:ln w="9525">
            <a:solidFill>
              <a:srgbClr val="DFE3E5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Steps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Compute raw daily ingest: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100 MB/s x 86400 = 8.64 TB/day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Apply retention and RF: </a:t>
            </a:r>
            <a:r>
              <a:rPr lang="en-US" sz="1300" dirty="0">
                <a:solidFill>
                  <a:srgbClr val="F25C54"/>
                </a:solidFill>
                <a:latin typeface="Consolas"/>
              </a:rPr>
              <a:t>8.64 TB x 7 days x 3 = 181 TB total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Add 30% headroom, divide by per-broker disk capacity to get broker count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300" b="1" dirty="0">
                <a:solidFill>
                  <a:srgbClr val="E8ECF1"/>
                </a:solidFill>
              </a:rPr>
              <a:t>Size partitions: target 25-50 MB/s per partition; here ~4 partitions minimum</a:t>
            </a:r>
          </a:p>
        </p:txBody>
      </p:sp>
      <p:sp>
        <p:nvSpPr>
          <p:cNvPr id="404" name="Expected"/>
          <p:cNvSpPr/>
          <p:nvPr/>
        </p:nvSpPr>
        <p:spPr>
          <a:xfrm>
            <a:off x="381000" y="5969000"/>
            <a:ext cx="8382000" cy="635000"/>
          </a:xfrm>
          <a:prstGeom prst="rect">
            <a:avLst/>
          </a:prstGeom>
          <a:solidFill>
            <a:srgbClr val="133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B4A6"/>
                </a:solidFill>
              </a:rPr>
              <a:t>Expected Outcome</a:t>
            </a:r>
          </a:p>
          <a:p>
            <a:pPr>
              <a:buNone/>
            </a:pPr>
            <a:r>
              <a:rPr lang="en-US" sz="1300" dirty="0">
                <a:solidFill>
                  <a:srgbClr val="E8ECF1"/>
                </a:solidFill>
                <a:latin typeface="Consolas"/>
              </a:rPr>
              <a:t>Documented sizing: 6-9 brokers, 4+ partitions per topic, 235 TB provisioned storage with 30% headroom.</a:t>
            </a:r>
          </a:p>
        </p:txBody>
      </p:sp>
    </p:spTree>
    <p:extLst>
      <p:ext uri="{BB962C8B-B14F-4D97-AF65-F5344CB8AC3E}">
        <p14:creationId xmlns:p14="http://schemas.microsoft.com/office/powerpoint/2010/main" val="2894559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Capstone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Build complete real-time streaming system</a:t>
            </a:r>
          </a:p>
          <a:p>
            <a:pPr>
              <a:defRPr sz="1900"/>
            </a:pPr>
            <a:r>
              <a:t>Integrate producers, Kafka, streams, sinks, and monitoring</a:t>
            </a:r>
          </a:p>
          <a:p>
            <a:pPr>
              <a:defRPr sz="1900"/>
            </a:pPr>
            <a:r>
              <a:t>Apply all learned concepts</a:t>
            </a:r>
          </a:p>
          <a:p>
            <a:pPr>
              <a:defRPr sz="1900"/>
            </a:pPr>
            <a:r>
              <a:t>Implement scalable architecture</a:t>
            </a:r>
          </a:p>
          <a:p>
            <a:pPr>
              <a:defRPr sz="1900"/>
            </a:pPr>
            <a:r>
              <a:t>Present enterprise-grade solution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Producer Application</a:t>
            </a:r>
          </a:p>
          <a:p>
            <a:pPr>
              <a:defRPr sz="1900"/>
            </a:pPr>
            <a:r>
              <a:t>Kafka Cluster</a:t>
            </a:r>
          </a:p>
          <a:p>
            <a:pPr>
              <a:defRPr sz="1900"/>
            </a:pPr>
            <a:r>
              <a:t>Kafka Streams Processing</a:t>
            </a:r>
          </a:p>
          <a:p>
            <a:pPr>
              <a:defRPr sz="1900"/>
            </a:pPr>
            <a:r>
              <a:t>Database Sink</a:t>
            </a:r>
          </a:p>
          <a:p>
            <a:pPr>
              <a:defRPr sz="1900"/>
            </a:pPr>
            <a:r>
              <a:t>Monitoring Dashboard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- Producer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Generate real-time events</a:t>
            </a:r>
          </a:p>
          <a:p>
            <a:pPr>
              <a:defRPr sz="1900"/>
            </a:pPr>
            <a:r>
              <a:t>Send data to Kafka topics</a:t>
            </a:r>
          </a:p>
          <a:p>
            <a:pPr>
              <a:defRPr sz="1900"/>
            </a:pPr>
            <a:r>
              <a:t>Use optimized producer configs</a:t>
            </a:r>
          </a:p>
          <a:p>
            <a:pPr>
              <a:defRPr sz="1900"/>
            </a:pPr>
            <a:r>
              <a:t>Handle retries and failures</a:t>
            </a:r>
          </a:p>
          <a:p>
            <a:pPr>
              <a:defRPr sz="1900"/>
            </a:pPr>
            <a:r>
              <a:t>Implement serialization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- Kafka Streams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Filter invalid records</a:t>
            </a:r>
          </a:p>
          <a:p>
            <a:pPr>
              <a:defRPr sz="1900"/>
            </a:pPr>
            <a:r>
              <a:t>Perform aggregations</a:t>
            </a:r>
          </a:p>
          <a:p>
            <a:pPr>
              <a:defRPr sz="1900"/>
            </a:pPr>
            <a:r>
              <a:t>Apply real-time analytics</a:t>
            </a:r>
          </a:p>
          <a:p>
            <a:pPr>
              <a:defRPr sz="1900"/>
            </a:pPr>
            <a:r>
              <a:t>Use windowing operations</a:t>
            </a:r>
          </a:p>
          <a:p>
            <a:pPr>
              <a:defRPr sz="1900"/>
            </a:pPr>
            <a:r>
              <a:t>Publish transformed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- Database Sink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Store processed records</a:t>
            </a:r>
          </a:p>
          <a:p>
            <a:pPr>
              <a:defRPr sz="1900"/>
            </a:pPr>
            <a:r>
              <a:t>Use JDBC or Elasticsearch sink</a:t>
            </a:r>
          </a:p>
          <a:p>
            <a:pPr>
              <a:defRPr sz="1900"/>
            </a:pPr>
            <a:r>
              <a:t>Enable analytics queries</a:t>
            </a:r>
          </a:p>
          <a:p>
            <a:pPr>
              <a:defRPr sz="1900"/>
            </a:pPr>
            <a:r>
              <a:t>Maintain schema compatibility</a:t>
            </a:r>
          </a:p>
          <a:p>
            <a:pPr>
              <a:defRPr sz="1900"/>
            </a:pPr>
            <a:r>
              <a:t>Verify end-to-end delivery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Capstone - 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Visualize Kafka metrics</a:t>
            </a:r>
          </a:p>
          <a:p>
            <a:pPr>
              <a:defRPr sz="1900"/>
            </a:pPr>
            <a:r>
              <a:t>Track throughput and lag</a:t>
            </a:r>
          </a:p>
          <a:p>
            <a:pPr>
              <a:defRPr sz="1900"/>
            </a:pPr>
            <a:r>
              <a:t>Create Grafana dashboards</a:t>
            </a:r>
          </a:p>
          <a:p>
            <a:pPr>
              <a:defRPr sz="1900"/>
            </a:pPr>
            <a:r>
              <a:t>Monitor stream processing</a:t>
            </a:r>
          </a:p>
          <a:p>
            <a:pPr>
              <a:defRPr sz="1900"/>
            </a:pPr>
            <a:r>
              <a:t>Enable alerting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7865207]">
  <a:themeElements>
    <a:clrScheme name="Integral">
      <a:dk1>
        <a:srgbClr val="E8ECF1"/>
      </a:dk1>
      <a:lt1>
        <a:srgbClr val="E8ECF1"/>
      </a:lt1>
      <a:dk2>
        <a:srgbClr val="B8C2CC"/>
      </a:dk2>
      <a:lt2>
        <a:srgbClr val="1A2942"/>
      </a:lt2>
      <a:accent1>
        <a:srgbClr val="00B4A6"/>
      </a:accent1>
      <a:accent2>
        <a:srgbClr val="F25C54"/>
      </a:accent2>
      <a:accent3>
        <a:srgbClr val="F4B860"/>
      </a:accent3>
      <a:accent4>
        <a:srgbClr val="5B8DEF"/>
      </a:accent4>
      <a:accent5>
        <a:srgbClr val="8B6FCB"/>
      </a:accent5>
      <a:accent6>
        <a:srgbClr val="E8ECF1"/>
      </a:accent6>
      <a:hlink>
        <a:srgbClr val="6B9F25"/>
      </a:hlink>
      <a:folHlink>
        <a:srgbClr val="B26B02"/>
      </a:folHlink>
    </a:clrScheme>
    <a:fontScheme name="Integral">
      <a:majorFont>
        <a:latin typeface="Segoe UI Semibol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FFE2B5-628D-4812-B9B9-DA630FD7246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704c347-fe14-4b39-9fe2-bb29de2940c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</TotalTime>
  <Words>2052</Words>
  <Application>Microsoft Office PowerPoint</Application>
  <PresentationFormat>On-screen Show (4:3)</PresentationFormat>
  <Paragraphs>354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Consolas</vt:lpstr>
      <vt:lpstr>Segoe UI</vt:lpstr>
      <vt:lpstr>Segoe UI Semibold</vt:lpstr>
      <vt:lpstr>Tw Cen MT</vt:lpstr>
      <vt:lpstr>Wingdings 3</vt:lpstr>
      <vt:lpstr>Integral [1779647865207]</vt:lpstr>
      <vt:lpstr>Kafka Production Deployment &amp; Capstone Project</vt:lpstr>
      <vt:lpstr>Learning Objectives</vt:lpstr>
      <vt:lpstr>Introduction to Production Kafka</vt:lpstr>
      <vt:lpstr>Multi-Node Kafka Cluster Overview</vt:lpstr>
      <vt:lpstr>Kafka Cluster Architecture</vt:lpstr>
      <vt:lpstr>Kafka Cluster Topology</vt:lpstr>
      <vt:lpstr>Benefits of Multi-Broker Clusters</vt:lpstr>
      <vt:lpstr>Lab: Inspect a Running Kafka Cluster</vt:lpstr>
      <vt:lpstr>Kafka on Kubernetes Overview</vt:lpstr>
      <vt:lpstr>Kafka Kubernetes Components</vt:lpstr>
      <vt:lpstr>Advantages of Kafka on Kubernetes</vt:lpstr>
      <vt:lpstr>Lab: Deploy Kafka on Kubernetes with Strimzi</vt:lpstr>
      <vt:lpstr>Kafka Deployment Tools</vt:lpstr>
      <vt:lpstr>Performance Optimization Overview</vt:lpstr>
      <vt:lpstr>Kafka Throughput Tuning</vt:lpstr>
      <vt:lpstr>Lab: Measure Baseline Throughput</vt:lpstr>
      <vt:lpstr>Producer Optimization</vt:lpstr>
      <vt:lpstr>Producer Configuration Best Practices</vt:lpstr>
      <vt:lpstr>Lab: Tune Producer for Throughput</vt:lpstr>
      <vt:lpstr>Consumer Optimization</vt:lpstr>
      <vt:lpstr>Consumer Configuration Best Practices</vt:lpstr>
      <vt:lpstr>Lab: Tune Consumer Fetch &amp; Parallelism</vt:lpstr>
      <vt:lpstr>Broker Optimization</vt:lpstr>
      <vt:lpstr>Kafka Storage Optimization</vt:lpstr>
      <vt:lpstr>Lab: Tune Log Segment and Retention</vt:lpstr>
      <vt:lpstr>Common Production Issues</vt:lpstr>
      <vt:lpstr>Troubleshooting Broker Failures</vt:lpstr>
      <vt:lpstr>Troubleshooting Consumer Lag</vt:lpstr>
      <vt:lpstr>Lab: Diagnose Consumer Lag</vt:lpstr>
      <vt:lpstr>Kafka Monitoring in Production</vt:lpstr>
      <vt:lpstr>Lab: Wire Up JMX and Prometheus</vt:lpstr>
      <vt:lpstr>Best Practices for Production Kafka</vt:lpstr>
      <vt:lpstr>Disaster Recovery Strategies</vt:lpstr>
      <vt:lpstr>Lab: Replicate with MirrorMaker 2</vt:lpstr>
      <vt:lpstr>Enterprise Case Study - Netflix</vt:lpstr>
      <vt:lpstr>Enterprise Case Study - LinkedIn</vt:lpstr>
      <vt:lpstr>Enterprise Case Study - Uber</vt:lpstr>
      <vt:lpstr>Lab: Capacity Plan a Cluster</vt:lpstr>
      <vt:lpstr>Final Capstone Project Overview</vt:lpstr>
      <vt:lpstr>Capstone Architecture</vt:lpstr>
      <vt:lpstr>Capstone - Producer Application</vt:lpstr>
      <vt:lpstr>Capstone - Kafka Streams Processing</vt:lpstr>
      <vt:lpstr>Capstone - Database Sink</vt:lpstr>
      <vt:lpstr>Capstone - Monitoring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9</cp:revision>
  <dcterms:created xsi:type="dcterms:W3CDTF">2013-01-27T09:14:16Z</dcterms:created>
  <dcterms:modified xsi:type="dcterms:W3CDTF">2026-05-27T09:00:31Z</dcterms:modified>
  <cp:category/>
</cp:coreProperties>
</file>