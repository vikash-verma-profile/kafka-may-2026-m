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2" r:id="rId7"/>
    <p:sldId id="284" r:id="rId8"/>
    <p:sldId id="272" r:id="rId9"/>
    <p:sldId id="261" r:id="rId10"/>
    <p:sldId id="262" r:id="rId11"/>
    <p:sldId id="273" r:id="rId12"/>
    <p:sldId id="263" r:id="rId13"/>
    <p:sldId id="264" r:id="rId14"/>
    <p:sldId id="265" r:id="rId15"/>
    <p:sldId id="274" r:id="rId16"/>
    <p:sldId id="266" r:id="rId17"/>
    <p:sldId id="267" r:id="rId18"/>
    <p:sldId id="268" r:id="rId19"/>
    <p:sldId id="269" r:id="rId20"/>
    <p:sldId id="270" r:id="rId21"/>
    <p:sldId id="287" r:id="rId22"/>
    <p:sldId id="275" r:id="rId23"/>
    <p:sldId id="276" r:id="rId24"/>
    <p:sldId id="277" r:id="rId25"/>
    <p:sldId id="278" r:id="rId26"/>
    <p:sldId id="27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49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1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71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0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2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8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58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5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9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57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Day 4 - Kafka Consumers &amp; Consumer Groups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5BC8E8"/>
                </a:solidFill>
              </a:rPr>
              <a:t>Vikash Verma</a:t>
            </a:r>
            <a:endParaRPr lang="en-US" sz="1400" dirty="0">
              <a:solidFill>
                <a:srgbClr val="B8CDE0"/>
              </a:solidFill>
            </a:endParaRPr>
          </a:p>
        </p:txBody>
      </p:sp>
      <p:sp>
        <p:nvSpPr>
          <p:cNvPr id="10" name="TopAccent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gradFill>
            <a:gsLst>
              <a:gs pos="0">
                <a:srgbClr val="1CADE4"/>
              </a:gs>
              <a:gs pos="50000">
                <a:srgbClr val="27CED7"/>
              </a:gs>
              <a:gs pos="100000">
                <a:srgbClr val="42BA97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BottomAccent"/>
          <p:cNvSpPr/>
          <p:nvPr/>
        </p:nvSpPr>
        <p:spPr>
          <a:xfrm>
            <a:off x="0" y="6781800"/>
            <a:ext cx="9144000" cy="76200"/>
          </a:xfrm>
          <a:prstGeom prst="rect">
            <a:avLst/>
          </a:prstGeom>
          <a:gradFill>
            <a:gsLst>
              <a:gs pos="0">
                <a:srgbClr val="42BA97"/>
              </a:gs>
              <a:gs pos="50000">
                <a:srgbClr val="27CED7"/>
              </a:gs>
              <a:gs pos="100000">
                <a:srgbClr val="1CADE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Circle1"/>
          <p:cNvSpPr/>
          <p:nvPr/>
        </p:nvSpPr>
        <p:spPr>
          <a:xfrm>
            <a:off x="7620000" y="457200"/>
            <a:ext cx="1219200" cy="1219200"/>
          </a:xfrm>
          <a:prstGeom prst="ellipse">
            <a:avLst/>
          </a:prstGeom>
          <a:noFill/>
          <a:ln w="25400">
            <a:solidFill>
              <a:srgbClr val="1CADE4">
                <a:alpha val="40000"/>
              </a:srgb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Circle2"/>
          <p:cNvSpPr/>
          <p:nvPr/>
        </p:nvSpPr>
        <p:spPr>
          <a:xfrm>
            <a:off x="7924800" y="762000"/>
            <a:ext cx="762000" cy="762000"/>
          </a:xfrm>
          <a:prstGeom prst="ellipse">
            <a:avLst/>
          </a:prstGeom>
          <a:noFill/>
          <a:ln w="19050">
            <a:solidFill>
              <a:srgbClr val="27CED7">
                <a:alpha val="30000"/>
              </a:srgb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Circle3"/>
          <p:cNvSpPr/>
          <p:nvPr/>
        </p:nvSpPr>
        <p:spPr>
          <a:xfrm>
            <a:off x="228600" y="5486400"/>
            <a:ext cx="914400" cy="914400"/>
          </a:xfrm>
          <a:prstGeom prst="ellipse">
            <a:avLst/>
          </a:prstGeom>
          <a:noFill/>
          <a:ln w="25400">
            <a:solidFill>
              <a:srgbClr val="42BA97">
                <a:alpha val="25000"/>
              </a:srgbClr>
            </a:solidFill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Kafka Consumer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What is a Consumer?</a:t>
            </a:r>
            <a:r>
              <a:rPr lang="en-US">
                <a:solidFill>
                  <a:srgbClr val="E0E8F0"/>
                </a:solidFill>
              </a:rPr>
              <a:t> A Kafka consumer is a client application that reads (subscribes to) events from Kafka topics, processing them in real time or in batches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Pull-Based Model:</a:t>
            </a:r>
            <a:r>
              <a:rPr lang="en-US">
                <a:solidFill>
                  <a:srgbClr val="E0E8F0"/>
                </a:solidFill>
              </a:rPr>
              <a:t> Unlike traditional messaging systems that push data, Kafka consumers pull data from brokers at their own pace, enabling backpressure handling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Offset Tracking:</a:t>
            </a:r>
            <a:r>
              <a:rPr lang="en-US">
                <a:solidFill>
                  <a:srgbClr val="E0E8F0"/>
                </a:solidFill>
              </a:rPr>
              <a:t> Each consumer tracks its position (offset) in each partition, allowing it to resume from where it left off after restarts or failures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Horizontal Scaling:</a:t>
            </a:r>
            <a:r>
              <a:rPr lang="en-US">
                <a:solidFill>
                  <a:srgbClr val="E0E8F0"/>
                </a:solidFill>
              </a:rPr>
              <a:t> Consumers can scale out by forming consumer groups, where each partition is assigned to exactly one consumer in the group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Fault Tolerance:</a:t>
            </a:r>
            <a:r>
              <a:rPr lang="en-US">
                <a:solidFill>
                  <a:srgbClr val="E0E8F0"/>
                </a:solidFill>
              </a:rPr>
              <a:t> If a consumer fails, its partitions are automatically reassigned to other consumers in the group (rebalancing)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Ordering Guarantee:</a:t>
            </a:r>
            <a:r>
              <a:rPr lang="en-US">
                <a:solidFill>
                  <a:srgbClr val="E0E8F0"/>
                </a:solidFill>
              </a:rPr>
              <a:t> Messages within a single partition are delivered in order; however, there is no ordering guarantee across partitions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Kafka Consumer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2286000"/>
          </a:xfrm>
        </p:spPr>
        <p:txBody>
          <a:bodyPr>
            <a:normAutofit fontScale="77500" lnSpcReduction="20000"/>
          </a:bodyPr>
          <a:lstStyle/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Step 1 - Subscribe:</a:t>
            </a:r>
            <a:r>
              <a:rPr lang="en-US">
                <a:solidFill>
                  <a:srgbClr val="E0E8F0"/>
                </a:solidFill>
              </a:rPr>
              <a:t> Consumer calls subscribe() with a list of topics (or assign() for manual partition assignment)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Step 2 - Group Coordination:</a:t>
            </a:r>
            <a:r>
              <a:rPr lang="en-US">
                <a:solidFill>
                  <a:srgbClr val="E0E8F0"/>
                </a:solidFill>
              </a:rPr>
              <a:t> The Group Coordinator (a designated broker) assigns partitions to consumers based on the partition assignment strategy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Step 3 - Poll Loop:</a:t>
            </a:r>
            <a:r>
              <a:rPr lang="en-US">
                <a:solidFill>
                  <a:srgbClr val="E0E8F0"/>
                </a:solidFill>
              </a:rPr>
              <a:t> Consumer enters a continuous poll() loop, fetching batches of records from assigned partitions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Step 4 - Deserialization:</a:t>
            </a:r>
            <a:r>
              <a:rPr lang="en-US">
                <a:solidFill>
                  <a:srgbClr val="E0E8F0"/>
                </a:solidFill>
              </a:rPr>
              <a:t> Raw bytes are deserialized into key-value pairs using configured deserializers (e.g., StringDeserializer, JsonDeserializer)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Step 5 - Processing:</a:t>
            </a:r>
            <a:r>
              <a:rPr lang="en-US">
                <a:solidFill>
                  <a:srgbClr val="E0E8F0"/>
                </a:solidFill>
              </a:rPr>
              <a:t> Application logic processes each ConsumerRecord (topic, partition, offset, key, value, timestamp)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Step 6 - Offset Commit:</a:t>
            </a:r>
            <a:r>
              <a:rPr lang="en-US">
                <a:solidFill>
                  <a:srgbClr val="E0E8F0"/>
                </a:solidFill>
              </a:rPr>
              <a:t> After successful processing, offsets are committed (auto or manual) to the __consumer_offsets internal topic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Step 7 - Heartbeat:</a:t>
            </a:r>
            <a:r>
              <a:rPr lang="en-US">
                <a:solidFill>
                  <a:srgbClr val="E0E8F0"/>
                </a:solidFill>
              </a:rPr>
              <a:t> Background heartbeat thread sends periodic signals to the coordinator to maintain group membership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20" name="FlowBg"/>
          <p:cNvSpPr/>
          <p:nvPr/>
        </p:nvSpPr>
        <p:spPr>
          <a:xfrm>
            <a:off x="228600" y="4572000"/>
            <a:ext cx="8686800" cy="762000"/>
          </a:xfrm>
          <a:prstGeom prst="roundRect">
            <a:avLst>
              <a:gd name="adj" fmla="val 10000"/>
            </a:avLst>
          </a:prstGeom>
          <a:solidFill>
            <a:srgbClr val="142233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Step1"/>
          <p:cNvSpPr/>
          <p:nvPr/>
        </p:nvSpPr>
        <p:spPr>
          <a:xfrm>
            <a:off x="304800" y="4648200"/>
            <a:ext cx="1066800" cy="60960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Subscribe</a:t>
            </a:r>
          </a:p>
        </p:txBody>
      </p:sp>
      <p:sp>
        <p:nvSpPr>
          <p:cNvPr id="22" name="Arrow1"/>
          <p:cNvSpPr/>
          <p:nvPr/>
        </p:nvSpPr>
        <p:spPr>
          <a:xfrm>
            <a:off x="1401600" y="4876800"/>
            <a:ext cx="1524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Step2"/>
          <p:cNvSpPr/>
          <p:nvPr/>
        </p:nvSpPr>
        <p:spPr>
          <a:xfrm>
            <a:off x="1584000" y="4648200"/>
            <a:ext cx="1066800" cy="609600"/>
          </a:xfrm>
          <a:prstGeom prst="roundRect">
            <a:avLst>
              <a:gd name="adj" fmla="val 16667"/>
            </a:avLst>
          </a:prstGeom>
          <a:solidFill>
            <a:srgbClr val="27CED7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Coordinate</a:t>
            </a:r>
          </a:p>
        </p:txBody>
      </p:sp>
      <p:sp>
        <p:nvSpPr>
          <p:cNvPr id="24" name="Arrow2"/>
          <p:cNvSpPr/>
          <p:nvPr/>
        </p:nvSpPr>
        <p:spPr>
          <a:xfrm>
            <a:off x="2680800" y="4876800"/>
            <a:ext cx="1524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Step3"/>
          <p:cNvSpPr/>
          <p:nvPr/>
        </p:nvSpPr>
        <p:spPr>
          <a:xfrm>
            <a:off x="2863200" y="4648200"/>
            <a:ext cx="1066800" cy="60960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Poll</a:t>
            </a:r>
          </a:p>
        </p:txBody>
      </p:sp>
      <p:sp>
        <p:nvSpPr>
          <p:cNvPr id="26" name="Arrow3"/>
          <p:cNvSpPr/>
          <p:nvPr/>
        </p:nvSpPr>
        <p:spPr>
          <a:xfrm>
            <a:off x="3960000" y="4876800"/>
            <a:ext cx="1524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Step4"/>
          <p:cNvSpPr/>
          <p:nvPr/>
        </p:nvSpPr>
        <p:spPr>
          <a:xfrm>
            <a:off x="4142400" y="4648200"/>
            <a:ext cx="1066800" cy="609600"/>
          </a:xfrm>
          <a:prstGeom prst="roundRect">
            <a:avLst>
              <a:gd name="adj" fmla="val 16667"/>
            </a:avLst>
          </a:prstGeom>
          <a:solidFill>
            <a:srgbClr val="27CED7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Deserialize</a:t>
            </a:r>
          </a:p>
        </p:txBody>
      </p:sp>
      <p:sp>
        <p:nvSpPr>
          <p:cNvPr id="28" name="Arrow4"/>
          <p:cNvSpPr/>
          <p:nvPr/>
        </p:nvSpPr>
        <p:spPr>
          <a:xfrm>
            <a:off x="5239200" y="4876800"/>
            <a:ext cx="1524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Step5"/>
          <p:cNvSpPr/>
          <p:nvPr/>
        </p:nvSpPr>
        <p:spPr>
          <a:xfrm>
            <a:off x="5421600" y="4648200"/>
            <a:ext cx="1066800" cy="60960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30" name="Arrow5"/>
          <p:cNvSpPr/>
          <p:nvPr/>
        </p:nvSpPr>
        <p:spPr>
          <a:xfrm>
            <a:off x="6518400" y="4876800"/>
            <a:ext cx="1524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Step6"/>
          <p:cNvSpPr/>
          <p:nvPr/>
        </p:nvSpPr>
        <p:spPr>
          <a:xfrm>
            <a:off x="6700800" y="4648200"/>
            <a:ext cx="1066800" cy="609600"/>
          </a:xfrm>
          <a:prstGeom prst="roundRect">
            <a:avLst>
              <a:gd name="adj" fmla="val 16667"/>
            </a:avLst>
          </a:prstGeom>
          <a:solidFill>
            <a:srgbClr val="27CED7"/>
          </a:solidFill>
          <a:ln>
            <a:noFill/>
          </a:ln>
        </p:spPr>
        <p:txBody>
          <a:bodyPr lIns="36000" tIns="36000" rIns="36000" bIns="36000" anchor="ctr" anchorCtr="1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Commit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Kafka Consumer API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KafkaConsumer:</a:t>
            </a:r>
            <a:r>
              <a:rPr lang="en-US">
                <a:solidFill>
                  <a:srgbClr val="E0E8F0"/>
                </a:solidFill>
              </a:rPr>
              <a:t> Main client class that manages connection, subscription, polling, and offset commits. Thread-unsafe - use one instance per thread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ConsumerRecords:</a:t>
            </a:r>
            <a:r>
              <a:rPr lang="en-US">
                <a:solidFill>
                  <a:srgbClr val="E0E8F0"/>
                </a:solidFill>
              </a:rPr>
              <a:t> Container returned by poll() holding records from all assigned partitions. Iterable by topic-partition or across all partitions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ConsumerRecord:</a:t>
            </a:r>
            <a:r>
              <a:rPr lang="en-US">
                <a:solidFill>
                  <a:srgbClr val="E0E8F0"/>
                </a:solidFill>
              </a:rPr>
              <a:t> Individual record with fields: topic, partition, offset, key, value, timestamp, headers. Immutable once received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poll(Duration):</a:t>
            </a:r>
            <a:r>
              <a:rPr lang="en-US">
                <a:solidFill>
                  <a:srgbClr val="E0E8F0"/>
                </a:solidFill>
              </a:rPr>
              <a:t> Core method that fetches records, sends heartbeats, and triggers rebalancing. Returns ConsumerRecords (may be empty if no data available)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subscribe() vs assign():</a:t>
            </a:r>
            <a:r>
              <a:rPr lang="en-US">
                <a:solidFill>
                  <a:srgbClr val="E0E8F0"/>
                </a:solidFill>
              </a:rPr>
              <a:t> subscribe() enables automatic partition assignment via consumer groups; assign() allows manual partition control without group coordination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commitSync() / commitAsync():</a:t>
            </a:r>
            <a:r>
              <a:rPr lang="en-US">
                <a:solidFill>
                  <a:srgbClr val="E0E8F0"/>
                </a:solidFill>
              </a:rPr>
              <a:t> commitSync() blocks until offset commit succeeds; commitAsync() returns immediately with optional callback for error handling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Important Consumer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bootstrap.servers:</a:t>
            </a:r>
            <a:r>
              <a:rPr lang="en-US">
                <a:solidFill>
                  <a:srgbClr val="E0E8F0"/>
                </a:solidFill>
              </a:rPr>
              <a:t> Comma-separated list of broker addresses (host:port) for initial cluster connection. Minimum 2-3 recommended for failover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group.id:</a:t>
            </a:r>
            <a:r>
              <a:rPr lang="en-US">
                <a:solidFill>
                  <a:srgbClr val="E0E8F0"/>
                </a:solidFill>
              </a:rPr>
              <a:t> Unique identifier for the consumer group. All consumers sharing the same group.id form one logical consumer group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key/value.deserializer:</a:t>
            </a:r>
            <a:r>
              <a:rPr lang="en-US">
                <a:solidFill>
                  <a:srgbClr val="E0E8F0"/>
                </a:solidFill>
              </a:rPr>
              <a:t> Classes to convert byte arrays to objects (e.g., StringDeserializer, JsonDeserializer, AvroDeserializer)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enable.auto.commit (default: true):</a:t>
            </a:r>
            <a:r>
              <a:rPr lang="en-US">
                <a:solidFill>
                  <a:srgbClr val="E0E8F0"/>
                </a:solidFill>
              </a:rPr>
              <a:t> When true, offsets are committed automatically at intervals defined by auto.commit.interval.ms (default 5 seconds)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auto.offset.reset (earliest | latest | none):</a:t>
            </a:r>
            <a:r>
              <a:rPr lang="en-US">
                <a:solidFill>
                  <a:srgbClr val="E0E8F0"/>
                </a:solidFill>
              </a:rPr>
              <a:t> Behavior when no committed offset exists - earliest reads from beginning, latest reads only new messages, none throws exception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max.poll.records (default: 500):</a:t>
            </a:r>
            <a:r>
              <a:rPr lang="en-US">
                <a:solidFill>
                  <a:srgbClr val="E0E8F0"/>
                </a:solidFill>
              </a:rPr>
              <a:t> Maximum number of records returned per poll() call. Lower values reduce processing time per batch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session.timeout.ms (default: 45s):</a:t>
            </a:r>
            <a:r>
              <a:rPr lang="en-US">
                <a:solidFill>
                  <a:srgbClr val="E0E8F0"/>
                </a:solidFill>
              </a:rPr>
              <a:t> Time before coordinator considers consumer dead if no heartbeat received. Must be between group.min.session.timeout.ms and group.max.session.timeout.ms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max.poll.interval.ms (default: 5 min):</a:t>
            </a:r>
            <a:r>
              <a:rPr lang="en-US">
                <a:solidFill>
                  <a:srgbClr val="E0E8F0"/>
                </a:solidFill>
              </a:rPr>
              <a:t> Maximum time between poll() calls before consumer is considered failed and triggers rebalancing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Kafka Consumer Example - Java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lang="en-US" sz="1600" b="1">
                <a:solidFill>
                  <a:srgbClr val="5BC8E8"/>
                </a:solidFill>
              </a:rPr>
              <a:t>Configuration Setup: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Properties props = new Properties();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props.put(ConsumerConfig.BOOTSTRAP_SERVERS_CONFIG, "localhost:9092");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props.put(ConsumerConfig.GROUP_ID_CONFIG, "my-consumer-group");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props.put(ConsumerConfig.KEY_DESERIALIZER_CLASS_CONFIG,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StringDeserializer.class.getName());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props.put(ConsumerConfig.VALUE_DESERIALIZER_CLASS_CONFIG,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StringDeserializer.class.getName());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props.put(ConsumerConfig.AUTO_OFFSET_RESET_CONFIG, "earliest");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props.put(ConsumerConfig.ENABLE_AUTO_COMMIT_CONFIG, "false");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451532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Kafka Consumer Example - Java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1600"/>
            </a:pPr>
            <a:r>
              <a:rPr lang="en-US" sz="1600" b="1">
                <a:solidFill>
                  <a:srgbClr val="5BC8E8"/>
                </a:solidFill>
              </a:rPr>
              <a:t>Consumer Loop: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KafkaConsumer&lt;String, String&gt; consumer = new KafkaConsumer&lt;&gt;(props);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consumer.subscribe(Collections.singletonList("demo-topic"));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try { while (true) {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ConsumerRecords&lt;String, String&gt; records =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    consumer.poll(Duration.ofMillis(100));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for (ConsumerRecord&lt;String, String&gt; record : records) {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  System.out.printf("Partition=%d, Offset=%d, Key=%s, Value=%s%n",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    record.partition(), record.offset(), record.key(), record.value());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}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    consumer.commitSync();</a:t>
            </a:r>
          </a:p>
          <a:p>
            <a:pPr>
              <a:defRPr sz="1600"/>
            </a:pPr>
            <a:r>
              <a:rPr lang="en-US" sz="1600">
                <a:solidFill>
                  <a:srgbClr val="E0E8F0"/>
                </a:solidFill>
              </a:rPr>
              <a:t>}} finally { consumer.close(); }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08732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Lab 1 - Build Kafka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1 - Environment Setup: </a:t>
            </a:r>
            <a:r>
              <a:rPr lang="en-US" sz="1400">
                <a:solidFill>
                  <a:srgbClr val="E0E8F0"/>
                </a:solidFill>
              </a:rPr>
              <a:t>Download and extract Apache Kafka. Start ZooKeeper (or KRaft for Kafka 3.3+) and then start the Kafka broker on localhost:9092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2 - Create Topic: </a:t>
            </a:r>
            <a:r>
              <a:rPr lang="en-US" sz="1400">
                <a:solidFill>
                  <a:srgbClr val="E0E8F0"/>
                </a:solidFill>
              </a:rPr>
              <a:t>Run: kafka-topics.sh --create --topic demo-topic --bootstrap-server localhost:9092 --partitions 3 --replication-factor 1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3 - Produce Test Messages: </a:t>
            </a:r>
            <a:r>
              <a:rPr lang="en-US" sz="1400">
                <a:solidFill>
                  <a:srgbClr val="E0E8F0"/>
                </a:solidFill>
              </a:rPr>
              <a:t>Use kafka-console-producer.sh or write a simple Java/Python producer to send 50+ messages with keys to demo-topic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4 - Build Consumer Application: </a:t>
            </a:r>
            <a:r>
              <a:rPr lang="en-US" sz="1400">
                <a:solidFill>
                  <a:srgbClr val="E0E8F0"/>
                </a:solidFill>
              </a:rPr>
              <a:t>Create a consumer using KafkaConsumer API with group.id, deserializers, and auto.offset.reset=earliest. Implement the poll() loop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5 - Observe Behavior: </a:t>
            </a:r>
            <a:r>
              <a:rPr lang="en-US" sz="1400">
                <a:solidFill>
                  <a:srgbClr val="E0E8F0"/>
                </a:solidFill>
              </a:rPr>
              <a:t>Run the consumer and monitor: which partitions are assigned, message ordering within partitions, offset progression after each poll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6 - Verify Offsets: </a:t>
            </a:r>
            <a:r>
              <a:rPr lang="en-US" sz="1400">
                <a:solidFill>
                  <a:srgbClr val="E0E8F0"/>
                </a:solidFill>
              </a:rPr>
              <a:t>Use kafka-consumer-groups.sh --describe --group your-group to check CURRENT-OFFSET, LOG-END-OFFSET, and LAG for each partition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Consumer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Scalability Model:</a:t>
            </a:r>
            <a:r>
              <a:rPr lang="en-US">
                <a:solidFill>
                  <a:srgbClr val="E0E8F0"/>
                </a:solidFill>
              </a:rPr>
              <a:t> Consumer groups allow multiple consumers to share the workload of reading from a topic. Each partition is assigned to exactly one consumer within the group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Partition Assignment:</a:t>
            </a:r>
            <a:r>
              <a:rPr lang="en-US">
                <a:solidFill>
                  <a:srgbClr val="E0E8F0"/>
                </a:solidFill>
              </a:rPr>
              <a:t> Kafka ensures balanced distribution - if a topic has 6 partitions and 3 consumers, each consumer reads from 2 partitions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Independent Groups:</a:t>
            </a:r>
            <a:r>
              <a:rPr lang="en-US">
                <a:solidFill>
                  <a:srgbClr val="E0E8F0"/>
                </a:solidFill>
              </a:rPr>
              <a:t> Multiple consumer groups can read the same topic independently, each maintaining its own offsets. This enables multiple applications to process the same data stream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Over-Provisioning:</a:t>
            </a:r>
            <a:r>
              <a:rPr lang="en-US">
                <a:solidFill>
                  <a:srgbClr val="E0E8F0"/>
                </a:solidFill>
              </a:rPr>
              <a:t> If consumers exceed partitions, extra consumers remain idle as standby. For example, 8 consumers for 6 partitions means 2 idle consumers ready for failover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Throughput Scaling:</a:t>
            </a:r>
            <a:r>
              <a:rPr lang="en-US">
                <a:solidFill>
                  <a:srgbClr val="E0E8F0"/>
                </a:solidFill>
              </a:rPr>
              <a:t> Add more partitions and consumers to increase throughput linearly. Each consumer processes its partitions independently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Consumer Group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1905000"/>
          </a:xfrm>
        </p:spPr>
        <p:txBody>
          <a:bodyPr>
            <a:normAutofit fontScale="70000" lnSpcReduction="20000"/>
          </a:bodyPr>
          <a:lstStyle/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Topic Partitions:</a:t>
            </a:r>
            <a:r>
              <a:rPr lang="en-US">
                <a:solidFill>
                  <a:srgbClr val="E0E8F0"/>
                </a:solidFill>
              </a:rPr>
              <a:t> A topic is divided into ordered, immutable partitions (e.g., Topic-A with P0, P1, P2, P3). Each partition is an independent commit log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Group Coordinator:</a:t>
            </a:r>
            <a:r>
              <a:rPr lang="en-US">
                <a:solidFill>
                  <a:srgbClr val="E0E8F0"/>
                </a:solidFill>
              </a:rPr>
              <a:t> A designated broker manages group membership, handles join/leave events, and triggers partition reassignment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Consumer Assignment:</a:t>
            </a:r>
            <a:r>
              <a:rPr lang="en-US">
                <a:solidFill>
                  <a:srgbClr val="E0E8F0"/>
                </a:solidFill>
              </a:rPr>
              <a:t> The group leader (first consumer to join) runs the partition assignment strategy and distributes partitions to all members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Heartbeat Protocol:</a:t>
            </a:r>
            <a:r>
              <a:rPr lang="en-US">
                <a:solidFill>
                  <a:srgbClr val="E0E8F0"/>
                </a:solidFill>
              </a:rPr>
              <a:t> Each consumer sends periodic heartbeats (heartbeat.interval.ms, default 3s) to the coordinator to signal liveness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Failure Detection:</a:t>
            </a:r>
            <a:r>
              <a:rPr lang="en-US">
                <a:solidFill>
                  <a:srgbClr val="E0E8F0"/>
                </a:solidFill>
              </a:rPr>
              <a:t> If the coordinator does not receive a heartbeat within session.timeout.ms, it marks the consumer as dead and triggers rebalancing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Assignment Strategies:</a:t>
            </a:r>
            <a:r>
              <a:rPr lang="en-US">
                <a:solidFill>
                  <a:srgbClr val="E0E8F0"/>
                </a:solidFill>
              </a:rPr>
              <a:t> RangeAssignor (default), RoundRobinAssignor, StickyAssignor (minimizes partition movement), CooperativeStickyAssignor (incremental rebalancing)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0" name="DiagramBg"/>
          <p:cNvSpPr/>
          <p:nvPr/>
        </p:nvSpPr>
        <p:spPr>
          <a:xfrm>
            <a:off x="228600" y="4114800"/>
            <a:ext cx="8686800" cy="1524000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TopicBox"/>
          <p:cNvSpPr/>
          <p:nvPr/>
        </p:nvSpPr>
        <p:spPr>
          <a:xfrm>
            <a:off x="457200" y="4343400"/>
            <a:ext cx="1371600" cy="1066800"/>
          </a:xfrm>
          <a:prstGeom prst="roundRect">
            <a:avLst>
              <a:gd name="adj" fmla="val 16667"/>
            </a:avLst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Topic-A</a:t>
            </a:r>
          </a:p>
          <a:p>
            <a:pPr algn="ctr"/>
            <a:r>
              <a:rPr lang="en-US" sz="900">
                <a:solidFill>
                  <a:srgbClr val="E0E8F0"/>
                </a:solidFill>
              </a:rPr>
              <a:t>(6 Partitions)</a:t>
            </a:r>
          </a:p>
        </p:txBody>
      </p:sp>
      <p:sp>
        <p:nvSpPr>
          <p:cNvPr id="22" name="Arrow1"/>
          <p:cNvSpPr/>
          <p:nvPr/>
        </p:nvSpPr>
        <p:spPr>
          <a:xfrm>
            <a:off x="1905000" y="4800600"/>
            <a:ext cx="2286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P0"/>
          <p:cNvSpPr/>
          <p:nvPr/>
        </p:nvSpPr>
        <p:spPr>
          <a:xfrm>
            <a:off x="2209800" y="4267200"/>
            <a:ext cx="914400" cy="381000"/>
          </a:xfrm>
          <a:prstGeom prst="roundRect">
            <a:avLst>
              <a:gd name="adj" fmla="val 16667"/>
            </a:avLst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P0, P1</a:t>
            </a:r>
          </a:p>
        </p:txBody>
      </p:sp>
      <p:sp>
        <p:nvSpPr>
          <p:cNvPr id="24" name="P2"/>
          <p:cNvSpPr/>
          <p:nvPr/>
        </p:nvSpPr>
        <p:spPr>
          <a:xfrm>
            <a:off x="2209800" y="4724400"/>
            <a:ext cx="914400" cy="381000"/>
          </a:xfrm>
          <a:prstGeom prst="roundRect">
            <a:avLst>
              <a:gd name="adj" fmla="val 16667"/>
            </a:avLst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P2, P3</a:t>
            </a:r>
          </a:p>
        </p:txBody>
      </p:sp>
      <p:sp>
        <p:nvSpPr>
          <p:cNvPr id="25" name="P4"/>
          <p:cNvSpPr/>
          <p:nvPr/>
        </p:nvSpPr>
        <p:spPr>
          <a:xfrm>
            <a:off x="2209800" y="5181600"/>
            <a:ext cx="914400" cy="381000"/>
          </a:xfrm>
          <a:prstGeom prst="roundRect">
            <a:avLst>
              <a:gd name="adj" fmla="val 16667"/>
            </a:avLst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P4, P5</a:t>
            </a:r>
          </a:p>
        </p:txBody>
      </p:sp>
      <p:sp>
        <p:nvSpPr>
          <p:cNvPr id="26" name="Arrow2a"/>
          <p:cNvSpPr/>
          <p:nvPr/>
        </p:nvSpPr>
        <p:spPr>
          <a:xfrm>
            <a:off x="3200400" y="4381500"/>
            <a:ext cx="2286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Arrow2b"/>
          <p:cNvSpPr/>
          <p:nvPr/>
        </p:nvSpPr>
        <p:spPr>
          <a:xfrm>
            <a:off x="3200400" y="4838700"/>
            <a:ext cx="2286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8" name="Arrow2c"/>
          <p:cNvSpPr/>
          <p:nvPr/>
        </p:nvSpPr>
        <p:spPr>
          <a:xfrm>
            <a:off x="3200400" y="5295900"/>
            <a:ext cx="228600" cy="152400"/>
          </a:xfrm>
          <a:prstGeom prst="rightArrow">
            <a:avLst/>
          </a:prstGeom>
          <a:solidFill>
            <a:srgbClr val="5BC8E8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Consumer1"/>
          <p:cNvSpPr/>
          <p:nvPr/>
        </p:nvSpPr>
        <p:spPr>
          <a:xfrm>
            <a:off x="3505200" y="4267200"/>
            <a:ext cx="1143000" cy="381000"/>
          </a:xfrm>
          <a:prstGeom prst="roundRect">
            <a:avLst>
              <a:gd name="adj" fmla="val 16667"/>
            </a:avLst>
          </a:prstGeom>
          <a:solidFill>
            <a:srgbClr val="42BA9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Consumer-1</a:t>
            </a:r>
          </a:p>
        </p:txBody>
      </p:sp>
      <p:sp>
        <p:nvSpPr>
          <p:cNvPr id="30" name="Consumer2"/>
          <p:cNvSpPr/>
          <p:nvPr/>
        </p:nvSpPr>
        <p:spPr>
          <a:xfrm>
            <a:off x="3505200" y="4724400"/>
            <a:ext cx="1143000" cy="381000"/>
          </a:xfrm>
          <a:prstGeom prst="roundRect">
            <a:avLst>
              <a:gd name="adj" fmla="val 16667"/>
            </a:avLst>
          </a:prstGeom>
          <a:solidFill>
            <a:srgbClr val="42BA9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Consumer-2</a:t>
            </a:r>
          </a:p>
        </p:txBody>
      </p:sp>
      <p:sp>
        <p:nvSpPr>
          <p:cNvPr id="31" name="Consumer3"/>
          <p:cNvSpPr/>
          <p:nvPr/>
        </p:nvSpPr>
        <p:spPr>
          <a:xfrm>
            <a:off x="3505200" y="5181600"/>
            <a:ext cx="1143000" cy="381000"/>
          </a:xfrm>
          <a:prstGeom prst="roundRect">
            <a:avLst>
              <a:gd name="adj" fmla="val 16667"/>
            </a:avLst>
          </a:prstGeom>
          <a:solidFill>
            <a:srgbClr val="42BA9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Consumer-3</a:t>
            </a:r>
          </a:p>
        </p:txBody>
      </p:sp>
      <p:sp>
        <p:nvSpPr>
          <p:cNvPr id="32" name="CoordLabel"/>
          <p:cNvSpPr/>
          <p:nvPr/>
        </p:nvSpPr>
        <p:spPr>
          <a:xfrm>
            <a:off x="5029200" y="4267200"/>
            <a:ext cx="1524000" cy="1295400"/>
          </a:xfrm>
          <a:prstGeom prst="roundRect">
            <a:avLst>
              <a:gd name="adj" fmla="val 16667"/>
            </a:avLst>
          </a:prstGeom>
          <a:solidFill>
            <a:srgbClr val="335B74"/>
          </a:solidFill>
          <a:ln w="19050">
            <a:solidFill>
              <a:srgbClr val="1CADE4"/>
            </a:solidFill>
          </a:ln>
        </p:spPr>
        <p:txBody>
          <a:bodyPr anchor="ctr" anchorCtr="1"/>
          <a:lstStyle/>
          <a:p>
            <a:pPr algn="ctr"/>
            <a:r>
              <a:rPr lang="en-US" sz="1100" b="1">
                <a:solidFill>
                  <a:srgbClr val="5BC8E8"/>
                </a:solidFill>
              </a:rPr>
              <a:t>Group</a:t>
            </a:r>
          </a:p>
          <a:p>
            <a:pPr algn="ctr"/>
            <a:r>
              <a:rPr lang="en-US" sz="1100" b="1">
                <a:solidFill>
                  <a:srgbClr val="5BC8E8"/>
                </a:solidFill>
              </a:rPr>
              <a:t>Coordinator</a:t>
            </a:r>
          </a:p>
          <a:p>
            <a:pPr algn="ctr"/>
            <a:r>
              <a:rPr lang="en-US" sz="800">
                <a:solidFill>
                  <a:srgbClr val="E0E8F0"/>
                </a:solidFill>
              </a:rPr>
              <a:t>(Broker)</a:t>
            </a:r>
          </a:p>
        </p:txBody>
      </p:sp>
      <p:sp>
        <p:nvSpPr>
          <p:cNvPr id="33" name="OffsetStore"/>
          <p:cNvSpPr/>
          <p:nvPr/>
        </p:nvSpPr>
        <p:spPr>
          <a:xfrm>
            <a:off x="6858000" y="4267200"/>
            <a:ext cx="1828800" cy="1295400"/>
          </a:xfrm>
          <a:prstGeom prst="roundRect">
            <a:avLst>
              <a:gd name="adj" fmla="val 16667"/>
            </a:avLst>
          </a:prstGeom>
          <a:solidFill>
            <a:srgbClr val="335B74"/>
          </a:solidFill>
          <a:ln w="19050">
            <a:solidFill>
              <a:srgbClr val="27CED7"/>
            </a:solidFill>
          </a:ln>
        </p:spPr>
        <p:txBody>
          <a:bodyPr anchor="ctr" anchorCtr="1"/>
          <a:lstStyle/>
          <a:p>
            <a:pPr algn="ctr"/>
            <a:r>
              <a:rPr lang="en-US" sz="1100" b="1">
                <a:solidFill>
                  <a:srgbClr val="5BC8E8"/>
                </a:solidFill>
              </a:rPr>
              <a:t>__consumer</a:t>
            </a:r>
          </a:p>
          <a:p>
            <a:pPr algn="ctr"/>
            <a:r>
              <a:rPr lang="en-US" sz="1100" b="1">
                <a:solidFill>
                  <a:srgbClr val="5BC8E8"/>
                </a:solidFill>
              </a:rPr>
              <a:t>_offsets</a:t>
            </a:r>
          </a:p>
          <a:p>
            <a:pPr algn="ctr"/>
            <a:r>
              <a:rPr lang="en-US" sz="800">
                <a:solidFill>
                  <a:srgbClr val="E0E8F0"/>
                </a:solidFill>
              </a:rPr>
              <a:t>(Internal Topic)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Lab 2 - Demonstrate Consumer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1 - Start First Consumer: </a:t>
            </a:r>
            <a:r>
              <a:rPr lang="en-US" sz="1400">
                <a:solidFill>
                  <a:srgbClr val="E0E8F0"/>
                </a:solidFill>
              </a:rPr>
              <a:t>Launch Consumer-1 with group.id=lab-group. Observe it receives all 3 partitions (P0, P1, P2)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2 - Add Second Consumer: </a:t>
            </a:r>
            <a:r>
              <a:rPr lang="en-US" sz="1400">
                <a:solidFill>
                  <a:srgbClr val="E0E8F0"/>
                </a:solidFill>
              </a:rPr>
              <a:t>Launch Consumer-2 with the same group.id. Watch rebalancing occur - partitions redistribute (e.g., C1 gets P0,P1 and C2 gets P2)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3 - Add Third Consumer: </a:t>
            </a:r>
            <a:r>
              <a:rPr lang="en-US" sz="1400">
                <a:solidFill>
                  <a:srgbClr val="E0E8F0"/>
                </a:solidFill>
              </a:rPr>
              <a:t>After rebalancing, each consumer owns exactly 1 partition. Observe parallel processing across all three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4 - Add Fourth Consumer: </a:t>
            </a:r>
            <a:r>
              <a:rPr lang="en-US" sz="1400">
                <a:solidFill>
                  <a:srgbClr val="E0E8F0"/>
                </a:solidFill>
              </a:rPr>
              <a:t>Launch Consumer-4 (exceeds partition count). Observe it remains idle as a standby - no partitions are assigned to it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5 - Remove a Consumer: </a:t>
            </a:r>
            <a:r>
              <a:rPr lang="en-US" sz="1400">
                <a:solidFill>
                  <a:srgbClr val="E0E8F0"/>
                </a:solidFill>
              </a:rPr>
              <a:t>Kill Consumer-2. Watch rebalancing reassign its partition(s) to surviving consumers. Note the rebalance delay (session.timeout.ms)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6 - Independent Groups: </a:t>
            </a:r>
            <a:r>
              <a:rPr lang="en-US" sz="1400">
                <a:solidFill>
                  <a:srgbClr val="E0E8F0"/>
                </a:solidFill>
              </a:rPr>
              <a:t>Start a new consumer with group.id=second-group. Verify it receives ALL messages independently from the first group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Offsets in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What is an Offset?</a:t>
            </a:r>
            <a:r>
              <a:rPr lang="en-US">
                <a:solidFill>
                  <a:srgbClr val="E0E8F0"/>
                </a:solidFill>
              </a:rPr>
              <a:t> A sequential, immutable ID assigned to each record within a partition. Offsets start at 0 and increment by 1 for each new message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Per-Partition Tracking:</a:t>
            </a:r>
            <a:r>
              <a:rPr lang="en-US">
                <a:solidFill>
                  <a:srgbClr val="E0E8F0"/>
                </a:solidFill>
              </a:rPr>
              <a:t> Offsets are maintained independently for each partition. Consumer position = the offset of the next record to be read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__consumer_offsets Topic:</a:t>
            </a:r>
            <a:r>
              <a:rPr lang="en-US">
                <a:solidFill>
                  <a:srgbClr val="E0E8F0"/>
                </a:solidFill>
              </a:rPr>
              <a:t> Committed offsets are stored in the internal __consumer_offsets topic (default 50 partitions, compacted). This replaced the older ZooKeeper-based storage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Three Offset Types:</a:t>
            </a:r>
            <a:r>
              <a:rPr lang="en-US">
                <a:solidFill>
                  <a:srgbClr val="E0E8F0"/>
                </a:solidFill>
              </a:rPr>
              <a:t> Current offset (next record to fetch), committed offset (last confirmed processed), log-end offset (latest record in partition)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Consumer Lag:</a:t>
            </a:r>
            <a:r>
              <a:rPr lang="en-US">
                <a:solidFill>
                  <a:srgbClr val="E0E8F0"/>
                </a:solidFill>
              </a:rPr>
              <a:t> The difference between log-end offset and committed offset. High lag indicates the consumer is falling behind the producer</a:t>
            </a:r>
          </a:p>
          <a:p>
            <a:pPr>
              <a:defRPr sz="1400"/>
            </a:pPr>
            <a:r>
              <a:rPr lang="en-US" b="1">
                <a:solidFill>
                  <a:srgbClr val="5BC8E8"/>
                </a:solidFill>
              </a:rPr>
              <a:t>Retention &amp; Recovery:</a:t>
            </a:r>
            <a:r>
              <a:rPr lang="en-US">
                <a:solidFill>
                  <a:srgbClr val="E0E8F0"/>
                </a:solidFill>
              </a:rPr>
              <a:t> Offsets are retained as long as the consumer group is active. After group expiration (offsets.retention.minutes, default 7 days), offsets are deleted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Offset Commit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Auto Commit: </a:t>
            </a:r>
            <a:r>
              <a:rPr lang="en-US" sz="1400">
                <a:solidFill>
                  <a:srgbClr val="E0E8F0"/>
                </a:solidFill>
              </a:rPr>
              <a:t>Offsets committed automatically every auto.commit.interval.ms (default 5s). Simplest approach but risks duplicate processing if consumer crashes between commits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Manual Synchronous (commitSync()): </a:t>
            </a:r>
            <a:r>
              <a:rPr lang="en-US" sz="1400">
                <a:solidFill>
                  <a:srgbClr val="E0E8F0"/>
                </a:solidFill>
              </a:rPr>
              <a:t>Blocks until broker confirms the commit. Guarantees offset is saved before proceeding but adds latency to processing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Manual Asynchronous (commitAsync()): </a:t>
            </a:r>
            <a:r>
              <a:rPr lang="en-US" sz="1400">
                <a:solidFill>
                  <a:srgbClr val="E0E8F0"/>
                </a:solidFill>
              </a:rPr>
              <a:t>Non-blocking commit with optional callback. Higher throughput but may silently fail - use with retry logic or periodic commitSync()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Commit After Processing: </a:t>
            </a:r>
            <a:r>
              <a:rPr lang="en-US" sz="1400">
                <a:solidFill>
                  <a:srgbClr val="E0E8F0"/>
                </a:solidFill>
              </a:rPr>
              <a:t>Best practice pattern - process records first, then commit. Ensures at-least-once delivery semantics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Batch Commit: </a:t>
            </a:r>
            <a:r>
              <a:rPr lang="en-US" sz="1400">
                <a:solidFill>
                  <a:srgbClr val="E0E8F0"/>
                </a:solidFill>
              </a:rPr>
              <a:t>Commit offsets after processing a batch of records rather than each record individually, balancing reliability with performance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Performance vs Reliability: </a:t>
            </a:r>
            <a:r>
              <a:rPr lang="en-US" sz="1400">
                <a:solidFill>
                  <a:srgbClr val="E0E8F0"/>
                </a:solidFill>
              </a:rPr>
              <a:t>Auto commit favors performance (risk of duplicates); manual sync commit favors reliability (risk of slower throughput)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Auto Offset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Purpose: </a:t>
            </a:r>
            <a:r>
              <a:rPr lang="en-US" sz="1400">
                <a:solidFill>
                  <a:srgbClr val="E0E8F0"/>
                </a:solidFill>
              </a:rPr>
              <a:t>Defines consumer behavior when no committed offset exists for a partition (new consumer group or expired offsets)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earliest: </a:t>
            </a:r>
            <a:r>
              <a:rPr lang="en-US" sz="1400">
                <a:solidFill>
                  <a:srgbClr val="E0E8F0"/>
                </a:solidFill>
              </a:rPr>
              <a:t>Resets to the beginning of the partition. Reprocesses all available data. Use when you cannot afford to miss any messages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latest (default): </a:t>
            </a:r>
            <a:r>
              <a:rPr lang="en-US" sz="1400">
                <a:solidFill>
                  <a:srgbClr val="E0E8F0"/>
                </a:solidFill>
              </a:rPr>
              <a:t>Starts reading only new messages arriving after the consumer starts. Use when historical data is not needed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none: </a:t>
            </a:r>
            <a:r>
              <a:rPr lang="en-US" sz="1400">
                <a:solidFill>
                  <a:srgbClr val="E0E8F0"/>
                </a:solidFill>
              </a:rPr>
              <a:t>Throws NoOffsetForPartitionException. Use when you want explicit control and want to detect missing offsets programmatically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When It Triggers: </a:t>
            </a:r>
            <a:r>
              <a:rPr lang="en-US" sz="1400">
                <a:solidFill>
                  <a:srgbClr val="E0E8F0"/>
                </a:solidFill>
              </a:rPr>
              <a:t>New consumer group with no prior commits, offset retention period expired (offsets.retention.minutes), or partition deleted and recreated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Production Tip: </a:t>
            </a:r>
            <a:r>
              <a:rPr lang="en-US" sz="1400">
                <a:solidFill>
                  <a:srgbClr val="E0E8F0"/>
                </a:solidFill>
              </a:rPr>
              <a:t>Set to "earliest" for critical data pipelines where message loss is unacceptable. Combine with idempotent processing to handle reprocessing safely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Lab 3 - Manual vs Auto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1 - Auto Commit Test: </a:t>
            </a:r>
            <a:r>
              <a:rPr lang="en-US" sz="1400">
                <a:solidFill>
                  <a:srgbClr val="E0E8F0"/>
                </a:solidFill>
              </a:rPr>
              <a:t>Set enable.auto.commit=true, auto.commit.interval.ms=5000. Process messages and crash the consumer mid-batch. Restart and observe duplicate messages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2 - Disable Auto Commit: </a:t>
            </a:r>
            <a:r>
              <a:rPr lang="en-US" sz="1400">
                <a:solidFill>
                  <a:srgbClr val="E0E8F0"/>
                </a:solidFill>
              </a:rPr>
              <a:t>Set enable.auto.commit=false. Process messages without calling commit. Restart consumer - observe all messages are reprocessed from last committed offset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3 - commitSync() Test: </a:t>
            </a:r>
            <a:r>
              <a:rPr lang="en-US" sz="1400">
                <a:solidFill>
                  <a:srgbClr val="E0E8F0"/>
                </a:solidFill>
              </a:rPr>
              <a:t>After processing each batch, call consumer.commitSync(). Crash and restart - observe minimal or no duplicate messages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4 - commitAsync() Test: </a:t>
            </a:r>
            <a:r>
              <a:rPr lang="en-US" sz="1400">
                <a:solidFill>
                  <a:srgbClr val="E0E8F0"/>
                </a:solidFill>
              </a:rPr>
              <a:t>Replace with commitAsync() and add a callback. Observe faster processing but potential for uncommitted offsets on crash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5 - Duplicate Scenario: </a:t>
            </a:r>
            <a:r>
              <a:rPr lang="en-US" sz="1400">
                <a:solidFill>
                  <a:srgbClr val="E0E8F0"/>
                </a:solidFill>
              </a:rPr>
              <a:t>Produce 100 messages. Process 50, then kill the consumer before commit. Restart and count how many messages are reprocessed under each strategy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6 - Compare Results: </a:t>
            </a:r>
            <a:r>
              <a:rPr lang="en-US" sz="1400">
                <a:solidFill>
                  <a:srgbClr val="E0E8F0"/>
                </a:solidFill>
              </a:rPr>
              <a:t>Document the trade-offs: auto commit (simple but duplicates), sync commit (reliable but slower), async commit (fast but may lose commits)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Kafka Rebalancing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What is Rebalancing? </a:t>
            </a:r>
            <a:r>
              <a:rPr lang="en-US" sz="1400">
                <a:solidFill>
                  <a:srgbClr val="E0E8F0"/>
                </a:solidFill>
              </a:rPr>
              <a:t>The process of redistributing partition ownership among consumers in a group when membership or subscriptions change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Stop-the-World Impact: </a:t>
            </a:r>
            <a:r>
              <a:rPr lang="en-US" sz="1400">
                <a:solidFill>
                  <a:srgbClr val="E0E8F0"/>
                </a:solidFill>
              </a:rPr>
              <a:t>During eager rebalancing, ALL consumers stop processing, revoke all partitions, and rejoin the group. This causes a processing pause across the entire group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Cooperative Rebalancing: </a:t>
            </a:r>
            <a:r>
              <a:rPr lang="en-US" sz="1400">
                <a:solidFill>
                  <a:srgbClr val="E0E8F0"/>
                </a:solidFill>
              </a:rPr>
              <a:t>Introduced in Kafka 2.4+, only affected partitions are revoked and reassigned. Other consumers continue processing uninterrupted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Rebalance Duration: </a:t>
            </a:r>
            <a:r>
              <a:rPr lang="en-US" sz="1400">
                <a:solidFill>
                  <a:srgbClr val="E0E8F0"/>
                </a:solidFill>
              </a:rPr>
              <a:t>Can take seconds to minutes depending on group size, number of partitions, and assignment strategy complexity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State Management: </a:t>
            </a:r>
            <a:r>
              <a:rPr lang="en-US" sz="1400">
                <a:solidFill>
                  <a:srgbClr val="E0E8F0"/>
                </a:solidFill>
              </a:rPr>
              <a:t>Consumers must handle partition revocation (onPartitionsRevoked) to flush buffers, commit offsets, and clean up resources before partitions move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Minimizing Impact: </a:t>
            </a:r>
            <a:r>
              <a:rPr lang="en-US" sz="1400">
                <a:solidFill>
                  <a:srgbClr val="E0E8F0"/>
                </a:solidFill>
              </a:rPr>
              <a:t>Use CooperativeStickyAssignor, tune session.timeout.ms and heartbeat.interval.ms, and avoid long processing in the poll loop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Rebalancing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New Consumer Joins: </a:t>
            </a:r>
            <a:r>
              <a:rPr lang="en-US" sz="1400">
                <a:solidFill>
                  <a:srgbClr val="E0E8F0"/>
                </a:solidFill>
              </a:rPr>
              <a:t>When a new consumer instance joins the group with the same group.id, the coordinator initiates rebalancing to include it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Consumer Crashes/Leaves: </a:t>
            </a:r>
            <a:r>
              <a:rPr lang="en-US" sz="1400">
                <a:solidFill>
                  <a:srgbClr val="E0E8F0"/>
                </a:solidFill>
              </a:rPr>
              <a:t>If a consumer process dies or calls close(), the coordinator detects the departure and redistributes its partitions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Session Timeout: </a:t>
            </a:r>
            <a:r>
              <a:rPr lang="en-US" sz="1400">
                <a:solidFill>
                  <a:srgbClr val="E0E8F0"/>
                </a:solidFill>
              </a:rPr>
              <a:t>Consumer fails to send heartbeat within session.timeout.ms (default 45s), coordinator considers it dead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Poll Timeout: </a:t>
            </a:r>
            <a:r>
              <a:rPr lang="en-US" sz="1400">
                <a:solidFill>
                  <a:srgbClr val="E0E8F0"/>
                </a:solidFill>
              </a:rPr>
              <a:t>Consumer exceeds max.poll.interval.ms (default 5 min) between poll() calls, indicating it is stuck or processing too slowly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Topic/Partition Changes: </a:t>
            </a:r>
            <a:r>
              <a:rPr lang="en-US" sz="1400">
                <a:solidFill>
                  <a:srgbClr val="E0E8F0"/>
                </a:solidFill>
              </a:rPr>
              <a:t>Adding partitions to a subscribed topic or changing topic subscriptions triggers reassignment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Static Membership: </a:t>
            </a:r>
            <a:r>
              <a:rPr lang="en-US" sz="1400">
                <a:solidFill>
                  <a:srgbClr val="E0E8F0"/>
                </a:solidFill>
              </a:rPr>
              <a:t>Using group.instance.id prevents rebalancing on temporary disconnects - the coordinator waits for session.timeout.ms before reassigning partitions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Message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Partition-Level Ordering: </a:t>
            </a:r>
            <a:r>
              <a:rPr lang="en-US" sz="1400">
                <a:solidFill>
                  <a:srgbClr val="E0E8F0"/>
                </a:solidFill>
              </a:rPr>
              <a:t>Kafka guarantees strict ordering only within a single partition. Records are appended and read in the exact order they were produced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Key-Based Partitioning: </a:t>
            </a:r>
            <a:r>
              <a:rPr lang="en-US" sz="1400">
                <a:solidFill>
                  <a:srgbClr val="E0E8F0"/>
                </a:solidFill>
              </a:rPr>
              <a:t>Messages with the same key are routed to the same partition (via hash of key mod partition count), ensuring ordered processing for that key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Cross-Partition Independence: </a:t>
            </a:r>
            <a:r>
              <a:rPr lang="en-US" sz="1400">
                <a:solidFill>
                  <a:srgbClr val="E0E8F0"/>
                </a:solidFill>
              </a:rPr>
              <a:t>Different partitions are processed independently and potentially in parallel. There is no global ordering across partitions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Ordering vs Parallelism Trade-off: </a:t>
            </a:r>
            <a:r>
              <a:rPr lang="en-US" sz="1400">
                <a:solidFill>
                  <a:srgbClr val="E0E8F0"/>
                </a:solidFill>
              </a:rPr>
              <a:t>More partitions increase throughput but weaken global ordering. Use fewer partitions when strict ordering is critical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Single Consumer Ordering: </a:t>
            </a:r>
            <a:r>
              <a:rPr lang="en-US" sz="1400">
                <a:solidFill>
                  <a:srgbClr val="E0E8F0"/>
                </a:solidFill>
              </a:rPr>
              <a:t>A single consumer reading from multiple partitions processes records partition by partition within each poll() batch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Idempotent Producers: </a:t>
            </a:r>
            <a:r>
              <a:rPr lang="en-US" sz="1400">
                <a:solidFill>
                  <a:srgbClr val="E0E8F0"/>
                </a:solidFill>
              </a:rPr>
              <a:t>Enable idempotence (enable.idempotence=true) to prevent duplicate records that could disrupt expected ordering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Consumer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Definition: </a:t>
            </a:r>
            <a:r>
              <a:rPr lang="en-US" sz="1400">
                <a:solidFill>
                  <a:srgbClr val="E0E8F0"/>
                </a:solidFill>
              </a:rPr>
              <a:t>Consumer lag = Log-End-Offset (LEO) minus Current-Committed-Offset. It measures how far behind a consumer is from the latest available data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Why It Matters: </a:t>
            </a:r>
            <a:r>
              <a:rPr lang="en-US" sz="1400">
                <a:solidFill>
                  <a:srgbClr val="E0E8F0"/>
                </a:solidFill>
              </a:rPr>
              <a:t>High lag means consumers are not keeping up with producers, leading to stale data, delayed processing, and potential data loss if retention expires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Monitoring Tools: </a:t>
            </a:r>
            <a:r>
              <a:rPr lang="en-US" sz="1400">
                <a:solidFill>
                  <a:srgbClr val="E0E8F0"/>
                </a:solidFill>
              </a:rPr>
              <a:t>Use kafka-consumer-groups.sh --describe, JMX metrics (records-lag-max, records-lag), or third-party tools like Burrow, Kafka Manager, or Confluent Control Center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Acceptable Lag: </a:t>
            </a:r>
            <a:r>
              <a:rPr lang="en-US" sz="1400">
                <a:solidFill>
                  <a:srgbClr val="E0E8F0"/>
                </a:solidFill>
              </a:rPr>
              <a:t>Depends on your SLA - real-time systems need near-zero lag, batch processors can tolerate higher lag. Set alerts based on business requirements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Steady vs Spike Lag: </a:t>
            </a:r>
            <a:r>
              <a:rPr lang="en-US" sz="1400">
                <a:solidFill>
                  <a:srgbClr val="E0E8F0"/>
                </a:solidFill>
              </a:rPr>
              <a:t>Steady high lag indicates structural issues (slow consumers). Spike lag during traffic bursts may self-resolve as load normalizes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Impact of Retention: </a:t>
            </a:r>
            <a:r>
              <a:rPr lang="en-US" sz="1400">
                <a:solidFill>
                  <a:srgbClr val="E0E8F0"/>
                </a:solidFill>
              </a:rPr>
              <a:t>If lag exceeds log.retention.hours (default 168h/7 days), unconsumed messages are deleted permanently, causing data loss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Common Causes of Consumer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Slow Processing Logic: </a:t>
            </a:r>
            <a:r>
              <a:rPr lang="en-US" sz="1400">
                <a:solidFill>
                  <a:srgbClr val="E0E8F0"/>
                </a:solidFill>
              </a:rPr>
              <a:t>Heavy computation, blocking I/O calls, or database writes inside the poll loop increase per-record processing time significantly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Insufficient Consumers: </a:t>
            </a:r>
            <a:r>
              <a:rPr lang="en-US" sz="1400">
                <a:solidFill>
                  <a:srgbClr val="E0E8F0"/>
                </a:solidFill>
              </a:rPr>
              <a:t>Fewer consumers than partitions means each consumer handles more partitions, reducing overall throughput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Large Batch Sizes: </a:t>
            </a:r>
            <a:r>
              <a:rPr lang="en-US" sz="1400">
                <a:solidFill>
                  <a:srgbClr val="E0E8F0"/>
                </a:solidFill>
              </a:rPr>
              <a:t>High max.poll.records or fetch.max.bytes values increase processing time per poll() call, potentially exceeding max.poll.interval.ms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Broker/Network Issues: </a:t>
            </a:r>
            <a:r>
              <a:rPr lang="en-US" sz="1400">
                <a:solidFill>
                  <a:srgbClr val="E0E8F0"/>
                </a:solidFill>
              </a:rPr>
              <a:t>Slow broker responses, network latency, or bandwidth limits reduce fetch throughput and increase poll cycle time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Frequent Rebalancing: </a:t>
            </a:r>
            <a:r>
              <a:rPr lang="en-US" sz="1400">
                <a:solidFill>
                  <a:srgbClr val="E0E8F0"/>
                </a:solidFill>
              </a:rPr>
              <a:t>Each rebalance pauses processing. Flapping consumers or misconfigured timeouts cause repeated rebalancing cycles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GC Pauses &amp; Memory Pressure: </a:t>
            </a:r>
            <a:r>
              <a:rPr lang="en-US" sz="1400">
                <a:solidFill>
                  <a:srgbClr val="E0E8F0"/>
                </a:solidFill>
              </a:rPr>
              <a:t>Long JVM garbage collection pauses can cause heartbeat timeouts, missed poll deadlines, and cascading rebalancing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Deserialization Overhead: </a:t>
            </a:r>
            <a:r>
              <a:rPr lang="en-US" sz="1400">
                <a:solidFill>
                  <a:srgbClr val="E0E8F0"/>
                </a:solidFill>
              </a:rPr>
              <a:t>Complex deserialization (Avro, Protobuf with schema registry lookups) adds per-record latency that compounds at high volumes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Lab 4 - Simulate and Measure Consumer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1 - Setup Topic: </a:t>
            </a:r>
            <a:r>
              <a:rPr lang="en-US" sz="1400">
                <a:solidFill>
                  <a:srgbClr val="E0E8F0"/>
                </a:solidFill>
              </a:rPr>
              <a:t>Create a topic "lag-demo" with 3 partitions. Start a single consumer subscribed to the topic with group.id=lag-group and a 500ms sleep per message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2 - Produce Load: </a:t>
            </a:r>
            <a:r>
              <a:rPr lang="en-US" sz="1400">
                <a:solidFill>
                  <a:srgbClr val="E0E8F0"/>
                </a:solidFill>
              </a:rPr>
              <a:t>Use kafka-producer-perf-test.sh to push 10,000 messages at 200 msgs/sec. The slow consumer will fall behind the producer rate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3 - Measure Lag: </a:t>
            </a:r>
            <a:r>
              <a:rPr lang="en-US" sz="1400">
                <a:solidFill>
                  <a:srgbClr val="E0E8F0"/>
                </a:solidFill>
              </a:rPr>
              <a:t>Run kafka-consumer-groups.sh --describe --group lag-group every 10 seconds. Record the LAG column per partition and plot growth over time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4 - Scale Out: </a:t>
            </a:r>
            <a:r>
              <a:rPr lang="en-US" sz="1400">
                <a:solidFill>
                  <a:srgbClr val="E0E8F0"/>
                </a:solidFill>
              </a:rPr>
              <a:t>Add a second and third consumer instance to lag-group. Observe partition rebalance in logs and confirm each consumer owns one partition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5 - Verify Recovery: </a:t>
            </a:r>
            <a:r>
              <a:rPr lang="en-US" sz="1400">
                <a:solidFill>
                  <a:srgbClr val="E0E8F0"/>
                </a:solidFill>
              </a:rPr>
              <a:t>Continue measuring LAG. Confirm the catch-up rate triples and the consumer group eventually drains the backlog to near-zero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Step 6 - Document Findings: </a:t>
            </a:r>
            <a:r>
              <a:rPr lang="en-US" sz="1400">
                <a:solidFill>
                  <a:srgbClr val="E0E8F0"/>
                </a:solidFill>
              </a:rPr>
              <a:t>Capture time-to-recover, peak lag value, and per-partition behavior. Note the relationship between consumer count and partition count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83942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Troubleshooting Consumer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Diagnose with CLI: </a:t>
            </a:r>
            <a:r>
              <a:rPr lang="en-US" sz="1400">
                <a:solidFill>
                  <a:srgbClr val="E0E8F0"/>
                </a:solidFill>
              </a:rPr>
              <a:t>Run kafka-consumer-groups.sh --bootstrap-server localhost:9092 --describe --group your-group. Check LAG column for each partition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Identify Bottleneck: </a:t>
            </a:r>
            <a:r>
              <a:rPr lang="en-US" sz="1400">
                <a:solidFill>
                  <a:srgbClr val="E0E8F0"/>
                </a:solidFill>
              </a:rPr>
              <a:t>Compare CURRENT-OFFSET progression over time. If one partition lags more, the assigned consumer may have a processing bottleneck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Scale Consumers: </a:t>
            </a:r>
            <a:r>
              <a:rPr lang="en-US" sz="1400">
                <a:solidFill>
                  <a:srgbClr val="E0E8F0"/>
                </a:solidFill>
              </a:rPr>
              <a:t>Add more consumer instances to the group (up to partition count). Each new consumer takes over partitions, reducing per-consumer load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Increase Partitions: </a:t>
            </a:r>
            <a:r>
              <a:rPr lang="en-US" sz="1400">
                <a:solidFill>
                  <a:srgbClr val="E0E8F0"/>
                </a:solidFill>
              </a:rPr>
              <a:t>If consumers already equal partitions, increase topic partitions with kafka-topics.sh --alter to enable more parallelism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Optimize Processing: </a:t>
            </a:r>
            <a:r>
              <a:rPr lang="en-US" sz="1400">
                <a:solidFill>
                  <a:srgbClr val="E0E8F0"/>
                </a:solidFill>
              </a:rPr>
              <a:t>Move heavy operations (DB writes, API calls) to async threads. Reduce max.poll.records to process smaller batches more frequently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Tune Configurations: </a:t>
            </a:r>
            <a:r>
              <a:rPr lang="en-US" sz="1400">
                <a:solidFill>
                  <a:srgbClr val="E0E8F0"/>
                </a:solidFill>
              </a:rPr>
              <a:t>Increase fetch.min.bytes for larger batches, adjust max.poll.interval.ms to prevent unnecessary rebalancing during long processing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Monitor Continuously: </a:t>
            </a:r>
            <a:r>
              <a:rPr lang="en-US" sz="1400">
                <a:solidFill>
                  <a:srgbClr val="E0E8F0"/>
                </a:solidFill>
              </a:rPr>
              <a:t>Set up JMX metrics alerts on records-lag-max. Use tools like Burrow for automated lag monitoring and anomaly detection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Kafka Commands for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List All Consumer Groups: </a:t>
            </a:r>
            <a:r>
              <a:rPr lang="en-US" sz="1400">
                <a:solidFill>
                  <a:srgbClr val="E0E8F0"/>
                </a:solidFill>
              </a:rPr>
              <a:t>kafka-consumer-groups.sh --bootstrap-server localhost:9092 --list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Describe Group Details: </a:t>
            </a:r>
            <a:r>
              <a:rPr lang="en-US" sz="1400">
                <a:solidFill>
                  <a:srgbClr val="E0E8F0"/>
                </a:solidFill>
              </a:rPr>
              <a:t>kafka-consumer-groups.sh --bootstrap-server localhost:9092 --describe --group GROUP_ID (shows partitions, current-offset, log-end-offset, lag, consumer-id, host)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Describe Topic: </a:t>
            </a:r>
            <a:r>
              <a:rPr lang="en-US" sz="1400">
                <a:solidFill>
                  <a:srgbClr val="E0E8F0"/>
                </a:solidFill>
              </a:rPr>
              <a:t>kafka-topics.sh --bootstrap-server localhost:9092 --describe --topic TOPIC_NAME (shows partition count, replication, ISR, leader)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Reset Offsets: </a:t>
            </a:r>
            <a:r>
              <a:rPr lang="en-US" sz="1400">
                <a:solidFill>
                  <a:srgbClr val="E0E8F0"/>
                </a:solidFill>
              </a:rPr>
              <a:t>kafka-consumer-groups.sh --bootstrap-server localhost:9092 --group GROUP_ID --reset-offsets --to-earliest --topic TOPIC --execute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Delete Group: </a:t>
            </a:r>
            <a:r>
              <a:rPr lang="en-US" sz="1400">
                <a:solidFill>
                  <a:srgbClr val="E0E8F0"/>
                </a:solidFill>
              </a:rPr>
              <a:t>kafka-consumer-groups.sh --bootstrap-server localhost:9092 --delete --group GROUP_ID (only works when group has no active members)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View Messages: </a:t>
            </a:r>
            <a:r>
              <a:rPr lang="en-US" sz="1400">
                <a:solidFill>
                  <a:srgbClr val="E0E8F0"/>
                </a:solidFill>
              </a:rPr>
              <a:t>kafka-console-consumer.sh --bootstrap-server localhost:9092 --topic TOPIC --from-beginning --max-messages 10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Meaningful Group IDs: </a:t>
            </a:r>
            <a:r>
              <a:rPr lang="en-US" sz="1400">
                <a:solidFill>
                  <a:srgbClr val="E0E8F0"/>
                </a:solidFill>
              </a:rPr>
              <a:t>Use descriptive names like "order-processing-service" or "analytics-pipeline" for easy identification and monitoring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Handle Deserialization Errors: </a:t>
            </a:r>
            <a:r>
              <a:rPr lang="en-US" sz="1400">
                <a:solidFill>
                  <a:srgbClr val="E0E8F0"/>
                </a:solidFill>
              </a:rPr>
              <a:t>Implement ErrorHandlingDeserializer to gracefully handle poison pill messages instead of crashing the entire consumer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Prefer Manual Commits: </a:t>
            </a:r>
            <a:r>
              <a:rPr lang="en-US" sz="1400">
                <a:solidFill>
                  <a:srgbClr val="E0E8F0"/>
                </a:solidFill>
              </a:rPr>
              <a:t>Use commitSync() after processing for critical systems. Auto commit risks duplicate processing and data inconsistency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Monitor Lag Continuously: </a:t>
            </a:r>
            <a:r>
              <a:rPr lang="en-US" sz="1400">
                <a:solidFill>
                  <a:srgbClr val="E0E8F0"/>
                </a:solidFill>
              </a:rPr>
              <a:t>Set up automated alerts when consumer lag exceeds your SLA threshold. Investigate immediately when lag trends upward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Avoid Long Processing in Poll Loop: </a:t>
            </a:r>
            <a:r>
              <a:rPr lang="en-US" sz="1400">
                <a:solidFill>
                  <a:srgbClr val="E0E8F0"/>
                </a:solidFill>
              </a:rPr>
              <a:t>Keep processing time under max.poll.interval.ms. Offload heavy work to separate threads or processing queues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Idempotent Processing: </a:t>
            </a:r>
            <a:r>
              <a:rPr lang="en-US" sz="1400">
                <a:solidFill>
                  <a:srgbClr val="E0E8F0"/>
                </a:solidFill>
              </a:rPr>
              <a:t>Design consumers to handle duplicate messages safely using unique keys, upserts, or deduplication logic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Graceful Shutdown: </a:t>
            </a:r>
            <a:r>
              <a:rPr lang="en-US" sz="1400">
                <a:solidFill>
                  <a:srgbClr val="E0E8F0"/>
                </a:solidFill>
              </a:rPr>
              <a:t>Implement shutdown hooks that call consumer.wakeup() followed by consumer.close() to trigger clean rebalancing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Use Cooperative Rebalancing: </a:t>
            </a:r>
            <a:r>
              <a:rPr lang="en-US" sz="1400">
                <a:solidFill>
                  <a:srgbClr val="E0E8F0"/>
                </a:solidFill>
              </a:rPr>
              <a:t>Configure CooperativeStickyAssignor to minimize stop-the-world rebalancing pauses in production environments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Q: What is a consumer group? </a:t>
            </a:r>
            <a:r>
              <a:rPr lang="en-US" sz="1400">
                <a:solidFill>
                  <a:srgbClr val="E0E8F0"/>
                </a:solidFill>
              </a:rPr>
              <a:t>A: A set of consumers sharing the same group.id that cooperatively consume partitions from subscribed topics, enabling parallel processing and fault tolerance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Q: How does offset management work? </a:t>
            </a:r>
            <a:r>
              <a:rPr lang="en-US" sz="1400">
                <a:solidFill>
                  <a:srgbClr val="E0E8F0"/>
                </a:solidFill>
              </a:rPr>
              <a:t>A: Consumers track position via offsets stored in __consumer_offsets topic. Offsets can be committed automatically or manually (sync/async)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Q: What happens during rebalancing? </a:t>
            </a:r>
            <a:r>
              <a:rPr lang="en-US" sz="1400">
                <a:solidFill>
                  <a:srgbClr val="E0E8F0"/>
                </a:solidFill>
              </a:rPr>
              <a:t>A: Partitions are redistributed among active consumers. With eager protocol, all consumers pause. With cooperative protocol, only affected partitions pause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Q: Difference between earliest and latest? </a:t>
            </a:r>
            <a:r>
              <a:rPr lang="en-US" sz="1400">
                <a:solidFill>
                  <a:srgbClr val="E0E8F0"/>
                </a:solidFill>
              </a:rPr>
              <a:t>A: earliest reads all existing data from partition start; latest reads only new messages produced after consumer starts. Used when no committed offset exists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Q: How is message ordering maintained? </a:t>
            </a:r>
            <a:r>
              <a:rPr lang="en-US" sz="1400">
                <a:solidFill>
                  <a:srgbClr val="E0E8F0"/>
                </a:solidFill>
              </a:rPr>
              <a:t>A: Ordering is guaranteed only within a partition. Use the same message key to route related messages to the same partition for ordered processing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Q: What causes consumer lag and how to fix it? </a:t>
            </a:r>
            <a:r>
              <a:rPr lang="en-US" sz="1400">
                <a:solidFill>
                  <a:srgbClr val="E0E8F0"/>
                </a:solidFill>
              </a:rPr>
              <a:t>A: Lag occurs when consumers process slower than producers. Fix by adding consumers, increasing partitions, optimizing processing logic, or tuning batch sizes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1CADE4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Q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Consumer Fundamentals: </a:t>
            </a:r>
            <a:r>
              <a:rPr lang="en-US" sz="1400">
                <a:solidFill>
                  <a:srgbClr val="E0E8F0"/>
                </a:solidFill>
              </a:rPr>
              <a:t>Kafka consumers pull messages from brokers using a poll-based model, tracking position via offsets for reliable, resumable processing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Consumer Groups: </a:t>
            </a:r>
            <a:r>
              <a:rPr lang="en-US" sz="1400">
                <a:solidFill>
                  <a:srgbClr val="E0E8F0"/>
                </a:solidFill>
              </a:rPr>
              <a:t>Enable horizontal scaling by distributing partitions across consumers. Each partition is consumed by exactly one member of the group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Offset Management: </a:t>
            </a:r>
            <a:r>
              <a:rPr lang="en-US" sz="1400">
                <a:solidFill>
                  <a:srgbClr val="E0E8F0"/>
                </a:solidFill>
              </a:rPr>
              <a:t>Three strategies (auto, sync, async) with trade-offs between simplicity, reliability, and performance. Manual commit preferred for critical workloads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Rebalancing: </a:t>
            </a:r>
            <a:r>
              <a:rPr lang="en-US" sz="1400">
                <a:solidFill>
                  <a:srgbClr val="E0E8F0"/>
                </a:solidFill>
              </a:rPr>
              <a:t>Partition redistribution triggered by membership changes. Use CooperativeStickyAssignor and proper timeout tuning to minimize disruption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Monitoring &amp; Lag: </a:t>
            </a:r>
            <a:r>
              <a:rPr lang="en-US" sz="1400">
                <a:solidFill>
                  <a:srgbClr val="E0E8F0"/>
                </a:solidFill>
              </a:rPr>
              <a:t>Track consumer lag (LEO minus committed offset) continuously. High lag indicates processing bottlenecks requiring immediate attention</a:t>
            </a:r>
          </a:p>
          <a:p>
            <a:pPr>
              <a:defRPr sz="1400"/>
            </a:pPr>
            <a:r>
              <a:rPr lang="en-US" sz="1400" b="1">
                <a:solidFill>
                  <a:srgbClr val="5BC8E8"/>
                </a:solidFill>
              </a:rPr>
              <a:t>Key Takeaway: </a:t>
            </a:r>
            <a:r>
              <a:rPr lang="en-US" sz="1400">
                <a:solidFill>
                  <a:srgbClr val="E0E8F0"/>
                </a:solidFill>
              </a:rPr>
              <a:t>Production-ready Kafka consumers require careful configuration of group coordination, offset management, and monitoring to ensure reliable, scalable event processing</a:t>
            </a:r>
          </a:p>
        </p:txBody>
      </p:sp>
      <p:sp>
        <p:nvSpPr>
          <p:cNvPr id="10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7CED7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TopicIcon"/>
          <p:cNvSpPr/>
          <p:nvPr/>
        </p:nvSpPr>
        <p:spPr>
          <a:xfrm>
            <a:off x="8382000" y="228600"/>
            <a:ext cx="533400" cy="533400"/>
          </a:xfrm>
          <a:prstGeom prst="ellipse">
            <a:avLst/>
          </a:prstGeom>
          <a:solidFill>
            <a:srgbClr val="27CED7"/>
          </a:solidFill>
          <a:ln>
            <a:noFill/>
          </a:ln>
        </p:spPr>
        <p:txBody>
          <a:bodyPr anchor="ctr" anchorCtr="1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7DF6A6-5AD2-408B-95D4-A4186C329C9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7a31f67-6032-4d10-b2ea-8dc86fe839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57</TotalTime>
  <Words>4125</Words>
  <Application>Microsoft Office PowerPoint</Application>
  <PresentationFormat>On-screen Show (4:3)</PresentationFormat>
  <Paragraphs>238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Tw Cen MT</vt:lpstr>
      <vt:lpstr>Tw Cen MT Condensed</vt:lpstr>
      <vt:lpstr>Wingdings 3</vt:lpstr>
      <vt:lpstr>Integral</vt:lpstr>
      <vt:lpstr>Day 4 - Kafka Consumers &amp; Consumer Groups</vt:lpstr>
      <vt:lpstr>Kafka Consumer Overview</vt:lpstr>
      <vt:lpstr>Kafka Consumer Workflow</vt:lpstr>
      <vt:lpstr>Kafka Consumer API Components</vt:lpstr>
      <vt:lpstr>Important Consumer Configurations</vt:lpstr>
      <vt:lpstr>Kafka Consumer Example - Java (1/2)</vt:lpstr>
      <vt:lpstr>Kafka Consumer Example - Java (2/2)</vt:lpstr>
      <vt:lpstr>Lab 1 - Build Kafka Consumer</vt:lpstr>
      <vt:lpstr>Consumer Groups</vt:lpstr>
      <vt:lpstr>Consumer Group Architecture</vt:lpstr>
      <vt:lpstr>Lab 2 - Demonstrate Consumer Groups</vt:lpstr>
      <vt:lpstr>Offsets in Kafka</vt:lpstr>
      <vt:lpstr>Offset Commit Strategies</vt:lpstr>
      <vt:lpstr>Auto Offset Reset</vt:lpstr>
      <vt:lpstr>Lab 3 - Manual vs Auto Commit</vt:lpstr>
      <vt:lpstr>Kafka Rebalancing</vt:lpstr>
      <vt:lpstr>Rebalancing Triggers</vt:lpstr>
      <vt:lpstr>Message Ordering</vt:lpstr>
      <vt:lpstr>Consumer Lag</vt:lpstr>
      <vt:lpstr>Common Causes of Consumer Lag</vt:lpstr>
      <vt:lpstr>Lab 4 - Simulate and Measure Consumer Lag</vt:lpstr>
      <vt:lpstr>Troubleshooting Consumer Lag</vt:lpstr>
      <vt:lpstr>Kafka Commands for Monitoring</vt:lpstr>
      <vt:lpstr>Best Practices</vt:lpstr>
      <vt:lpstr>Questions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4</cp:revision>
  <dcterms:created xsi:type="dcterms:W3CDTF">2013-01-27T09:14:16Z</dcterms:created>
  <dcterms:modified xsi:type="dcterms:W3CDTF">2026-05-20T17:15:42Z</dcterms:modified>
  <cp:category/>
</cp:coreProperties>
</file>