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343" r:id="rId2"/>
    <p:sldId id="257" r:id="rId3"/>
    <p:sldId id="258" r:id="rId4"/>
    <p:sldId id="329" r:id="rId5"/>
    <p:sldId id="259" r:id="rId6"/>
    <p:sldId id="260" r:id="rId7"/>
    <p:sldId id="330" r:id="rId8"/>
    <p:sldId id="319" r:id="rId9"/>
    <p:sldId id="262" r:id="rId10"/>
    <p:sldId id="336" r:id="rId11"/>
    <p:sldId id="320" r:id="rId12"/>
    <p:sldId id="321" r:id="rId13"/>
    <p:sldId id="265" r:id="rId14"/>
    <p:sldId id="340" r:id="rId15"/>
    <p:sldId id="322" r:id="rId16"/>
    <p:sldId id="267" r:id="rId17"/>
    <p:sldId id="323" r:id="rId18"/>
    <p:sldId id="346" r:id="rId19"/>
    <p:sldId id="324" r:id="rId20"/>
    <p:sldId id="325" r:id="rId21"/>
    <p:sldId id="271" r:id="rId22"/>
    <p:sldId id="338" r:id="rId23"/>
    <p:sldId id="326" r:id="rId24"/>
    <p:sldId id="273" r:id="rId25"/>
    <p:sldId id="339" r:id="rId26"/>
    <p:sldId id="274" r:id="rId27"/>
    <p:sldId id="277" r:id="rId28"/>
    <p:sldId id="327" r:id="rId29"/>
    <p:sldId id="328" r:id="rId30"/>
    <p:sldId id="341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05" autoAdjust="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66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728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795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6472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247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6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41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206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178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0573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218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0155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0355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rgbClr val="22D3EE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rgbClr val="E2E8F0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rgbClr val="E2E8F0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2E8F0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2E8F0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2E8F0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2E8F0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2E8F0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2E8F0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2E8F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Background Mask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540000"/>
            <a:ext cx="7620000" cy="1651000"/>
          </a:xfrm>
        </p:spPr>
        <p:txBody>
          <a:bodyPr/>
          <a:lstStyle/>
          <a:p>
            <a:pPr algn="ctr">
              <a:buNone/>
            </a:pPr>
            <a:r>
              <a:rPr lang="en-US" sz="4400" b="1" dirty="0">
                <a:solidFill>
                  <a:srgbClr val="22D3EE"/>
                </a:solidFill>
              </a:rPr>
              <a:t>Kafka Streams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2400" dirty="0">
                <a:solidFill>
                  <a:srgbClr val="E2E8F0"/>
                </a:solidFill>
              </a:rPr>
              <a:t>for Real-Time Processing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381500"/>
            <a:ext cx="7620000" cy="444500"/>
          </a:xfrm>
        </p:spPr>
        <p:txBody>
          <a:bodyPr/>
          <a:lstStyle/>
          <a:p>
            <a:pPr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Vikash Verma</a:t>
            </a:r>
          </a:p>
        </p:txBody>
      </p:sp>
      <p:sp>
        <p:nvSpPr>
          <p:cNvPr id="901" name="Accent Bar"/>
          <p:cNvSpPr/>
          <p:nvPr/>
        </p:nvSpPr>
        <p:spPr>
          <a:xfrm>
            <a:off x="4064000" y="2222500"/>
            <a:ext cx="101600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902" name="Divider"/>
          <p:cNvSpPr/>
          <p:nvPr/>
        </p:nvSpPr>
        <p:spPr>
          <a:xfrm>
            <a:off x="3048000" y="5651500"/>
            <a:ext cx="30480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903" name="Tagline"/>
          <p:cNvSpPr/>
          <p:nvPr/>
        </p:nvSpPr>
        <p:spPr>
          <a:xfrm>
            <a:off x="762000" y="58420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200" b="1" spc="400" dirty="0">
                <a:solidFill>
                  <a:srgbClr val="22D3EE"/>
                </a:solidFill>
              </a:rPr>
              <a:t>REAL-TIME</a:t>
            </a:r>
            <a:r>
              <a:rPr lang="en-US" sz="1200" spc="400" dirty="0">
                <a:solidFill>
                  <a:srgbClr val="64748B"/>
                </a:solidFill>
              </a:rPr>
              <a:t>  •  </a:t>
            </a:r>
            <a:r>
              <a:rPr lang="en-US" sz="1200" b="1" spc="400" dirty="0">
                <a:solidFill>
                  <a:srgbClr val="A78BFA"/>
                </a:solidFill>
              </a:rPr>
              <a:t>EVENT-DRIVEN</a:t>
            </a:r>
            <a:r>
              <a:rPr lang="en-US" sz="1200" spc="400" dirty="0">
                <a:solidFill>
                  <a:srgbClr val="64748B"/>
                </a:solidFill>
              </a:rPr>
              <a:t>  •  </a:t>
            </a:r>
            <a:r>
              <a:rPr lang="en-US" sz="1200" b="1" spc="400" dirty="0">
                <a:solidFill>
                  <a:srgbClr val="14B8A6"/>
                </a:solidFill>
              </a:rPr>
              <a:t>STATEFUL</a:t>
            </a:r>
          </a:p>
        </p:txBody>
      </p:sp>
    </p:spTree>
    <p:extLst>
      <p:ext uri="{BB962C8B-B14F-4D97-AF65-F5344CB8AC3E}">
        <p14:creationId xmlns:p14="http://schemas.microsoft.com/office/powerpoint/2010/main" val="1765818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Understand stream processing fundamentals</a:t>
            </a:r>
          </a:p>
          <a:p>
            <a:pPr>
              <a:defRPr sz="2100"/>
            </a:pPr>
            <a:r>
              <a:t>Learn Kafka Streams architecture</a:t>
            </a:r>
          </a:p>
          <a:p>
            <a:pPr>
              <a:defRPr sz="2100"/>
            </a:pPr>
            <a:r>
              <a:t>Differentiate KStream and KTable</a:t>
            </a:r>
          </a:p>
          <a:p>
            <a:pPr>
              <a:defRPr sz="2100"/>
            </a:pPr>
            <a:r>
              <a:t>Implement stateful and stateless operations</a:t>
            </a:r>
          </a:p>
          <a:p>
            <a:pPr>
              <a:defRPr sz="2100"/>
            </a:pPr>
            <a:r>
              <a:t>Understand windowing and aggregations</a:t>
            </a:r>
          </a:p>
          <a:p>
            <a:pPr>
              <a:defRPr sz="2100"/>
            </a:pPr>
            <a:r>
              <a:t>Build real-time stream processing applications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Stream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Processes data continuously in real time</a:t>
            </a:r>
          </a:p>
          <a:p>
            <a:pPr>
              <a:defRPr sz="2100"/>
            </a:pPr>
            <a:r>
              <a:t>Handles unbounded streams of events</a:t>
            </a:r>
          </a:p>
          <a:p>
            <a:pPr>
              <a:defRPr sz="2100"/>
            </a:pPr>
            <a:r>
              <a:t>Enables low-latency analytics</a:t>
            </a:r>
          </a:p>
          <a:p>
            <a:pPr>
              <a:defRPr sz="2100"/>
            </a:pPr>
            <a:r>
              <a:t>Supports event-driven architectures</a:t>
            </a:r>
          </a:p>
          <a:p>
            <a:pPr>
              <a:defRPr sz="2100"/>
            </a:pPr>
            <a:r>
              <a:t>Used in fraud detection, IoT, monitoring, and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973AD-257F-2D1A-CFF6-38C736585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/>
              <a:t>Batch vs. Stream Processing</a:t>
            </a:r>
          </a:p>
        </p:txBody>
      </p:sp>
      <p:sp>
        <p:nvSpPr>
          <p:cNvPr id="101" name="Shape 101"/>
          <p:cNvSpPr/>
          <p:nvPr/>
        </p:nvSpPr>
        <p:spPr>
          <a:xfrm>
            <a:off x="508000" y="2286000"/>
            <a:ext cx="3873500" cy="457200"/>
          </a:xfrm>
          <a:prstGeom prst="rect">
            <a:avLst/>
          </a:prstGeom>
          <a:solidFill>
            <a:srgbClr val="335B74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BATCH PROCESSING</a:t>
            </a:r>
          </a:p>
        </p:txBody>
      </p:sp>
      <p:sp>
        <p:nvSpPr>
          <p:cNvPr id="102" name="Shape 102"/>
          <p:cNvSpPr/>
          <p:nvPr/>
        </p:nvSpPr>
        <p:spPr>
          <a:xfrm>
            <a:off x="635000" y="3048000"/>
            <a:ext cx="889000" cy="635000"/>
          </a:xfrm>
          <a:prstGeom prst="roundRect">
            <a:avLst/>
          </a:prstGeom>
          <a:solidFill>
            <a:srgbClr val="1E293B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400" b="1" dirty="0"/>
              <a:t>Data</a:t>
            </a:r>
          </a:p>
          <a:p>
            <a:pPr algn="ctr">
              <a:buNone/>
            </a:pPr>
            <a:r>
              <a:rPr lang="en-US" sz="1400" dirty="0"/>
              <a:t>(hours)</a:t>
            </a:r>
          </a:p>
        </p:txBody>
      </p:sp>
      <p:sp>
        <p:nvSpPr>
          <p:cNvPr id="103" name="Arrow 103"/>
          <p:cNvSpPr/>
          <p:nvPr/>
        </p:nvSpPr>
        <p:spPr>
          <a:xfrm>
            <a:off x="1587500" y="3238500"/>
            <a:ext cx="444500" cy="254000"/>
          </a:xfrm>
          <a:prstGeom prst="rightArrow">
            <a:avLst/>
          </a:prstGeom>
          <a:solidFill>
            <a:srgbClr val="335B7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4"/>
          <p:cNvSpPr/>
          <p:nvPr/>
        </p:nvSpPr>
        <p:spPr>
          <a:xfrm>
            <a:off x="2095500" y="3048000"/>
            <a:ext cx="1206500" cy="635000"/>
          </a:xfrm>
          <a:prstGeom prst="roundRect">
            <a:avLst/>
          </a:prstGeom>
          <a:solidFill>
            <a:srgbClr val="335B74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Batch Job</a:t>
            </a:r>
          </a:p>
        </p:txBody>
      </p:sp>
      <p:sp>
        <p:nvSpPr>
          <p:cNvPr id="105" name="Arrow 105"/>
          <p:cNvSpPr/>
          <p:nvPr/>
        </p:nvSpPr>
        <p:spPr>
          <a:xfrm>
            <a:off x="3365500" y="3238500"/>
            <a:ext cx="444500" cy="254000"/>
          </a:xfrm>
          <a:prstGeom prst="rightArrow">
            <a:avLst/>
          </a:prstGeom>
          <a:solidFill>
            <a:srgbClr val="335B7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6"/>
          <p:cNvSpPr/>
          <p:nvPr/>
        </p:nvSpPr>
        <p:spPr>
          <a:xfrm>
            <a:off x="3873500" y="3048000"/>
            <a:ext cx="508000" cy="635000"/>
          </a:xfrm>
          <a:prstGeom prst="roundRect">
            <a:avLst/>
          </a:prstGeom>
          <a:solidFill>
            <a:srgbClr val="1E293B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400" b="1" dirty="0"/>
              <a:t>Out</a:t>
            </a:r>
          </a:p>
        </p:txBody>
      </p:sp>
      <p:sp>
        <p:nvSpPr>
          <p:cNvPr id="107" name="Shape 107"/>
          <p:cNvSpPr/>
          <p:nvPr/>
        </p:nvSpPr>
        <p:spPr>
          <a:xfrm>
            <a:off x="508000" y="3873500"/>
            <a:ext cx="3873500" cy="24765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marL="171450" indent="-171450">
              <a:buFont typeface="Arial"/>
              <a:buChar char="•"/>
            </a:pPr>
            <a:r>
              <a:rPr lang="en-US" sz="1500" dirty="0"/>
              <a:t>Processes finite chunks of data</a:t>
            </a:r>
          </a:p>
          <a:p>
            <a:pPr marL="171450" indent="-171450">
              <a:buFont typeface="Arial"/>
              <a:buChar char="•"/>
            </a:pPr>
            <a:r>
              <a:rPr lang="en-US" sz="1500" dirty="0"/>
              <a:t>Runs on a schedule (hourly/daily)</a:t>
            </a:r>
          </a:p>
          <a:p>
            <a:pPr marL="171450" indent="-171450">
              <a:buFont typeface="Arial"/>
              <a:buChar char="•"/>
            </a:pPr>
            <a:r>
              <a:rPr lang="en-US" sz="1500" dirty="0"/>
              <a:t>High latency, high throughput</a:t>
            </a:r>
          </a:p>
          <a:p>
            <a:pPr marL="171450" indent="-171450">
              <a:buFont typeface="Arial"/>
              <a:buChar char="•"/>
            </a:pPr>
            <a:r>
              <a:rPr lang="en-US" sz="1500" dirty="0"/>
              <a:t>Examples: ETL, reports, billing runs</a:t>
            </a:r>
          </a:p>
          <a:p>
            <a:pPr marL="171450" indent="-171450">
              <a:buFont typeface="Arial"/>
              <a:buChar char="•"/>
            </a:pPr>
            <a:r>
              <a:rPr lang="en-US" sz="1500" dirty="0"/>
              <a:t>Tools: Hadoop, Spark batch</a:t>
            </a:r>
          </a:p>
        </p:txBody>
      </p:sp>
      <p:sp>
        <p:nvSpPr>
          <p:cNvPr id="108" name="Shape 108"/>
          <p:cNvSpPr/>
          <p:nvPr/>
        </p:nvSpPr>
        <p:spPr>
          <a:xfrm>
            <a:off x="4762500" y="2286000"/>
            <a:ext cx="3873500" cy="45720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STREAM PROCESSING</a:t>
            </a:r>
          </a:p>
        </p:txBody>
      </p:sp>
      <p:sp>
        <p:nvSpPr>
          <p:cNvPr id="109" name="Shape 109"/>
          <p:cNvSpPr/>
          <p:nvPr/>
        </p:nvSpPr>
        <p:spPr>
          <a:xfrm>
            <a:off x="4889500" y="3048000"/>
            <a:ext cx="889000" cy="635000"/>
          </a:xfrm>
          <a:prstGeom prst="roundRect">
            <a:avLst/>
          </a:prstGeom>
          <a:solidFill>
            <a:srgbClr val="1E293B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400" b="1" dirty="0"/>
              <a:t>Events</a:t>
            </a:r>
          </a:p>
          <a:p>
            <a:pPr algn="ctr">
              <a:buNone/>
            </a:pPr>
            <a:r>
              <a:rPr lang="en-US" sz="1400" dirty="0"/>
              <a:t>(ms)</a:t>
            </a:r>
          </a:p>
        </p:txBody>
      </p:sp>
      <p:sp>
        <p:nvSpPr>
          <p:cNvPr id="110" name="Arrow 110"/>
          <p:cNvSpPr/>
          <p:nvPr/>
        </p:nvSpPr>
        <p:spPr>
          <a:xfrm>
            <a:off x="5842000" y="3238500"/>
            <a:ext cx="444500" cy="254000"/>
          </a:xfrm>
          <a:prstGeom prst="rightArrow">
            <a:avLst/>
          </a:prstGeom>
          <a:solidFill>
            <a:srgbClr val="22D3E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11"/>
          <p:cNvSpPr/>
          <p:nvPr/>
        </p:nvSpPr>
        <p:spPr>
          <a:xfrm>
            <a:off x="6350000" y="3048000"/>
            <a:ext cx="1206500" cy="635000"/>
          </a:xfrm>
          <a:prstGeom prst="roundRect">
            <a:avLst/>
          </a:prstGeom>
          <a:solidFill>
            <a:srgbClr val="22D3EE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Stream App</a:t>
            </a:r>
          </a:p>
        </p:txBody>
      </p:sp>
      <p:sp>
        <p:nvSpPr>
          <p:cNvPr id="112" name="Arrow 112"/>
          <p:cNvSpPr/>
          <p:nvPr/>
        </p:nvSpPr>
        <p:spPr>
          <a:xfrm>
            <a:off x="7620000" y="3238500"/>
            <a:ext cx="444500" cy="254000"/>
          </a:xfrm>
          <a:prstGeom prst="rightArrow">
            <a:avLst/>
          </a:prstGeom>
          <a:solidFill>
            <a:srgbClr val="22D3E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3"/>
          <p:cNvSpPr/>
          <p:nvPr/>
        </p:nvSpPr>
        <p:spPr>
          <a:xfrm>
            <a:off x="8128000" y="3048000"/>
            <a:ext cx="508000" cy="635000"/>
          </a:xfrm>
          <a:prstGeom prst="roundRect">
            <a:avLst/>
          </a:prstGeom>
          <a:solidFill>
            <a:srgbClr val="1E293B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400" b="1" dirty="0"/>
              <a:t>Out</a:t>
            </a:r>
          </a:p>
        </p:txBody>
      </p:sp>
      <p:sp>
        <p:nvSpPr>
          <p:cNvPr id="114" name="Shape 114"/>
          <p:cNvSpPr/>
          <p:nvPr/>
        </p:nvSpPr>
        <p:spPr>
          <a:xfrm>
            <a:off x="4762500" y="3873500"/>
            <a:ext cx="3873500" cy="24765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marL="171450" indent="-171450">
              <a:buFont typeface="Arial"/>
              <a:buChar char="•"/>
            </a:pPr>
            <a:r>
              <a:rPr lang="en-US" sz="1500" dirty="0"/>
              <a:t>Processes unbounded event streams</a:t>
            </a:r>
          </a:p>
          <a:p>
            <a:pPr marL="171450" indent="-171450">
              <a:buFont typeface="Arial"/>
              <a:buChar char="•"/>
            </a:pPr>
            <a:r>
              <a:rPr lang="en-US" sz="1500" dirty="0"/>
              <a:t>Runs continuously, 24/7</a:t>
            </a:r>
          </a:p>
          <a:p>
            <a:pPr marL="171450" indent="-171450">
              <a:buFont typeface="Arial"/>
              <a:buChar char="•"/>
            </a:pPr>
            <a:r>
              <a:rPr lang="en-US" sz="1500" dirty="0"/>
              <a:t>Low latency, event-by-event</a:t>
            </a:r>
          </a:p>
          <a:p>
            <a:pPr marL="171450" indent="-171450">
              <a:buFont typeface="Arial"/>
              <a:buChar char="•"/>
            </a:pPr>
            <a:r>
              <a:rPr lang="en-US" sz="1500" dirty="0"/>
              <a:t>Examples: fraud detection, live dashboards</a:t>
            </a:r>
          </a:p>
          <a:p>
            <a:pPr marL="171450" indent="-171450">
              <a:buFont typeface="Arial"/>
              <a:buChar char="•"/>
            </a:pPr>
            <a:r>
              <a:rPr lang="en-US" sz="1500" dirty="0"/>
              <a:t>Tools: Kafka Streams, Flink, Spark Streaming</a:t>
            </a:r>
          </a:p>
        </p:txBody>
      </p:sp>
    </p:spTree>
    <p:extLst>
      <p:ext uri="{BB962C8B-B14F-4D97-AF65-F5344CB8AC3E}">
        <p14:creationId xmlns:p14="http://schemas.microsoft.com/office/powerpoint/2010/main" val="3707299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Kafka Streams?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Java library for stream processing</a:t>
            </a:r>
          </a:p>
          <a:p>
            <a:pPr>
              <a:defRPr sz="2100"/>
            </a:pPr>
            <a:r>
              <a:t>Built on top of Apache Kafka</a:t>
            </a:r>
          </a:p>
          <a:p>
            <a:pPr>
              <a:defRPr sz="2100"/>
            </a:pPr>
            <a:r>
              <a:t>Provides distributed and fault-tolerant processing</a:t>
            </a:r>
          </a:p>
          <a:p>
            <a:pPr>
              <a:defRPr sz="2100"/>
            </a:pPr>
            <a:r>
              <a:t>No separate cluster required</a:t>
            </a:r>
          </a:p>
          <a:p>
            <a:pPr>
              <a:defRPr sz="2100"/>
            </a:pPr>
            <a:r>
              <a:t>Supports exactly-once processing semantics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Streams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Kafka Topics as input/output</a:t>
            </a:r>
          </a:p>
          <a:p>
            <a:pPr>
              <a:defRPr sz="2100"/>
            </a:pPr>
            <a:r>
              <a:t>Streams application consumes and processes data</a:t>
            </a:r>
          </a:p>
          <a:p>
            <a:pPr>
              <a:defRPr sz="2100"/>
            </a:pPr>
            <a:r>
              <a:t>Local state stores for stateful operations</a:t>
            </a:r>
          </a:p>
          <a:p>
            <a:pPr>
              <a:defRPr sz="2100"/>
            </a:pPr>
            <a:r>
              <a:t>Automatic partition assignment</a:t>
            </a:r>
          </a:p>
          <a:p>
            <a:pPr>
              <a:defRPr sz="2100"/>
            </a:pPr>
            <a:r>
              <a:t>Integrated with Kafka consumer groups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FEF45-8FB3-4809-DE97-85B1648BA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/>
              <a:t>Kafka Streams Architecture in Action</a:t>
            </a:r>
          </a:p>
        </p:txBody>
      </p:sp>
      <p:sp>
        <p:nvSpPr>
          <p:cNvPr id="201" name="Shape 201"/>
          <p:cNvSpPr/>
          <p:nvPr/>
        </p:nvSpPr>
        <p:spPr>
          <a:xfrm>
            <a:off x="762000" y="2540000"/>
            <a:ext cx="1397000" cy="889000"/>
          </a:xfrm>
          <a:prstGeom prst="can">
            <a:avLst/>
          </a:prstGeom>
          <a:solidFill>
            <a:srgbClr val="335B74"/>
          </a:solidFill>
          <a:ln w="0">
            <a:noFill/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Input Topic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(orders)</a:t>
            </a:r>
          </a:p>
        </p:txBody>
      </p:sp>
      <p:sp>
        <p:nvSpPr>
          <p:cNvPr id="202" name="Shape 202"/>
          <p:cNvSpPr/>
          <p:nvPr/>
        </p:nvSpPr>
        <p:spPr>
          <a:xfrm>
            <a:off x="762000" y="3746500"/>
            <a:ext cx="1397000" cy="889000"/>
          </a:xfrm>
          <a:prstGeom prst="can">
            <a:avLst/>
          </a:prstGeom>
          <a:solidFill>
            <a:srgbClr val="335B74"/>
          </a:solidFill>
          <a:ln w="0">
            <a:noFill/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Input Topic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(customers)</a:t>
            </a:r>
          </a:p>
        </p:txBody>
      </p:sp>
      <p:sp>
        <p:nvSpPr>
          <p:cNvPr id="203" name="Shape 203"/>
          <p:cNvSpPr/>
          <p:nvPr/>
        </p:nvSpPr>
        <p:spPr>
          <a:xfrm>
            <a:off x="2286000" y="3429000"/>
            <a:ext cx="635000" cy="317500"/>
          </a:xfrm>
          <a:prstGeom prst="rightArrow">
            <a:avLst/>
          </a:prstGeom>
          <a:solidFill>
            <a:srgbClr val="22D3EE"/>
          </a:solidFill>
          <a:ln w="0">
            <a:noFill/>
          </a:ln>
        </p:spPr>
        <p:txBody>
          <a:bodyPr wrap="square" lIns="45720" tIns="36576" rIns="45720" bIns="36576" anchor="ctr"/>
          <a:lstStyle/>
          <a:p>
            <a:endParaRPr lang="en-US"/>
          </a:p>
        </p:txBody>
      </p:sp>
      <p:sp>
        <p:nvSpPr>
          <p:cNvPr id="204" name="Shape 204"/>
          <p:cNvSpPr/>
          <p:nvPr/>
        </p:nvSpPr>
        <p:spPr>
          <a:xfrm>
            <a:off x="3048000" y="2476500"/>
            <a:ext cx="2794000" cy="2286000"/>
          </a:xfrm>
          <a:prstGeom prst="roundRect">
            <a:avLst/>
          </a:prstGeom>
          <a:solidFill>
            <a:srgbClr val="22D3EE"/>
          </a:solidFill>
          <a:ln w="19050">
            <a:solidFill>
              <a:srgbClr val="334155"/>
            </a:solidFill>
          </a:ln>
        </p:spPr>
        <p:txBody>
          <a:bodyPr wrap="square" lIns="45720" tIns="36576" rIns="45720" bIns="36576" anchor="ctr"/>
          <a:lstStyle/>
          <a:p>
            <a:endParaRPr lang="en-US"/>
          </a:p>
        </p:txBody>
      </p:sp>
      <p:sp>
        <p:nvSpPr>
          <p:cNvPr id="205" name="Shape 205"/>
          <p:cNvSpPr/>
          <p:nvPr/>
        </p:nvSpPr>
        <p:spPr>
          <a:xfrm>
            <a:off x="3175000" y="2540000"/>
            <a:ext cx="2540000" cy="3556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r>
              <a:rPr lang="en-US" sz="1500" b="1" dirty="0">
                <a:solidFill>
                  <a:srgbClr val="22D3EE"/>
                </a:solidFill>
              </a:rPr>
              <a:t>Streams Application</a:t>
            </a:r>
          </a:p>
        </p:txBody>
      </p:sp>
      <p:sp>
        <p:nvSpPr>
          <p:cNvPr id="206" name="Shape 206"/>
          <p:cNvSpPr/>
          <p:nvPr/>
        </p:nvSpPr>
        <p:spPr>
          <a:xfrm>
            <a:off x="3238500" y="3048000"/>
            <a:ext cx="1143000" cy="698500"/>
          </a:xfrm>
          <a:prstGeom prst="roundRect">
            <a:avLst/>
          </a:prstGeom>
          <a:solidFill>
            <a:srgbClr val="1E293B"/>
          </a:solidFill>
          <a:ln w="0">
            <a:noFill/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Topology</a:t>
            </a:r>
          </a:p>
          <a:p>
            <a:pPr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(processors)</a:t>
            </a:r>
          </a:p>
        </p:txBody>
      </p:sp>
      <p:sp>
        <p:nvSpPr>
          <p:cNvPr id="207" name="Shape 207"/>
          <p:cNvSpPr/>
          <p:nvPr/>
        </p:nvSpPr>
        <p:spPr>
          <a:xfrm>
            <a:off x="4508500" y="3048000"/>
            <a:ext cx="1143000" cy="698500"/>
          </a:xfrm>
          <a:prstGeom prst="roundRect">
            <a:avLst/>
          </a:prstGeom>
          <a:solidFill>
            <a:srgbClr val="1E293B"/>
          </a:solidFill>
          <a:ln w="0">
            <a:noFill/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State</a:t>
            </a:r>
          </a:p>
          <a:p>
            <a:pPr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Store</a:t>
            </a:r>
          </a:p>
        </p:txBody>
      </p:sp>
      <p:sp>
        <p:nvSpPr>
          <p:cNvPr id="208" name="Shape 208"/>
          <p:cNvSpPr/>
          <p:nvPr/>
        </p:nvSpPr>
        <p:spPr>
          <a:xfrm>
            <a:off x="3238500" y="3873500"/>
            <a:ext cx="2413000" cy="762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r>
              <a:rPr lang="en-US" sz="1200" dirty="0">
                <a:solidFill>
                  <a:srgbClr val="F8FAFC"/>
                </a:solidFill>
              </a:rPr>
              <a:t>Thread → Tasks → Partitions</a:t>
            </a:r>
          </a:p>
          <a:p>
            <a:pPr algn="ctr">
              <a:buNone/>
            </a:pPr>
            <a:r>
              <a:rPr lang="en-US" sz="1200" dirty="0">
                <a:solidFill>
                  <a:srgbClr val="F8FAFC"/>
                </a:solidFill>
              </a:rPr>
              <a:t>(parallelism unit)</a:t>
            </a:r>
          </a:p>
        </p:txBody>
      </p:sp>
      <p:sp>
        <p:nvSpPr>
          <p:cNvPr id="209" name="Shape 209"/>
          <p:cNvSpPr/>
          <p:nvPr/>
        </p:nvSpPr>
        <p:spPr>
          <a:xfrm>
            <a:off x="5969000" y="3429000"/>
            <a:ext cx="635000" cy="317500"/>
          </a:xfrm>
          <a:prstGeom prst="rightArrow">
            <a:avLst/>
          </a:prstGeom>
          <a:solidFill>
            <a:srgbClr val="22D3EE"/>
          </a:solidFill>
          <a:ln w="0">
            <a:noFill/>
          </a:ln>
        </p:spPr>
        <p:txBody>
          <a:bodyPr wrap="square" lIns="45720" tIns="36576" rIns="45720" bIns="36576" anchor="ctr"/>
          <a:lstStyle/>
          <a:p>
            <a:endParaRPr lang="en-US"/>
          </a:p>
        </p:txBody>
      </p:sp>
      <p:sp>
        <p:nvSpPr>
          <p:cNvPr id="210" name="Shape 210"/>
          <p:cNvSpPr/>
          <p:nvPr/>
        </p:nvSpPr>
        <p:spPr>
          <a:xfrm>
            <a:off x="6731000" y="3111500"/>
            <a:ext cx="1397000" cy="889000"/>
          </a:xfrm>
          <a:prstGeom prst="can">
            <a:avLst/>
          </a:prstGeom>
          <a:solidFill>
            <a:srgbClr val="A78BFA"/>
          </a:solidFill>
          <a:ln w="0">
            <a:noFill/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Output Topic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(results)</a:t>
            </a:r>
          </a:p>
        </p:txBody>
      </p:sp>
      <p:sp>
        <p:nvSpPr>
          <p:cNvPr id="211" name="Shape 211"/>
          <p:cNvSpPr/>
          <p:nvPr/>
        </p:nvSpPr>
        <p:spPr>
          <a:xfrm>
            <a:off x="3556000" y="5334000"/>
            <a:ext cx="1778000" cy="825500"/>
          </a:xfrm>
          <a:prstGeom prst="can">
            <a:avLst/>
          </a:prstGeom>
          <a:solidFill>
            <a:srgbClr val="335B74"/>
          </a:solidFill>
          <a:ln w="0">
            <a:noFill/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Changelog Topic</a:t>
            </a:r>
          </a:p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(state backup)</a:t>
            </a:r>
          </a:p>
        </p:txBody>
      </p:sp>
      <p:sp>
        <p:nvSpPr>
          <p:cNvPr id="212" name="Shape 212"/>
          <p:cNvSpPr/>
          <p:nvPr/>
        </p:nvSpPr>
        <p:spPr>
          <a:xfrm>
            <a:off x="4889500" y="4826000"/>
            <a:ext cx="317500" cy="508000"/>
          </a:xfrm>
          <a:prstGeom prst="downArrow">
            <a:avLst/>
          </a:prstGeom>
          <a:solidFill>
            <a:srgbClr val="64748B"/>
          </a:solidFill>
          <a:ln w="0">
            <a:noFill/>
          </a:ln>
        </p:spPr>
        <p:txBody>
          <a:bodyPr wrap="square" lIns="45720" tIns="36576" rIns="45720" bIns="36576" anchor="ctr"/>
          <a:lstStyle/>
          <a:p>
            <a:endParaRPr lang="en-US"/>
          </a:p>
        </p:txBody>
      </p:sp>
      <p:sp>
        <p:nvSpPr>
          <p:cNvPr id="213" name="Shape 213"/>
          <p:cNvSpPr/>
          <p:nvPr/>
        </p:nvSpPr>
        <p:spPr>
          <a:xfrm>
            <a:off x="762000" y="5334000"/>
            <a:ext cx="2540000" cy="88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txBody>
          <a:bodyPr wrap="square" lIns="45720" tIns="36576" rIns="45720" bIns="36576" anchor="ctr"/>
          <a:lstStyle/>
          <a:p>
            <a:pPr algn="l">
              <a:buNone/>
            </a:pPr>
            <a:r>
              <a:rPr lang="en-US" sz="1300" b="1" dirty="0"/>
              <a:t>Read → Process → Write</a:t>
            </a:r>
          </a:p>
          <a:p>
            <a:pPr algn="l">
              <a:buNone/>
            </a:pPr>
            <a:r>
              <a:rPr lang="en-US" sz="1200" dirty="0"/>
              <a:t>App is just a JVM process; no extra cluster.</a:t>
            </a:r>
          </a:p>
        </p:txBody>
      </p:sp>
      <p:sp>
        <p:nvSpPr>
          <p:cNvPr id="214" name="Shape 214"/>
          <p:cNvSpPr/>
          <p:nvPr/>
        </p:nvSpPr>
        <p:spPr>
          <a:xfrm>
            <a:off x="5842000" y="5334000"/>
            <a:ext cx="2540000" cy="88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txBody>
          <a:bodyPr wrap="square" lIns="45720" tIns="36576" rIns="45720" bIns="36576" anchor="ctr"/>
          <a:lstStyle/>
          <a:p>
            <a:pPr algn="l">
              <a:buNone/>
            </a:pPr>
            <a:r>
              <a:rPr lang="en-US" sz="1300" b="1" dirty="0"/>
              <a:t>State is durable</a:t>
            </a:r>
          </a:p>
          <a:p>
            <a:pPr algn="l">
              <a:buNone/>
            </a:pPr>
            <a:r>
              <a:rPr lang="en-US" sz="1200" dirty="0"/>
              <a:t>Each store is backed by a Kafka changelog topic.</a:t>
            </a:r>
          </a:p>
        </p:txBody>
      </p:sp>
    </p:spTree>
    <p:extLst>
      <p:ext uri="{BB962C8B-B14F-4D97-AF65-F5344CB8AC3E}">
        <p14:creationId xmlns:p14="http://schemas.microsoft.com/office/powerpoint/2010/main" val="1013158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Components of Kafka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800" b="1" dirty="0"/>
              <a:t>Source Processor</a:t>
            </a:r>
          </a:p>
          <a:p>
            <a:pPr marL="28575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Reads records from one or more Kafka topics into the topology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800" b="1" dirty="0"/>
              <a:t>Stream Processor</a:t>
            </a:r>
          </a:p>
          <a:p>
            <a:pPr marL="28575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Applies transformations: map, filter, join, aggregate, branch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800" b="1" dirty="0"/>
              <a:t>Sink Processor</a:t>
            </a:r>
          </a:p>
          <a:p>
            <a:pPr marL="28575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Writes processed records back to output topics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800" b="1" dirty="0"/>
              <a:t>State Store</a:t>
            </a:r>
          </a:p>
          <a:p>
            <a:pPr marL="28575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Local key-value store (RocksDB by default), backed by a changelog topic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800" b="1" dirty="0"/>
              <a:t>Topology</a:t>
            </a:r>
          </a:p>
          <a:p>
            <a:pPr marL="28575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The DAG of processors that defines your end-to-end pipeline</a:t>
            </a:r>
          </a:p>
        </p:txBody>
      </p:sp>
    </p:spTree>
    <p:extLst>
      <p:ext uri="{BB962C8B-B14F-4D97-AF65-F5344CB8AC3E}">
        <p14:creationId xmlns:p14="http://schemas.microsoft.com/office/powerpoint/2010/main" val="1493519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Streams API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Read data from source topic</a:t>
            </a:r>
          </a:p>
          <a:p>
            <a:pPr>
              <a:defRPr sz="2100"/>
            </a:pPr>
            <a:r>
              <a:t>Apply transformations</a:t>
            </a:r>
          </a:p>
          <a:p>
            <a:pPr>
              <a:defRPr sz="2100"/>
            </a:pPr>
            <a:r>
              <a:t>Perform filtering and aggregation</a:t>
            </a:r>
          </a:p>
          <a:p>
            <a:pPr>
              <a:defRPr sz="2100"/>
            </a:pPr>
            <a:r>
              <a:t>Write results to output topic</a:t>
            </a:r>
          </a:p>
          <a:p>
            <a:pPr>
              <a:defRPr sz="2100"/>
            </a:pPr>
            <a:r>
              <a:t>Continuous processing of events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45215-5FC5-7478-2BB9-69BDA216A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/>
              <a:t>Discussion Lab: Design Your First Pipeline</a:t>
            </a:r>
          </a:p>
        </p:txBody>
      </p:sp>
      <p:sp>
        <p:nvSpPr>
          <p:cNvPr id="301" name="Shape 301"/>
          <p:cNvSpPr/>
          <p:nvPr/>
        </p:nvSpPr>
        <p:spPr>
          <a:xfrm>
            <a:off x="762000" y="2222500"/>
            <a:ext cx="7620000" cy="40640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txBody>
          <a:bodyPr wrap="square" lIns="91440" tIns="54864" rIns="91440" bIns="54864" anchor="ctr"/>
          <a:lstStyle/>
          <a:p>
            <a:pPr algn="l">
              <a:buNone/>
            </a:pPr>
            <a:r>
              <a:rPr lang="en-US" sz="1600" b="1" dirty="0">
                <a:solidFill>
                  <a:srgbClr val="0F172A"/>
                </a:solidFill>
              </a:rPr>
              <a:t>⏱  15-min group exercise  •  Sketch on paper or whiteboard</a:t>
            </a:r>
          </a:p>
        </p:txBody>
      </p:sp>
      <p:sp>
        <p:nvSpPr>
          <p:cNvPr id="302" name="Shape 302"/>
          <p:cNvSpPr/>
          <p:nvPr/>
        </p:nvSpPr>
        <p:spPr>
          <a:xfrm>
            <a:off x="762000" y="2794000"/>
            <a:ext cx="7620000" cy="12065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</a:ln>
        </p:spPr>
        <p:txBody>
          <a:bodyPr wrap="square" lIns="91440" tIns="54864" rIns="91440" bIns="54864" anchor="t"/>
          <a:lstStyle/>
          <a:p>
            <a:pPr algn="l">
              <a:buNone/>
            </a:pPr>
            <a:r>
              <a:rPr lang="en-US" sz="1500" b="1" dirty="0">
                <a:solidFill>
                  <a:srgbClr val="22D3EE"/>
                </a:solidFill>
              </a:rPr>
              <a:t>Scenario</a:t>
            </a:r>
          </a:p>
          <a:p>
            <a:pPr algn="l">
              <a:buNone/>
            </a:pPr>
            <a:r>
              <a:rPr lang="en-US" sz="1500" dirty="0">
                <a:solidFill>
                  <a:srgbClr val="E2E8F0"/>
                </a:solidFill>
              </a:rPr>
              <a:t>An e-commerce site produces a stream of </a:t>
            </a:r>
            <a:r>
              <a:rPr lang="en-US" sz="1500" b="1" dirty="0">
                <a:solidFill>
                  <a:srgbClr val="E2E8F0"/>
                </a:solidFill>
              </a:rPr>
              <a:t>order events</a:t>
            </a:r>
            <a:r>
              <a:rPr lang="en-US" sz="1500" dirty="0">
                <a:solidFill>
                  <a:srgbClr val="E2E8F0"/>
                </a:solidFill>
              </a:rPr>
              <a:t>. Marketing wants a live feed of </a:t>
            </a:r>
            <a:r>
              <a:rPr lang="en-US" sz="1500" b="1" dirty="0">
                <a:solidFill>
                  <a:srgbClr val="E2E8F0"/>
                </a:solidFill>
              </a:rPr>
              <a:t>orders above ₹5,000</a:t>
            </a:r>
            <a:r>
              <a:rPr lang="en-US" sz="1500" dirty="0">
                <a:solidFill>
                  <a:srgbClr val="E2E8F0"/>
                </a:solidFill>
              </a:rPr>
              <a:t> so they can trigger VIP notifications in real time.</a:t>
            </a:r>
          </a:p>
        </p:txBody>
      </p:sp>
      <p:sp>
        <p:nvSpPr>
          <p:cNvPr id="303" name="Shape 303"/>
          <p:cNvSpPr/>
          <p:nvPr/>
        </p:nvSpPr>
        <p:spPr>
          <a:xfrm>
            <a:off x="762000" y="4191000"/>
            <a:ext cx="3683000" cy="22225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</a:ln>
        </p:spPr>
        <p:txBody>
          <a:bodyPr wrap="square" lIns="91440" tIns="54864" rIns="91440" bIns="54864" anchor="t"/>
          <a:lstStyle/>
          <a:p>
            <a:pPr algn="l">
              <a:buNone/>
            </a:pPr>
            <a:r>
              <a:rPr lang="en-US" sz="1500" b="1" dirty="0">
                <a:solidFill>
                  <a:srgbClr val="22D3EE"/>
                </a:solidFill>
              </a:rPr>
              <a:t>Discuss in pairs</a:t>
            </a:r>
          </a:p>
          <a:p>
            <a:pPr marL="228600" indent="-228600">
              <a:buFont typeface="Arial"/>
              <a:buAutoNum type="arabicPeriod"/>
            </a:pPr>
            <a:r>
              <a:rPr lang="en-US" sz="1400" dirty="0">
                <a:solidFill>
                  <a:srgbClr val="E2E8F0"/>
                </a:solidFill>
              </a:rPr>
              <a:t>What is the input topic? Output topic?</a:t>
            </a:r>
          </a:p>
          <a:p>
            <a:pPr marL="228600" indent="-228600">
              <a:buFont typeface="Arial"/>
              <a:buAutoNum type="arabicPeriod"/>
            </a:pPr>
            <a:r>
              <a:rPr lang="en-US" sz="1400" dirty="0">
                <a:solidFill>
                  <a:srgbClr val="E2E8F0"/>
                </a:solidFill>
              </a:rPr>
              <a:t>Which transformation removes small orders?</a:t>
            </a:r>
          </a:p>
          <a:p>
            <a:pPr marL="228600" indent="-228600">
              <a:buFont typeface="Arial"/>
              <a:buAutoNum type="arabicPeriod"/>
            </a:pPr>
            <a:r>
              <a:rPr lang="en-US" sz="1400" dirty="0">
                <a:solidFill>
                  <a:srgbClr val="E2E8F0"/>
                </a:solidFill>
              </a:rPr>
              <a:t>Stateless or stateful? Why?</a:t>
            </a:r>
          </a:p>
          <a:p>
            <a:pPr marL="228600" indent="-228600">
              <a:buFont typeface="Arial"/>
              <a:buAutoNum type="arabicPeriod"/>
            </a:pPr>
            <a:r>
              <a:rPr lang="en-US" sz="1400" dirty="0">
                <a:solidFill>
                  <a:srgbClr val="E2E8F0"/>
                </a:solidFill>
              </a:rPr>
              <a:t>How would partitioning affect throughput?</a:t>
            </a:r>
          </a:p>
        </p:txBody>
      </p:sp>
      <p:sp>
        <p:nvSpPr>
          <p:cNvPr id="304" name="Shape 304"/>
          <p:cNvSpPr/>
          <p:nvPr/>
        </p:nvSpPr>
        <p:spPr>
          <a:xfrm>
            <a:off x="4699000" y="4191000"/>
            <a:ext cx="3683000" cy="2222500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txBody>
          <a:bodyPr wrap="square" lIns="91440" tIns="54864" rIns="91440" bIns="54864" anchor="t"/>
          <a:lstStyle/>
          <a:p>
            <a:pPr algn="l">
              <a:buNone/>
            </a:pPr>
            <a:r>
              <a:rPr lang="en-US" sz="1500" b="1" dirty="0">
                <a:solidFill>
                  <a:srgbClr val="A78BFA"/>
                </a:solidFill>
              </a:rPr>
              <a:t>Hints to share</a:t>
            </a:r>
          </a:p>
          <a:p>
            <a:pPr marL="171450" indent="-171450">
              <a:buFont typeface="Arial"/>
              <a:buChar char="•"/>
            </a:pPr>
            <a:r>
              <a:rPr lang="en-US" sz="1400" dirty="0">
                <a:solidFill>
                  <a:srgbClr val="E2E8F0"/>
                </a:solidFill>
              </a:rPr>
              <a:t>Think Read → Process → Write</a:t>
            </a:r>
          </a:p>
          <a:p>
            <a:pPr marL="171450" indent="-171450">
              <a:buFont typeface="Arial"/>
              <a:buChar char="•"/>
            </a:pPr>
            <a:r>
              <a:rPr lang="en-US" sz="1400" dirty="0">
                <a:solidFill>
                  <a:srgbClr val="E2E8F0"/>
                </a:solidFill>
              </a:rPr>
              <a:t>filter() vs aggregate() — only one keeps history</a:t>
            </a:r>
          </a:p>
          <a:p>
            <a:pPr marL="171450" indent="-171450">
              <a:buFont typeface="Arial"/>
              <a:buChar char="•"/>
            </a:pPr>
            <a:r>
              <a:rPr lang="en-US" sz="1400" dirty="0">
                <a:solidFill>
                  <a:srgbClr val="E2E8F0"/>
                </a:solidFill>
              </a:rPr>
              <a:t>Partition count = max parallel tasks</a:t>
            </a:r>
          </a:p>
          <a:p>
            <a:pPr marL="171450" indent="-171450">
              <a:buFont typeface="Arial"/>
              <a:buChar char="•"/>
            </a:pPr>
            <a:r>
              <a:rPr lang="en-US" sz="1400" dirty="0">
                <a:solidFill>
                  <a:srgbClr val="E2E8F0"/>
                </a:solidFill>
              </a:rPr>
              <a:t>Output is just another Kafka topic</a:t>
            </a:r>
          </a:p>
        </p:txBody>
      </p:sp>
    </p:spTree>
    <p:extLst>
      <p:ext uri="{BB962C8B-B14F-4D97-AF65-F5344CB8AC3E}">
        <p14:creationId xmlns:p14="http://schemas.microsoft.com/office/powerpoint/2010/main" val="390623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KStream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800" b="1" dirty="0"/>
              <a:t>Represents an unbounded stream of records</a:t>
            </a:r>
          </a:p>
          <a:p>
            <a:pPr marL="28575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Each record is an immutable event — a fact that happened at a point in time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800" b="1" dirty="0"/>
              <a:t>Records are independent and append-only</a:t>
            </a:r>
          </a:p>
          <a:p>
            <a:pPr marL="28575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Two records with the same key are NOT an update — they are two separate events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800" b="1" dirty="0"/>
              <a:t>Ideal for event logs and audit trails</a:t>
            </a:r>
          </a:p>
          <a:p>
            <a:pPr marL="28575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Clicks, page views, sensor readings, payment transactions, log lines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800" b="1" dirty="0"/>
              <a:t>Built from a topic via builder.stream(topic)</a:t>
            </a:r>
          </a:p>
          <a:p>
            <a:pPr marL="28575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Supports map, filter, flatMap, branch, foreach, peek and stream-stream joins</a:t>
            </a:r>
          </a:p>
        </p:txBody>
      </p:sp>
    </p:spTree>
    <p:extLst>
      <p:ext uri="{BB962C8B-B14F-4D97-AF65-F5344CB8AC3E}">
        <p14:creationId xmlns:p14="http://schemas.microsoft.com/office/powerpoint/2010/main" val="3783696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KTable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800" b="1" dirty="0"/>
              <a:t>Represents a changelog of the latest value per key</a:t>
            </a:r>
          </a:p>
          <a:p>
            <a:pPr marL="28575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A new record with an existing key overwrites the previous value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800" b="1" dirty="0"/>
              <a:t>Materialized into a local state store</a:t>
            </a:r>
          </a:p>
          <a:p>
            <a:pPr marL="28575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Lookup-by-key is local and fast — no broker round-trip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800" b="1" dirty="0"/>
              <a:t>A null value is a tombstone (delete)</a:t>
            </a:r>
          </a:p>
          <a:p>
            <a:pPr marL="28575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Sending key=K, value=null removes K from the table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800" b="1" dirty="0"/>
              <a:t>Ideal for current-state views</a:t>
            </a:r>
          </a:p>
          <a:p>
            <a:pPr marL="28575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User profiles, current account balances, product catalog, latest device status</a:t>
            </a:r>
          </a:p>
        </p:txBody>
      </p:sp>
    </p:spTree>
    <p:extLst>
      <p:ext uri="{BB962C8B-B14F-4D97-AF65-F5344CB8AC3E}">
        <p14:creationId xmlns:p14="http://schemas.microsoft.com/office/powerpoint/2010/main" val="3884789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KStream vs KTable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KStream → event stream</a:t>
            </a:r>
          </a:p>
          <a:p>
            <a:pPr>
              <a:defRPr sz="2100"/>
            </a:pPr>
            <a:r>
              <a:t>KTable → current state representation</a:t>
            </a:r>
          </a:p>
          <a:p>
            <a:pPr>
              <a:defRPr sz="2100"/>
            </a:pPr>
            <a:r>
              <a:t>KStream processes all events</a:t>
            </a:r>
          </a:p>
          <a:p>
            <a:pPr>
              <a:defRPr sz="2100"/>
            </a:pPr>
            <a:r>
              <a:t>KTable stores latest value per key</a:t>
            </a:r>
          </a:p>
          <a:p>
            <a:pPr>
              <a:defRPr sz="2100"/>
            </a:pPr>
            <a:r>
              <a:t>KTable supports stateful operations efficiently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0F401-CF10-A19A-D896-13704F10E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/>
              <a:t>Discussion Lab: Stream or Table?</a:t>
            </a:r>
          </a:p>
        </p:txBody>
      </p:sp>
      <p:sp>
        <p:nvSpPr>
          <p:cNvPr id="401" name="Shape 401"/>
          <p:cNvSpPr/>
          <p:nvPr/>
        </p:nvSpPr>
        <p:spPr>
          <a:xfrm>
            <a:off x="762000" y="2222500"/>
            <a:ext cx="7620000" cy="40640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txBody>
          <a:bodyPr wrap="square" lIns="91440" tIns="54864" rIns="91440" bIns="54864" anchor="ctr"/>
          <a:lstStyle/>
          <a:p>
            <a:pPr algn="l">
              <a:buNone/>
            </a:pPr>
            <a:r>
              <a:rPr lang="en-US" sz="1600" b="1" dirty="0">
                <a:solidFill>
                  <a:srgbClr val="0F172A"/>
                </a:solidFill>
              </a:rPr>
              <a:t>⏱  10-min table discussion  •  Decide KStream or KTable for each</a:t>
            </a:r>
          </a:p>
        </p:txBody>
      </p:sp>
      <p:sp>
        <p:nvSpPr>
          <p:cNvPr id="402" name="Shape 402"/>
          <p:cNvSpPr/>
          <p:nvPr/>
        </p:nvSpPr>
        <p:spPr>
          <a:xfrm>
            <a:off x="762000" y="2857500"/>
            <a:ext cx="3746500" cy="1714500"/>
          </a:xfrm>
          <a:prstGeom prst="rect">
            <a:avLst/>
          </a:prstGeom>
          <a:solidFill>
            <a:srgbClr val="1E293B"/>
          </a:solidFill>
          <a:ln w="19050">
            <a:solidFill>
              <a:srgbClr val="22D3EE"/>
            </a:solidFill>
          </a:ln>
        </p:spPr>
        <p:txBody>
          <a:bodyPr wrap="square" lIns="91440" tIns="54864" rIns="91440" bIns="54864" anchor="t"/>
          <a:lstStyle/>
          <a:p>
            <a:pPr algn="l">
              <a:buNone/>
            </a:pPr>
            <a:r>
              <a:rPr lang="en-US" sz="1600" b="1" dirty="0">
                <a:solidFill>
                  <a:srgbClr val="22D3EE"/>
                </a:solidFill>
              </a:rPr>
              <a:t>1. Click events from a website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i="1" dirty="0">
                <a:solidFill>
                  <a:srgbClr val="94A3B8"/>
                </a:solidFill>
              </a:rPr>
              <a:t>Every click recorded forever, no overwrite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400" b="1" dirty="0">
                <a:solidFill>
                  <a:srgbClr val="E2E8F0"/>
                </a:solidFill>
              </a:rPr>
              <a:t>Stream or Table? Why?</a:t>
            </a:r>
          </a:p>
        </p:txBody>
      </p:sp>
      <p:sp>
        <p:nvSpPr>
          <p:cNvPr id="403" name="Shape 403"/>
          <p:cNvSpPr/>
          <p:nvPr/>
        </p:nvSpPr>
        <p:spPr>
          <a:xfrm>
            <a:off x="4635500" y="2857500"/>
            <a:ext cx="3746500" cy="1714500"/>
          </a:xfrm>
          <a:prstGeom prst="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txBody>
          <a:bodyPr wrap="square" lIns="91440" tIns="54864" rIns="91440" bIns="54864" anchor="t"/>
          <a:lstStyle/>
          <a:p>
            <a:pPr algn="l">
              <a:buNone/>
            </a:pPr>
            <a:r>
              <a:rPr lang="en-US" sz="1600" b="1" dirty="0">
                <a:solidFill>
                  <a:srgbClr val="A78BFA"/>
                </a:solidFill>
              </a:rPr>
              <a:t>2. Current shopping cart per user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i="1" dirty="0">
                <a:solidFill>
                  <a:srgbClr val="94A3B8"/>
                </a:solidFill>
              </a:rPr>
              <a:t>Latest items per user's cart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400" b="1" dirty="0">
                <a:solidFill>
                  <a:srgbClr val="E2E8F0"/>
                </a:solidFill>
              </a:rPr>
              <a:t>Stream or Table? Why?</a:t>
            </a:r>
          </a:p>
        </p:txBody>
      </p:sp>
      <p:sp>
        <p:nvSpPr>
          <p:cNvPr id="404" name="Shape 404"/>
          <p:cNvSpPr/>
          <p:nvPr/>
        </p:nvSpPr>
        <p:spPr>
          <a:xfrm>
            <a:off x="762000" y="4699000"/>
            <a:ext cx="3746500" cy="1714500"/>
          </a:xfrm>
          <a:prstGeom prst="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txBody>
          <a:bodyPr wrap="square" lIns="91440" tIns="54864" rIns="91440" bIns="54864" anchor="t"/>
          <a:lstStyle/>
          <a:p>
            <a:pPr algn="l">
              <a:buNone/>
            </a:pPr>
            <a:r>
              <a:rPr lang="en-US" sz="1600" b="1" dirty="0">
                <a:solidFill>
                  <a:srgbClr val="14B8A6"/>
                </a:solidFill>
              </a:rPr>
              <a:t>3. Live temperature readings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i="1" dirty="0">
                <a:solidFill>
                  <a:srgbClr val="94A3B8"/>
                </a:solidFill>
              </a:rPr>
              <a:t>Sensor sends a new value every second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400" b="1" dirty="0">
                <a:solidFill>
                  <a:srgbClr val="E2E8F0"/>
                </a:solidFill>
              </a:rPr>
              <a:t>Stream or Table? Why?</a:t>
            </a:r>
          </a:p>
        </p:txBody>
      </p:sp>
      <p:sp>
        <p:nvSpPr>
          <p:cNvPr id="405" name="Shape 405"/>
          <p:cNvSpPr/>
          <p:nvPr/>
        </p:nvSpPr>
        <p:spPr>
          <a:xfrm>
            <a:off x="4635500" y="4699000"/>
            <a:ext cx="3746500" cy="171450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txBody>
          <a:bodyPr wrap="square" lIns="91440" tIns="54864" rIns="91440" bIns="54864" anchor="t"/>
          <a:lstStyle/>
          <a:p>
            <a:pPr algn="l">
              <a:buNone/>
            </a:pPr>
            <a:r>
              <a:rPr lang="en-US" sz="1600" b="1" dirty="0">
                <a:solidFill>
                  <a:srgbClr val="F59E0B"/>
                </a:solidFill>
              </a:rPr>
              <a:t>4. Latest stock price per ticker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i="1" dirty="0">
                <a:solidFill>
                  <a:srgbClr val="94A3B8"/>
                </a:solidFill>
              </a:rPr>
              <a:t>Only the most recent value matters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400" b="1" dirty="0">
                <a:solidFill>
                  <a:srgbClr val="E2E8F0"/>
                </a:solidFill>
              </a:rPr>
              <a:t>Stream or Table? Why?</a:t>
            </a:r>
          </a:p>
        </p:txBody>
      </p:sp>
    </p:spTree>
    <p:extLst>
      <p:ext uri="{BB962C8B-B14F-4D97-AF65-F5344CB8AC3E}">
        <p14:creationId xmlns:p14="http://schemas.microsoft.com/office/powerpoint/2010/main" val="41360740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Stateless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</a:rPr>
              <a:t>Each record processed independently — no memory of past records, no state store needed.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700" b="1" dirty="0"/>
              <a:t>filter / filterNot</a:t>
            </a:r>
            <a:r>
              <a:rPr lang="en-US" sz="1500" dirty="0"/>
              <a:t> — keep or drop records by predicate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700" b="1" dirty="0"/>
              <a:t>map / mapValues</a:t>
            </a:r>
            <a:r>
              <a:rPr lang="en-US" sz="1500" dirty="0"/>
              <a:t> — transform record (changes key triggers repartition)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700" b="1" dirty="0"/>
              <a:t>flatMap / flatMapValues</a:t>
            </a:r>
            <a:r>
              <a:rPr lang="en-US" sz="1500" dirty="0"/>
              <a:t> — emit zero or more records per input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700" b="1" dirty="0"/>
              <a:t>branch / split</a:t>
            </a:r>
            <a:r>
              <a:rPr lang="en-US" sz="1500" dirty="0"/>
              <a:t> — route records into multiple streams by predicate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700" b="1" dirty="0"/>
              <a:t>peek / foreach</a:t>
            </a:r>
            <a:r>
              <a:rPr lang="en-US" sz="1500" dirty="0"/>
              <a:t> — side-effect observation (logging, metrics)</a:t>
            </a:r>
          </a:p>
          <a:p>
            <a:pPr marL="0" indent="0">
              <a:spcBef>
                <a:spcPts val="700"/>
              </a:spcBef>
              <a:buNone/>
            </a:pPr>
            <a:r>
              <a:rPr lang="en-US" sz="1400" i="1" dirty="0">
                <a:solidFill>
                  <a:srgbClr val="22D3EE"/>
                </a:solidFill>
              </a:rPr>
              <a:t>Tip: prefer mapValues over map when you don't change the key — avoids a costly repartition.</a:t>
            </a:r>
          </a:p>
        </p:txBody>
      </p:sp>
    </p:spTree>
    <p:extLst>
      <p:ext uri="{BB962C8B-B14F-4D97-AF65-F5344CB8AC3E}">
        <p14:creationId xmlns:p14="http://schemas.microsoft.com/office/powerpoint/2010/main" val="1305782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 of Stateless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filter() → remove unwanted records</a:t>
            </a:r>
          </a:p>
          <a:p>
            <a:pPr>
              <a:defRPr sz="2100"/>
            </a:pPr>
            <a:r>
              <a:t>map() → transform records</a:t>
            </a:r>
          </a:p>
          <a:p>
            <a:pPr>
              <a:defRPr sz="2100"/>
            </a:pPr>
            <a:r>
              <a:t>flatMap() → split records</a:t>
            </a:r>
          </a:p>
          <a:p>
            <a:pPr>
              <a:defRPr sz="2100"/>
            </a:pPr>
            <a:r>
              <a:t>branch() → route records</a:t>
            </a:r>
          </a:p>
          <a:p>
            <a:pPr>
              <a:defRPr sz="2100"/>
            </a:pPr>
            <a:r>
              <a:t>peek() → debugging and monitoring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Stateful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</a:rPr>
              <a:t>Operations that remember past records — require a state store and a changelog topic for recovery.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700" b="1" dirty="0"/>
              <a:t>groupByKey / groupBy</a:t>
            </a:r>
            <a:r>
              <a:rPr lang="en-US" sz="1500" dirty="0"/>
              <a:t> — partition by key before any aggregation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700" b="1" dirty="0"/>
              <a:t>count / reduce / aggregate</a:t>
            </a:r>
            <a:r>
              <a:rPr lang="en-US" sz="1500" dirty="0"/>
              <a:t> — fold records per key into a result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700" b="1" dirty="0"/>
              <a:t>join / leftJoin / outerJoin</a:t>
            </a:r>
            <a:r>
              <a:rPr lang="en-US" sz="1500" dirty="0"/>
              <a:t> — stream-stream, stream-table, table-table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700" b="1" dirty="0"/>
              <a:t>windowedBy</a:t>
            </a:r>
            <a:r>
              <a:rPr lang="en-US" sz="1500" dirty="0"/>
              <a:t> — bound aggregations to a time window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700" b="1" dirty="0"/>
              <a:t>suppress</a:t>
            </a:r>
            <a:r>
              <a:rPr lang="en-US" sz="1500" dirty="0"/>
              <a:t> — emit only final window results instead of every update</a:t>
            </a:r>
          </a:p>
          <a:p>
            <a:pPr marL="0" indent="0">
              <a:spcBef>
                <a:spcPts val="700"/>
              </a:spcBef>
              <a:buNone/>
            </a:pPr>
            <a:r>
              <a:rPr lang="en-US" sz="1400" i="1" dirty="0">
                <a:solidFill>
                  <a:srgbClr val="22D3EE"/>
                </a:solidFill>
              </a:rPr>
              <a:t>Tip: stateful ops require co-partitioned input topics (same key, same partition count).</a:t>
            </a:r>
          </a:p>
        </p:txBody>
      </p:sp>
    </p:spTree>
    <p:extLst>
      <p:ext uri="{BB962C8B-B14F-4D97-AF65-F5344CB8AC3E}">
        <p14:creationId xmlns:p14="http://schemas.microsoft.com/office/powerpoint/2010/main" val="15806799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AF874-E991-03BC-C8AA-3CEE696B4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22D3EE"/>
                </a:solidFill>
              </a:rPr>
              <a:t>Discussion Lab: Stateless or Stateful?</a:t>
            </a:r>
          </a:p>
        </p:txBody>
      </p:sp>
      <p:sp>
        <p:nvSpPr>
          <p:cNvPr id="801" name="Banner"/>
          <p:cNvSpPr/>
          <p:nvPr/>
        </p:nvSpPr>
        <p:spPr>
          <a:xfrm>
            <a:off x="762000" y="2222500"/>
            <a:ext cx="7620000" cy="406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wrap="square" lIns="180000" tIns="120000" rIns="180000" bIns="120000" anchor="t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0F172A"/>
                </a:solidFill>
              </a:rPr>
              <a:t>⏱  10-min discussion  •  Pick the right operation type</a:t>
            </a:r>
          </a:p>
        </p:txBody>
      </p:sp>
      <p:sp>
        <p:nvSpPr>
          <p:cNvPr id="802" name="Operations"/>
          <p:cNvSpPr/>
          <p:nvPr/>
        </p:nvSpPr>
        <p:spPr>
          <a:xfrm>
            <a:off x="762000" y="2857500"/>
            <a:ext cx="4064000" cy="3556000"/>
          </a:xfrm>
          <a:prstGeom prst="rect">
            <a:avLst/>
          </a:prstGeom>
          <a:solidFill>
            <a:srgbClr val="1E293B"/>
          </a:solidFill>
          <a:ln w="19050">
            <a:solidFill>
              <a:srgbClr val="22D3EE"/>
            </a:solidFill>
          </a:ln>
        </p:spPr>
        <p:txBody>
          <a:bodyPr wrap="square" lIns="180000" tIns="120000" rIns="180000" bIns="120000" anchor="t"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</a:rPr>
              <a:t>Operations</a:t>
            </a:r>
          </a:p>
          <a:p>
            <a:pPr marL="285750" indent="-285750">
              <a:spcBef>
                <a:spcPts val="600"/>
              </a:spcBef>
              <a:buFont typeface="+mj-lt"/>
              <a:buAutoNum type="arabicPeriod"/>
            </a:pPr>
            <a:r>
              <a:rPr lang="en-US" sz="1600" b="1" dirty="0">
                <a:solidFill>
                  <a:srgbClr val="E2E8F0"/>
                </a:solidFill>
              </a:rPr>
              <a:t>filter() — drop bad records</a:t>
            </a:r>
          </a:p>
          <a:p>
            <a:pPr marL="285750" indent="-285750">
              <a:spcBef>
                <a:spcPts val="500"/>
              </a:spcBef>
              <a:buFont typeface="+mj-lt"/>
              <a:buAutoNum type="arabicPeriod" startAt="2"/>
            </a:pPr>
            <a:r>
              <a:rPr lang="en-US" sz="1600" b="1" dirty="0">
                <a:solidFill>
                  <a:srgbClr val="E2E8F0"/>
                </a:solidFill>
              </a:rPr>
              <a:t>count() per user_id</a:t>
            </a:r>
          </a:p>
          <a:p>
            <a:pPr marL="285750" indent="-285750">
              <a:spcBef>
                <a:spcPts val="500"/>
              </a:spcBef>
              <a:buFont typeface="+mj-lt"/>
              <a:buAutoNum type="arabicPeriod" startAt="3"/>
            </a:pPr>
            <a:r>
              <a:rPr lang="en-US" sz="1600" b="1" dirty="0">
                <a:solidFill>
                  <a:srgbClr val="E2E8F0"/>
                </a:solidFill>
              </a:rPr>
              <a:t>mapValues() — uppercase</a:t>
            </a:r>
          </a:p>
          <a:p>
            <a:pPr marL="285750" indent="-285750">
              <a:spcBef>
                <a:spcPts val="500"/>
              </a:spcBef>
              <a:buFont typeface="+mj-lt"/>
              <a:buAutoNum type="arabicPeriod" startAt="4"/>
            </a:pPr>
            <a:r>
              <a:rPr lang="en-US" sz="1600" b="1" dirty="0">
                <a:solidFill>
                  <a:srgbClr val="E2E8F0"/>
                </a:solidFill>
              </a:rPr>
              <a:t>join() KStream + KTable</a:t>
            </a:r>
          </a:p>
          <a:p>
            <a:pPr marL="285750" indent="-285750">
              <a:spcBef>
                <a:spcPts val="500"/>
              </a:spcBef>
              <a:buFont typeface="+mj-lt"/>
              <a:buAutoNum type="arabicPeriod" startAt="5"/>
            </a:pPr>
            <a:r>
              <a:rPr lang="en-US" sz="1600" b="1" dirty="0">
                <a:solidFill>
                  <a:srgbClr val="E2E8F0"/>
                </a:solidFill>
              </a:rPr>
              <a:t>aggregate() running total</a:t>
            </a:r>
          </a:p>
        </p:txBody>
      </p:sp>
      <p:sp>
        <p:nvSpPr>
          <p:cNvPr id="803" name="Discussion"/>
          <p:cNvSpPr/>
          <p:nvPr/>
        </p:nvSpPr>
        <p:spPr>
          <a:xfrm>
            <a:off x="5016500" y="2857500"/>
            <a:ext cx="3365500" cy="3556000"/>
          </a:xfrm>
          <a:prstGeom prst="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txBody>
          <a:bodyPr wrap="square" lIns="180000" tIns="120000" rIns="180000" bIns="120000" anchor="t"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A78BFA"/>
                </a:solidFill>
              </a:rPr>
              <a:t>Discussion</a:t>
            </a:r>
          </a:p>
          <a:p>
            <a:pPr marL="228600" indent="-228600">
              <a:spcBef>
                <a:spcPts val="500"/>
              </a:spcBef>
              <a:buFont typeface="Arial"/>
              <a:buChar char="•"/>
            </a:pPr>
            <a:r>
              <a:rPr lang="en-US" sz="1500" dirty="0">
                <a:solidFill>
                  <a:srgbClr val="E2E8F0"/>
                </a:solidFill>
              </a:rPr>
              <a:t>Which need a state store?</a:t>
            </a:r>
          </a:p>
          <a:p>
            <a:pPr marL="228600" indent="-228600">
              <a:spcBef>
                <a:spcPts val="500"/>
              </a:spcBef>
              <a:buFont typeface="Arial"/>
              <a:buChar char="•"/>
            </a:pPr>
            <a:r>
              <a:rPr lang="en-US" sz="1500" dirty="0">
                <a:solidFill>
                  <a:srgbClr val="E2E8F0"/>
                </a:solidFill>
              </a:rPr>
              <a:t>Which require a re-keying step?</a:t>
            </a:r>
          </a:p>
          <a:p>
            <a:pPr marL="228600" indent="-228600">
              <a:spcBef>
                <a:spcPts val="500"/>
              </a:spcBef>
              <a:buFont typeface="Arial"/>
              <a:buChar char="•"/>
            </a:pPr>
            <a:r>
              <a:rPr lang="en-US" sz="1500" dirty="0">
                <a:solidFill>
                  <a:srgbClr val="E2E8F0"/>
                </a:solidFill>
              </a:rPr>
              <a:t>Which survive a node restart unchanged?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US" sz="1400" i="1" dirty="0">
                <a:solidFill>
                  <a:srgbClr val="94A3B8"/>
                </a:solidFill>
              </a:rPr>
              <a:t>Mark each S (stateless) or T (stateful) and defend it.</a:t>
            </a:r>
          </a:p>
        </p:txBody>
      </p:sp>
    </p:spTree>
    <p:extLst>
      <p:ext uri="{BB962C8B-B14F-4D97-AF65-F5344CB8AC3E}">
        <p14:creationId xmlns:p14="http://schemas.microsoft.com/office/powerpoint/2010/main" val="30461089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Store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700" b="1" dirty="0"/>
              <a:t>Local, embedded storage inside the Streams app</a:t>
            </a:r>
          </a:p>
          <a:p>
            <a:pPr marL="28575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RocksDB by default; in-memory option for small / hot data</a:t>
            </a:r>
          </a:p>
          <a:p>
            <a:pPr marL="285750" indent="-285750">
              <a:spcBef>
                <a:spcPts val="400"/>
              </a:spcBef>
              <a:buFont typeface="Arial"/>
              <a:buChar char="•"/>
            </a:pPr>
            <a:r>
              <a:rPr lang="en-US" sz="1700" b="1" dirty="0"/>
              <a:t>Backed by a changelog topic in Kafka</a:t>
            </a:r>
          </a:p>
          <a:p>
            <a:pPr marL="28575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Compacted topic — replays the store to rebuild after failure or rebalance</a:t>
            </a:r>
          </a:p>
          <a:p>
            <a:pPr marL="285750" indent="-285750">
              <a:spcBef>
                <a:spcPts val="400"/>
              </a:spcBef>
              <a:buFont typeface="Arial"/>
              <a:buChar char="•"/>
            </a:pPr>
            <a:r>
              <a:rPr lang="en-US" sz="1700" b="1" dirty="0"/>
              <a:t>Standby replicas for fast failover</a:t>
            </a:r>
          </a:p>
          <a:p>
            <a:pPr marL="28575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num.standby.replicas keeps a warm copy on another instance</a:t>
            </a:r>
          </a:p>
          <a:p>
            <a:pPr marL="285750" indent="-285750">
              <a:spcBef>
                <a:spcPts val="400"/>
              </a:spcBef>
              <a:buFont typeface="Arial"/>
              <a:buChar char="•"/>
            </a:pPr>
            <a:r>
              <a:rPr lang="en-US" sz="1700" b="1" dirty="0"/>
              <a:t>Queryable via Interactive Queries</a:t>
            </a:r>
          </a:p>
          <a:p>
            <a:pPr marL="28575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Read store contents directly from the app — turns Streams into a lookup service</a:t>
            </a:r>
          </a:p>
        </p:txBody>
      </p:sp>
    </p:spTree>
    <p:extLst>
      <p:ext uri="{BB962C8B-B14F-4D97-AF65-F5344CB8AC3E}">
        <p14:creationId xmlns:p14="http://schemas.microsoft.com/office/powerpoint/2010/main" val="14640492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Windowing in Kafka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700" b="1" dirty="0"/>
              <a:t>Groups records into time-bounded buckets</a:t>
            </a:r>
          </a:p>
          <a:p>
            <a:pPr marL="28575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Required for aggregations that should reset over time (per minute, per hour, per session)</a:t>
            </a:r>
          </a:p>
          <a:p>
            <a:pPr marL="285750" indent="-285750">
              <a:spcBef>
                <a:spcPts val="400"/>
              </a:spcBef>
              <a:buFont typeface="Arial"/>
              <a:buChar char="•"/>
            </a:pPr>
            <a:r>
              <a:rPr lang="en-US" sz="1700" b="1" dirty="0"/>
              <a:t>Event time, not wall-clock time</a:t>
            </a:r>
          </a:p>
          <a:p>
            <a:pPr marL="28575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A custom TimestampExtractor lets you use a field inside the record</a:t>
            </a:r>
          </a:p>
          <a:p>
            <a:pPr marL="285750" indent="-285750">
              <a:spcBef>
                <a:spcPts val="400"/>
              </a:spcBef>
              <a:buFont typeface="Arial"/>
              <a:buChar char="•"/>
            </a:pPr>
            <a:r>
              <a:rPr lang="en-US" sz="1700" b="1" dirty="0"/>
              <a:t>Grace period for late-arriving data</a:t>
            </a:r>
          </a:p>
          <a:p>
            <a:pPr marL="28575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Late records within grace still update the window; after grace, they are dropped</a:t>
            </a:r>
          </a:p>
          <a:p>
            <a:pPr marL="285750" indent="-285750">
              <a:spcBef>
                <a:spcPts val="400"/>
              </a:spcBef>
              <a:buFont typeface="Arial"/>
              <a:buChar char="•"/>
            </a:pPr>
            <a:r>
              <a:rPr lang="en-US" sz="1700" b="1" dirty="0"/>
              <a:t>Choose window type by use case</a:t>
            </a:r>
          </a:p>
          <a:p>
            <a:pPr marL="28575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Tumbling, hopping, sliding, session — see next slide for visual comparison</a:t>
            </a:r>
          </a:p>
        </p:txBody>
      </p:sp>
    </p:spTree>
    <p:extLst>
      <p:ext uri="{BB962C8B-B14F-4D97-AF65-F5344CB8AC3E}">
        <p14:creationId xmlns:p14="http://schemas.microsoft.com/office/powerpoint/2010/main" val="32187422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Windows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Tumbling Window → fixed non-overlapping windows</a:t>
            </a:r>
          </a:p>
          <a:p>
            <a:pPr>
              <a:defRPr sz="2100"/>
            </a:pPr>
            <a:r>
              <a:t>Hopping Window → overlapping windows</a:t>
            </a:r>
          </a:p>
          <a:p>
            <a:pPr>
              <a:defRPr sz="2100"/>
            </a:pPr>
            <a:r>
              <a:t>Session Window → inactivity-based grouping</a:t>
            </a:r>
          </a:p>
          <a:p>
            <a:pPr>
              <a:defRPr sz="2100"/>
            </a:pPr>
            <a:r>
              <a:t>Sliding Window → continuously moving boundaries</a:t>
            </a:r>
          </a:p>
          <a:p>
            <a:pPr>
              <a:defRPr sz="2100"/>
            </a:pPr>
            <a:r>
              <a:t>Choose based on use case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A7FE5-6258-AB0A-80D7-C051B4BFE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/>
              <a:t>Window Types: Visual Comparison</a:t>
            </a:r>
          </a:p>
        </p:txBody>
      </p:sp>
      <p:sp>
        <p:nvSpPr>
          <p:cNvPr id="701" name="Shape 701"/>
          <p:cNvSpPr/>
          <p:nvPr/>
        </p:nvSpPr>
        <p:spPr>
          <a:xfrm>
            <a:off x="762000" y="2286000"/>
            <a:ext cx="2032000" cy="76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2D3EE"/>
            </a:solidFill>
          </a:ln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n-US" sz="1800" b="1" dirty="0">
                <a:solidFill>
                  <a:srgbClr val="22D3EE"/>
                </a:solidFill>
              </a:rPr>
              <a:t>Tumbling</a:t>
            </a:r>
          </a:p>
          <a:p>
            <a:pPr algn="l">
              <a:buNone/>
            </a:pPr>
            <a:r>
              <a:rPr lang="en-US" sz="1100" b="0" dirty="0">
                <a:solidFill>
                  <a:srgbClr val="595959"/>
                </a:solidFill>
              </a:rPr>
              <a:t>Fixed size, no overlap</a:t>
            </a:r>
          </a:p>
        </p:txBody>
      </p:sp>
      <p:sp>
        <p:nvSpPr>
          <p:cNvPr id="702" name="Shape 702"/>
          <p:cNvSpPr/>
          <p:nvPr/>
        </p:nvSpPr>
        <p:spPr>
          <a:xfrm>
            <a:off x="2921000" y="2654300"/>
            <a:ext cx="5207000" cy="2540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3" name="Shape 703"/>
          <p:cNvSpPr/>
          <p:nvPr/>
        </p:nvSpPr>
        <p:spPr>
          <a:xfrm>
            <a:off x="762000" y="3302000"/>
            <a:ext cx="2032000" cy="76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n-US" sz="1800" b="1" dirty="0">
                <a:solidFill>
                  <a:srgbClr val="0EA5E9"/>
                </a:solidFill>
              </a:rPr>
              <a:t>Hopping</a:t>
            </a:r>
          </a:p>
          <a:p>
            <a:pPr algn="l">
              <a:buNone/>
            </a:pPr>
            <a:r>
              <a:rPr lang="en-US" sz="1100" dirty="0">
                <a:solidFill>
                  <a:srgbClr val="595959"/>
                </a:solidFill>
              </a:rPr>
              <a:t>Fixed size, overlapping</a:t>
            </a:r>
          </a:p>
        </p:txBody>
      </p:sp>
      <p:sp>
        <p:nvSpPr>
          <p:cNvPr id="704" name="Shape 704"/>
          <p:cNvSpPr/>
          <p:nvPr/>
        </p:nvSpPr>
        <p:spPr>
          <a:xfrm>
            <a:off x="2921000" y="3670300"/>
            <a:ext cx="5207000" cy="2540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5" name="Shape 705"/>
          <p:cNvSpPr/>
          <p:nvPr/>
        </p:nvSpPr>
        <p:spPr>
          <a:xfrm>
            <a:off x="762000" y="4318000"/>
            <a:ext cx="2032000" cy="76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A78BFA"/>
            </a:solidFill>
          </a:ln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n-US" sz="1800" b="1" dirty="0">
                <a:solidFill>
                  <a:srgbClr val="A78BFA"/>
                </a:solidFill>
              </a:rPr>
              <a:t>Sliding</a:t>
            </a:r>
          </a:p>
          <a:p>
            <a:pPr algn="l">
              <a:buNone/>
            </a:pPr>
            <a:r>
              <a:rPr lang="en-US" sz="1100" b="0" dirty="0">
                <a:solidFill>
                  <a:srgbClr val="595959"/>
                </a:solidFill>
              </a:rPr>
              <a:t>Continuously advances with events</a:t>
            </a:r>
          </a:p>
        </p:txBody>
      </p:sp>
      <p:sp>
        <p:nvSpPr>
          <p:cNvPr id="706" name="Shape 706"/>
          <p:cNvSpPr/>
          <p:nvPr/>
        </p:nvSpPr>
        <p:spPr>
          <a:xfrm>
            <a:off x="2921000" y="4686300"/>
            <a:ext cx="5207000" cy="2540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7" name="Shape 707"/>
          <p:cNvSpPr/>
          <p:nvPr/>
        </p:nvSpPr>
        <p:spPr>
          <a:xfrm>
            <a:off x="762000" y="5334000"/>
            <a:ext cx="2032000" cy="76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n-US" sz="1800" b="1" dirty="0">
                <a:solidFill>
                  <a:srgbClr val="64748B"/>
                </a:solidFill>
              </a:rPr>
              <a:t>Session</a:t>
            </a:r>
          </a:p>
          <a:p>
            <a:pPr algn="l">
              <a:buNone/>
            </a:pPr>
            <a:r>
              <a:rPr lang="en-US" sz="1100" b="0" dirty="0">
                <a:solidFill>
                  <a:srgbClr val="595959"/>
                </a:solidFill>
              </a:rPr>
              <a:t>Gap-based, variable length</a:t>
            </a:r>
          </a:p>
        </p:txBody>
      </p:sp>
      <p:sp>
        <p:nvSpPr>
          <p:cNvPr id="708" name="Shape 708"/>
          <p:cNvSpPr/>
          <p:nvPr/>
        </p:nvSpPr>
        <p:spPr>
          <a:xfrm>
            <a:off x="2921000" y="5702300"/>
            <a:ext cx="5207000" cy="2540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9" name="Shape 709"/>
          <p:cNvSpPr/>
          <p:nvPr/>
        </p:nvSpPr>
        <p:spPr>
          <a:xfrm>
            <a:off x="2946400" y="2362200"/>
            <a:ext cx="1263650" cy="609600"/>
          </a:xfrm>
          <a:prstGeom prst="rect">
            <a:avLst/>
          </a:prstGeom>
          <a:solidFill>
            <a:srgbClr val="22D3EE"/>
          </a:solidFill>
          <a:ln w="19050">
            <a:solidFill>
              <a:srgbClr val="0F172A"/>
            </a:solidFill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W1</a:t>
            </a:r>
          </a:p>
        </p:txBody>
      </p:sp>
      <p:sp>
        <p:nvSpPr>
          <p:cNvPr id="710" name="Shape 710"/>
          <p:cNvSpPr/>
          <p:nvPr/>
        </p:nvSpPr>
        <p:spPr>
          <a:xfrm>
            <a:off x="4260850" y="2362200"/>
            <a:ext cx="1263650" cy="609600"/>
          </a:xfrm>
          <a:prstGeom prst="rect">
            <a:avLst/>
          </a:prstGeom>
          <a:solidFill>
            <a:srgbClr val="22D3EE"/>
          </a:solidFill>
          <a:ln w="19050">
            <a:solidFill>
              <a:srgbClr val="0F172A"/>
            </a:solidFill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W2</a:t>
            </a:r>
          </a:p>
        </p:txBody>
      </p:sp>
      <p:sp>
        <p:nvSpPr>
          <p:cNvPr id="711" name="Shape 711"/>
          <p:cNvSpPr/>
          <p:nvPr/>
        </p:nvSpPr>
        <p:spPr>
          <a:xfrm>
            <a:off x="5575300" y="2362200"/>
            <a:ext cx="1263650" cy="609600"/>
          </a:xfrm>
          <a:prstGeom prst="rect">
            <a:avLst/>
          </a:prstGeom>
          <a:solidFill>
            <a:srgbClr val="22D3EE"/>
          </a:solidFill>
          <a:ln w="19050">
            <a:solidFill>
              <a:srgbClr val="0F172A"/>
            </a:solidFill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W3</a:t>
            </a:r>
          </a:p>
        </p:txBody>
      </p:sp>
      <p:sp>
        <p:nvSpPr>
          <p:cNvPr id="712" name="Shape 712"/>
          <p:cNvSpPr/>
          <p:nvPr/>
        </p:nvSpPr>
        <p:spPr>
          <a:xfrm>
            <a:off x="6889750" y="2362200"/>
            <a:ext cx="1263650" cy="609600"/>
          </a:xfrm>
          <a:prstGeom prst="rect">
            <a:avLst/>
          </a:prstGeom>
          <a:solidFill>
            <a:srgbClr val="22D3EE"/>
          </a:solidFill>
          <a:ln w="19050">
            <a:solidFill>
              <a:srgbClr val="0F172A"/>
            </a:solidFill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W4</a:t>
            </a:r>
          </a:p>
        </p:txBody>
      </p:sp>
      <p:sp>
        <p:nvSpPr>
          <p:cNvPr id="713" name="Shape 713"/>
          <p:cNvSpPr/>
          <p:nvPr/>
        </p:nvSpPr>
        <p:spPr>
          <a:xfrm>
            <a:off x="2946400" y="3314700"/>
            <a:ext cx="1651000" cy="330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F172A"/>
            </a:solidFill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W1</a:t>
            </a:r>
          </a:p>
        </p:txBody>
      </p:sp>
      <p:sp>
        <p:nvSpPr>
          <p:cNvPr id="714" name="Shape 714"/>
          <p:cNvSpPr/>
          <p:nvPr/>
        </p:nvSpPr>
        <p:spPr>
          <a:xfrm>
            <a:off x="3962400" y="3467100"/>
            <a:ext cx="1651000" cy="330200"/>
          </a:xfrm>
          <a:prstGeom prst="rect">
            <a:avLst/>
          </a:prstGeom>
          <a:solidFill>
            <a:srgbClr val="0284C7"/>
          </a:solidFill>
          <a:ln w="12700">
            <a:solidFill>
              <a:srgbClr val="0F172A"/>
            </a:solidFill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W2</a:t>
            </a:r>
          </a:p>
        </p:txBody>
      </p:sp>
      <p:sp>
        <p:nvSpPr>
          <p:cNvPr id="715" name="Shape 715"/>
          <p:cNvSpPr/>
          <p:nvPr/>
        </p:nvSpPr>
        <p:spPr>
          <a:xfrm>
            <a:off x="4978400" y="3314700"/>
            <a:ext cx="1651000" cy="330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F172A"/>
            </a:solidFill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W3</a:t>
            </a:r>
          </a:p>
        </p:txBody>
      </p:sp>
      <p:sp>
        <p:nvSpPr>
          <p:cNvPr id="716" name="Shape 716"/>
          <p:cNvSpPr/>
          <p:nvPr/>
        </p:nvSpPr>
        <p:spPr>
          <a:xfrm>
            <a:off x="5994400" y="3467100"/>
            <a:ext cx="1651000" cy="330200"/>
          </a:xfrm>
          <a:prstGeom prst="rect">
            <a:avLst/>
          </a:prstGeom>
          <a:solidFill>
            <a:srgbClr val="0284C7"/>
          </a:solidFill>
          <a:ln w="12700">
            <a:solidFill>
              <a:srgbClr val="0F172A"/>
            </a:solidFill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W4</a:t>
            </a:r>
          </a:p>
        </p:txBody>
      </p:sp>
      <p:sp>
        <p:nvSpPr>
          <p:cNvPr id="717" name="Shape 717"/>
          <p:cNvSpPr/>
          <p:nvPr/>
        </p:nvSpPr>
        <p:spPr>
          <a:xfrm>
            <a:off x="2946400" y="4343400"/>
            <a:ext cx="2032000" cy="279400"/>
          </a:xfrm>
          <a:prstGeom prst="rect">
            <a:avLst/>
          </a:prstGeom>
          <a:solidFill>
            <a:srgbClr val="A78BFA"/>
          </a:solidFill>
          <a:ln w="12700">
            <a:solidFill>
              <a:srgbClr val="0F172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18" name="Shape 718"/>
          <p:cNvSpPr/>
          <p:nvPr/>
        </p:nvSpPr>
        <p:spPr>
          <a:xfrm>
            <a:off x="3835400" y="4495800"/>
            <a:ext cx="2032000" cy="279400"/>
          </a:xfrm>
          <a:prstGeom prst="rect">
            <a:avLst/>
          </a:prstGeom>
          <a:solidFill>
            <a:srgbClr val="8B5CF6"/>
          </a:solidFill>
          <a:ln w="12700">
            <a:solidFill>
              <a:srgbClr val="0F172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19" name="Shape 719"/>
          <p:cNvSpPr/>
          <p:nvPr/>
        </p:nvSpPr>
        <p:spPr>
          <a:xfrm>
            <a:off x="4724400" y="4648200"/>
            <a:ext cx="2032000" cy="279400"/>
          </a:xfrm>
          <a:prstGeom prst="rect">
            <a:avLst/>
          </a:prstGeom>
          <a:solidFill>
            <a:srgbClr val="A78BFA"/>
          </a:solidFill>
          <a:ln w="12700">
            <a:solidFill>
              <a:srgbClr val="0F172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22" name="Shape 722"/>
          <p:cNvSpPr/>
          <p:nvPr/>
        </p:nvSpPr>
        <p:spPr>
          <a:xfrm>
            <a:off x="2921000" y="5410200"/>
            <a:ext cx="1143000" cy="609600"/>
          </a:xfrm>
          <a:prstGeom prst="roundRect">
            <a:avLst/>
          </a:prstGeom>
          <a:solidFill>
            <a:srgbClr val="64748B"/>
          </a:solidFill>
          <a:ln w="12700">
            <a:solidFill>
              <a:srgbClr val="0F172A"/>
            </a:solidFill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S1</a:t>
            </a:r>
          </a:p>
        </p:txBody>
      </p:sp>
      <p:sp>
        <p:nvSpPr>
          <p:cNvPr id="723" name="Shape 723"/>
          <p:cNvSpPr/>
          <p:nvPr/>
        </p:nvSpPr>
        <p:spPr>
          <a:xfrm>
            <a:off x="4318000" y="5410200"/>
            <a:ext cx="635000" cy="609600"/>
          </a:xfrm>
          <a:prstGeom prst="roundRect">
            <a:avLst/>
          </a:prstGeom>
          <a:solidFill>
            <a:srgbClr val="64748B"/>
          </a:solidFill>
          <a:ln w="12700">
            <a:solidFill>
              <a:srgbClr val="0F172A"/>
            </a:solidFill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S2</a:t>
            </a:r>
          </a:p>
        </p:txBody>
      </p:sp>
      <p:sp>
        <p:nvSpPr>
          <p:cNvPr id="724" name="Shape 724"/>
          <p:cNvSpPr/>
          <p:nvPr/>
        </p:nvSpPr>
        <p:spPr>
          <a:xfrm>
            <a:off x="5334000" y="5410200"/>
            <a:ext cx="1651000" cy="609600"/>
          </a:xfrm>
          <a:prstGeom prst="roundRect">
            <a:avLst/>
          </a:prstGeom>
          <a:solidFill>
            <a:srgbClr val="64748B"/>
          </a:solidFill>
          <a:ln w="12700">
            <a:solidFill>
              <a:srgbClr val="0F172A"/>
            </a:solidFill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S3</a:t>
            </a:r>
          </a:p>
        </p:txBody>
      </p:sp>
      <p:sp>
        <p:nvSpPr>
          <p:cNvPr id="725" name="Shape 725"/>
          <p:cNvSpPr/>
          <p:nvPr/>
        </p:nvSpPr>
        <p:spPr>
          <a:xfrm>
            <a:off x="7239000" y="5410200"/>
            <a:ext cx="762000" cy="609600"/>
          </a:xfrm>
          <a:prstGeom prst="roundRect">
            <a:avLst/>
          </a:prstGeom>
          <a:solidFill>
            <a:srgbClr val="64748B"/>
          </a:solidFill>
          <a:ln w="12700">
            <a:solidFill>
              <a:srgbClr val="0F172A"/>
            </a:solidFill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S4</a:t>
            </a:r>
          </a:p>
        </p:txBody>
      </p:sp>
      <p:sp>
        <p:nvSpPr>
          <p:cNvPr id="726" name="Shape 726"/>
          <p:cNvSpPr/>
          <p:nvPr/>
        </p:nvSpPr>
        <p:spPr>
          <a:xfrm>
            <a:off x="762000" y="6350000"/>
            <a:ext cx="7620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n-US" sz="1200" b="0" dirty="0">
                <a:solidFill>
                  <a:srgbClr val="595959"/>
                </a:solidFill>
              </a:rPr>
              <a:t>Time →   |   Each colored block = one window emitting an aggregated result</a:t>
            </a:r>
          </a:p>
        </p:txBody>
      </p:sp>
    </p:spTree>
    <p:extLst>
      <p:ext uri="{BB962C8B-B14F-4D97-AF65-F5344CB8AC3E}">
        <p14:creationId xmlns:p14="http://schemas.microsoft.com/office/powerpoint/2010/main" val="21012856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Aggregation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</a:rPr>
              <a:t>Always preceded by groupByKey / groupBy. Result is a KTable (or windowed KTable).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700" b="1" dirty="0"/>
              <a:t>count()</a:t>
            </a:r>
            <a:r>
              <a:rPr lang="en-US" sz="1500" dirty="0"/>
              <a:t> — number of records per key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700" b="1" dirty="0"/>
              <a:t>reduce(adder)</a:t>
            </a:r>
            <a:r>
              <a:rPr lang="en-US" sz="1500" dirty="0"/>
              <a:t> — combine two values of the same type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700" b="1" dirty="0"/>
              <a:t>aggregate(init, adder)</a:t>
            </a:r>
            <a:r>
              <a:rPr lang="en-US" sz="1500" dirty="0"/>
              <a:t> — accumulate into a different type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700" b="1" dirty="0"/>
              <a:t>min / max / sum / avg</a:t>
            </a:r>
            <a:r>
              <a:rPr lang="en-US" sz="1500" dirty="0"/>
              <a:t> — typical numeric rollups via aggregate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700" b="1" dirty="0"/>
              <a:t>Windowed aggregates</a:t>
            </a:r>
            <a:r>
              <a:rPr lang="en-US" sz="1500" dirty="0"/>
              <a:t> — same ops applied to time-bounded groups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i="1" dirty="0">
                <a:solidFill>
                  <a:srgbClr val="22D3EE"/>
                </a:solidFill>
              </a:rPr>
              <a:t>Each update emits a new record by default — use suppress() to emit only window-closed results.</a:t>
            </a:r>
          </a:p>
        </p:txBody>
      </p:sp>
    </p:spTree>
    <p:extLst>
      <p:ext uri="{BB962C8B-B14F-4D97-AF65-F5344CB8AC3E}">
        <p14:creationId xmlns:p14="http://schemas.microsoft.com/office/powerpoint/2010/main" val="30232097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Real-Time Aggregation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Count website clicks per minute</a:t>
            </a:r>
          </a:p>
          <a:p>
            <a:pPr>
              <a:defRPr sz="2100"/>
            </a:pPr>
            <a:r>
              <a:t>Aggregate orders by region</a:t>
            </a:r>
          </a:p>
          <a:p>
            <a:pPr>
              <a:defRPr sz="2100"/>
            </a:pPr>
            <a:r>
              <a:t>Monitor sensor temperature averages</a:t>
            </a:r>
          </a:p>
          <a:p>
            <a:pPr>
              <a:defRPr sz="2100"/>
            </a:pPr>
            <a:r>
              <a:t>Track live transactions</a:t>
            </a:r>
          </a:p>
          <a:p>
            <a:pPr>
              <a:defRPr sz="2100"/>
            </a:pPr>
            <a:r>
              <a:t>Generate dashboards in real time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E53F2-D87F-A4F5-63AD-7F2DC53F3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/>
              <a:t>Discussion Lab: Pick the Right Window</a:t>
            </a:r>
          </a:p>
        </p:txBody>
      </p:sp>
      <p:sp>
        <p:nvSpPr>
          <p:cNvPr id="501" name="Shape 501"/>
          <p:cNvSpPr/>
          <p:nvPr/>
        </p:nvSpPr>
        <p:spPr>
          <a:xfrm>
            <a:off x="762000" y="2222500"/>
            <a:ext cx="7620000" cy="40640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txBody>
          <a:bodyPr wrap="square" lIns="91440" tIns="54864" rIns="91440" bIns="54864" anchor="ctr"/>
          <a:lstStyle/>
          <a:p>
            <a:pPr algn="l">
              <a:buNone/>
            </a:pPr>
            <a:r>
              <a:rPr lang="en-US" sz="1600" b="1" dirty="0">
                <a:solidFill>
                  <a:srgbClr val="0F172A"/>
                </a:solidFill>
              </a:rPr>
              <a:t>⏱  10-min discussion  •  Match scenario → window type</a:t>
            </a:r>
          </a:p>
        </p:txBody>
      </p:sp>
      <p:sp>
        <p:nvSpPr>
          <p:cNvPr id="502" name="Shape 502"/>
          <p:cNvSpPr/>
          <p:nvPr/>
        </p:nvSpPr>
        <p:spPr>
          <a:xfrm>
            <a:off x="762000" y="2857500"/>
            <a:ext cx="4064000" cy="3556000"/>
          </a:xfrm>
          <a:prstGeom prst="rect">
            <a:avLst/>
          </a:prstGeom>
          <a:solidFill>
            <a:srgbClr val="1E293B"/>
          </a:solidFill>
          <a:ln w="19050">
            <a:solidFill>
              <a:srgbClr val="22D3EE"/>
            </a:solidFill>
          </a:ln>
        </p:spPr>
        <p:txBody>
          <a:bodyPr wrap="square" lIns="91440" tIns="54864" rIns="91440" bIns="54864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</a:rPr>
              <a:t>Scenarios</a:t>
            </a:r>
          </a:p>
          <a:p>
            <a:pPr marL="285750" indent="-285750">
              <a:spcBef>
                <a:spcPts val="600"/>
              </a:spcBef>
              <a:buFont typeface="+mj-lt"/>
              <a:buAutoNum type="arabicPeriod"/>
            </a:pPr>
            <a:r>
              <a:rPr lang="en-US" sz="1600" b="1" dirty="0">
                <a:solidFill>
                  <a:srgbClr val="E2E8F0"/>
                </a:solidFill>
              </a:rPr>
              <a:t>Hourly sales totals</a:t>
            </a:r>
          </a:p>
          <a:p>
            <a:pPr marL="28575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Each order belongs to exactly one hour</a:t>
            </a:r>
          </a:p>
          <a:p>
            <a:pPr marL="285750" indent="-285750">
              <a:spcBef>
                <a:spcPts val="600"/>
              </a:spcBef>
              <a:buFont typeface="+mj-lt"/>
              <a:buAutoNum type="arabicPeriod" startAt="2"/>
            </a:pPr>
            <a:r>
              <a:rPr lang="en-US" sz="1600" b="1" dirty="0">
                <a:solidFill>
                  <a:srgbClr val="E2E8F0"/>
                </a:solidFill>
              </a:rPr>
              <a:t>Rolling 5-min site traffic</a:t>
            </a:r>
          </a:p>
          <a:p>
            <a:pPr marL="28575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Updated every minute, last 5 min visible</a:t>
            </a:r>
          </a:p>
          <a:p>
            <a:pPr marL="285750" indent="-285750">
              <a:spcBef>
                <a:spcPts val="600"/>
              </a:spcBef>
              <a:buFont typeface="+mj-lt"/>
              <a:buAutoNum type="arabicPeriod" startAt="3"/>
            </a:pPr>
            <a:r>
              <a:rPr lang="en-US" sz="1600" b="1" dirty="0">
                <a:solidFill>
                  <a:srgbClr val="E2E8F0"/>
                </a:solidFill>
              </a:rPr>
              <a:t>User session activity</a:t>
            </a:r>
          </a:p>
          <a:p>
            <a:pPr marL="28575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Group events with no 30-min gap</a:t>
            </a:r>
          </a:p>
        </p:txBody>
      </p:sp>
      <p:sp>
        <p:nvSpPr>
          <p:cNvPr id="503" name="Shape 503"/>
          <p:cNvSpPr/>
          <p:nvPr/>
        </p:nvSpPr>
        <p:spPr>
          <a:xfrm>
            <a:off x="5016500" y="2857500"/>
            <a:ext cx="3365500" cy="3556000"/>
          </a:xfrm>
          <a:prstGeom prst="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txBody>
          <a:bodyPr wrap="square" lIns="91440" tIns="54864" rIns="91440" bIns="54864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A78BFA"/>
                </a:solidFill>
              </a:rPr>
              <a:t>Window types</a:t>
            </a:r>
          </a:p>
          <a:p>
            <a:pPr marL="228600" indent="-228600">
              <a:spcBef>
                <a:spcPts val="500"/>
              </a:spcBef>
              <a:buFont typeface="Arial"/>
              <a:buChar char="•"/>
            </a:pPr>
            <a:r>
              <a:rPr lang="en-US" sz="1500" b="1" dirty="0">
                <a:solidFill>
                  <a:srgbClr val="E2E8F0"/>
                </a:solidFill>
              </a:rPr>
              <a:t>Tumbling</a:t>
            </a:r>
            <a:r>
              <a:rPr lang="en-US" sz="1500" dirty="0">
                <a:solidFill>
                  <a:srgbClr val="E2E8F0"/>
                </a:solidFill>
              </a:rPr>
              <a:t> — fixed, no overlap</a:t>
            </a:r>
          </a:p>
          <a:p>
            <a:pPr marL="228600" indent="-228600">
              <a:spcBef>
                <a:spcPts val="500"/>
              </a:spcBef>
              <a:buFont typeface="Arial"/>
              <a:buChar char="•"/>
            </a:pPr>
            <a:r>
              <a:rPr lang="en-US" sz="1500" b="1" dirty="0">
                <a:solidFill>
                  <a:srgbClr val="E2E8F0"/>
                </a:solidFill>
              </a:rPr>
              <a:t>Hopping</a:t>
            </a:r>
            <a:r>
              <a:rPr lang="en-US" sz="1500" dirty="0">
                <a:solidFill>
                  <a:srgbClr val="E2E8F0"/>
                </a:solidFill>
              </a:rPr>
              <a:t> — fixed, overlapping</a:t>
            </a:r>
          </a:p>
          <a:p>
            <a:pPr marL="228600" indent="-228600">
              <a:spcBef>
                <a:spcPts val="500"/>
              </a:spcBef>
              <a:buFont typeface="Arial"/>
              <a:buChar char="•"/>
            </a:pPr>
            <a:r>
              <a:rPr lang="en-US" sz="1500" b="1" dirty="0">
                <a:solidFill>
                  <a:srgbClr val="E2E8F0"/>
                </a:solidFill>
              </a:rPr>
              <a:t>Sliding</a:t>
            </a:r>
            <a:r>
              <a:rPr lang="en-US" sz="1500" dirty="0">
                <a:solidFill>
                  <a:srgbClr val="E2E8F0"/>
                </a:solidFill>
              </a:rPr>
              <a:t> — continuously advancing</a:t>
            </a:r>
          </a:p>
          <a:p>
            <a:pPr marL="228600" indent="-228600">
              <a:spcBef>
                <a:spcPts val="500"/>
              </a:spcBef>
              <a:buFont typeface="Arial"/>
              <a:buChar char="•"/>
            </a:pPr>
            <a:r>
              <a:rPr lang="en-US" sz="1500" b="1" dirty="0">
                <a:solidFill>
                  <a:srgbClr val="E2E8F0"/>
                </a:solidFill>
              </a:rPr>
              <a:t>Session</a:t>
            </a:r>
            <a:r>
              <a:rPr lang="en-US" sz="1500" dirty="0">
                <a:solidFill>
                  <a:srgbClr val="E2E8F0"/>
                </a:solidFill>
              </a:rPr>
              <a:t> — gap-based grouping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US" sz="1400" i="1" dirty="0">
                <a:solidFill>
                  <a:srgbClr val="94A3B8"/>
                </a:solidFill>
              </a:rPr>
              <a:t>Defend your choice with 1 line per scenario.</a:t>
            </a:r>
          </a:p>
        </p:txBody>
      </p:sp>
    </p:spTree>
    <p:extLst>
      <p:ext uri="{BB962C8B-B14F-4D97-AF65-F5344CB8AC3E}">
        <p14:creationId xmlns:p14="http://schemas.microsoft.com/office/powerpoint/2010/main" val="8907664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Streams Topology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Logical processing graph</a:t>
            </a:r>
          </a:p>
          <a:p>
            <a:pPr>
              <a:defRPr sz="2100"/>
            </a:pPr>
            <a:r>
              <a:t>Nodes represent processors</a:t>
            </a:r>
          </a:p>
          <a:p>
            <a:pPr>
              <a:defRPr sz="2100"/>
            </a:pPr>
            <a:r>
              <a:t>Edges represent data flow</a:t>
            </a:r>
          </a:p>
          <a:p>
            <a:pPr>
              <a:defRPr sz="2100"/>
            </a:pPr>
            <a:r>
              <a:t>Automatically optimized by Kafka Streams</a:t>
            </a:r>
          </a:p>
          <a:p>
            <a:pPr>
              <a:defRPr sz="2100"/>
            </a:pPr>
            <a:r>
              <a:t>Visualizes stream processing pipeline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Lab 1 - Build Stream Processing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Create Kafka Streams project</a:t>
            </a:r>
          </a:p>
          <a:p>
            <a:pPr>
              <a:defRPr sz="2100"/>
            </a:pPr>
            <a:r>
              <a:t>Configure StreamsConfig</a:t>
            </a:r>
          </a:p>
          <a:p>
            <a:pPr>
              <a:defRPr sz="2100"/>
            </a:pPr>
            <a:r>
              <a:t>Define input and output topics</a:t>
            </a:r>
          </a:p>
          <a:p>
            <a:pPr>
              <a:defRPr sz="2100"/>
            </a:pPr>
            <a:r>
              <a:t>Implement processing logic</a:t>
            </a:r>
          </a:p>
          <a:p>
            <a:pPr>
              <a:defRPr sz="2100"/>
            </a:pPr>
            <a:r>
              <a:t>Run and verify output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Exactly-Once Semantics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700" b="1" dirty="0"/>
              <a:t>Each record affects state and output exactly once</a:t>
            </a:r>
          </a:p>
          <a:p>
            <a:pPr marL="28575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Even across failures, restarts, and rebalances</a:t>
            </a:r>
          </a:p>
          <a:p>
            <a:pPr marL="285750" indent="-285750">
              <a:spcBef>
                <a:spcPts val="400"/>
              </a:spcBef>
              <a:buFont typeface="Arial"/>
              <a:buChar char="•"/>
            </a:pPr>
            <a:r>
              <a:rPr lang="en-US" sz="1700" b="1" dirty="0"/>
              <a:t>Enable with processing.guarantee=exactly_once_v2</a:t>
            </a:r>
          </a:p>
          <a:p>
            <a:pPr marL="28575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Requires Kafka 2.5+; uses transactions on the producer and idempotent writes</a:t>
            </a:r>
          </a:p>
          <a:p>
            <a:pPr marL="285750" indent="-285750">
              <a:spcBef>
                <a:spcPts val="400"/>
              </a:spcBef>
              <a:buFont typeface="Arial"/>
              <a:buChar char="•"/>
            </a:pPr>
            <a:r>
              <a:rPr lang="en-US" sz="1700" b="1" dirty="0"/>
              <a:t>Output, offsets, and state commit atomically</a:t>
            </a:r>
          </a:p>
          <a:p>
            <a:pPr marL="28575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All three or none — no partial commits visible to downstream consumers</a:t>
            </a:r>
          </a:p>
          <a:p>
            <a:pPr marL="285750" indent="-285750">
              <a:spcBef>
                <a:spcPts val="400"/>
              </a:spcBef>
              <a:buFont typeface="Arial"/>
              <a:buChar char="•"/>
            </a:pPr>
            <a:r>
              <a:rPr lang="en-US" sz="1700" b="1" dirty="0"/>
              <a:t>Trade-offs</a:t>
            </a:r>
          </a:p>
          <a:p>
            <a:pPr marL="28575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Higher latency and broker load; consumers must use read_committed isolation</a:t>
            </a:r>
          </a:p>
        </p:txBody>
      </p:sp>
    </p:spTree>
    <p:extLst>
      <p:ext uri="{BB962C8B-B14F-4D97-AF65-F5344CB8AC3E}">
        <p14:creationId xmlns:p14="http://schemas.microsoft.com/office/powerpoint/2010/main" val="3102572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Fault Tolerance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700" b="1" dirty="0"/>
              <a:t>State is durable in Kafka</a:t>
            </a:r>
          </a:p>
          <a:p>
            <a:pPr marL="28575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Every state store has a compacted changelog topic — local RocksDB is just a cache</a:t>
            </a:r>
          </a:p>
          <a:p>
            <a:pPr marL="285750" indent="-285750">
              <a:spcBef>
                <a:spcPts val="400"/>
              </a:spcBef>
              <a:buFont typeface="Arial"/>
              <a:buChar char="•"/>
            </a:pPr>
            <a:r>
              <a:rPr lang="en-US" sz="1700" b="1" dirty="0"/>
              <a:t>Tasks rebalance on failure</a:t>
            </a:r>
          </a:p>
          <a:p>
            <a:pPr marL="28575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Surviving instances pick up partitions of the failed instance automatically</a:t>
            </a:r>
          </a:p>
          <a:p>
            <a:pPr marL="285750" indent="-285750">
              <a:spcBef>
                <a:spcPts val="400"/>
              </a:spcBef>
              <a:buFont typeface="Arial"/>
              <a:buChar char="•"/>
            </a:pPr>
            <a:r>
              <a:rPr lang="en-US" sz="1700" b="1" dirty="0"/>
              <a:t>Standby replicas reduce restore time</a:t>
            </a:r>
          </a:p>
          <a:p>
            <a:pPr marL="28575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num.standby.replicas keeps warm copies on other instances — faster failover</a:t>
            </a:r>
          </a:p>
          <a:p>
            <a:pPr marL="285750" indent="-285750">
              <a:spcBef>
                <a:spcPts val="400"/>
              </a:spcBef>
              <a:buFont typeface="Arial"/>
              <a:buChar char="•"/>
            </a:pPr>
            <a:r>
              <a:rPr lang="en-US" sz="1700" b="1" dirty="0"/>
              <a:t>Offset commits gate progress</a:t>
            </a:r>
          </a:p>
          <a:p>
            <a:pPr marL="28575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On restart, processing resumes from the last committed offset — no records lost</a:t>
            </a:r>
          </a:p>
        </p:txBody>
      </p:sp>
    </p:spTree>
    <p:extLst>
      <p:ext uri="{BB962C8B-B14F-4D97-AF65-F5344CB8AC3E}">
        <p14:creationId xmlns:p14="http://schemas.microsoft.com/office/powerpoint/2010/main" val="17423011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DA622-5C5B-C99E-B866-9D5F48A2D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/>
              <a:t>Discussion Lab: Recovery Walk-Through</a:t>
            </a:r>
          </a:p>
        </p:txBody>
      </p:sp>
      <p:sp>
        <p:nvSpPr>
          <p:cNvPr id="601" name="Shape 601"/>
          <p:cNvSpPr/>
          <p:nvPr/>
        </p:nvSpPr>
        <p:spPr>
          <a:xfrm>
            <a:off x="762000" y="2222500"/>
            <a:ext cx="7620000" cy="40640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txBody>
          <a:bodyPr wrap="square" lIns="91440" tIns="54864" rIns="91440" bIns="54864" anchor="ctr"/>
          <a:lstStyle/>
          <a:p>
            <a:pPr algn="l">
              <a:buNone/>
            </a:pPr>
            <a:r>
              <a:rPr lang="en-US" sz="1600" b="1" dirty="0">
                <a:solidFill>
                  <a:srgbClr val="0F172A"/>
                </a:solidFill>
              </a:rPr>
              <a:t>⏱  15-min table debate  •  Walk through the recovery</a:t>
            </a:r>
          </a:p>
        </p:txBody>
      </p:sp>
      <p:sp>
        <p:nvSpPr>
          <p:cNvPr id="602" name="Shape 602"/>
          <p:cNvSpPr/>
          <p:nvPr/>
        </p:nvSpPr>
        <p:spPr>
          <a:xfrm>
            <a:off x="762000" y="2794000"/>
            <a:ext cx="7620000" cy="127000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txBody>
          <a:bodyPr wrap="square" lIns="91440" tIns="54864" rIns="91440" bIns="54864" anchor="t"/>
          <a:lstStyle/>
          <a:p>
            <a:pPr algn="l">
              <a:buNone/>
            </a:pPr>
            <a:r>
              <a:rPr lang="en-US" sz="1500" b="1" dirty="0">
                <a:solidFill>
                  <a:srgbClr val="F59E0B"/>
                </a:solidFill>
              </a:rPr>
              <a:t>Scenario: A node dies mid-aggregation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500" dirty="0">
                <a:solidFill>
                  <a:srgbClr val="E2E8F0"/>
                </a:solidFill>
              </a:rPr>
              <a:t>You run a 3-node Kafka Streams cluster aggregating live order totals. One node crashes while holding a state store with </a:t>
            </a:r>
            <a:r>
              <a:rPr lang="en-US" sz="1500" b="1" dirty="0">
                <a:solidFill>
                  <a:srgbClr val="F59E0B"/>
                </a:solidFill>
              </a:rPr>
              <a:t>uncommitted offsets</a:t>
            </a:r>
            <a:r>
              <a:rPr lang="en-US" sz="1500" dirty="0">
                <a:solidFill>
                  <a:srgbClr val="E2E8F0"/>
                </a:solidFill>
              </a:rPr>
              <a:t>. The downstream dashboard cannot show duplicate or missing totals.</a:t>
            </a:r>
          </a:p>
        </p:txBody>
      </p:sp>
      <p:sp>
        <p:nvSpPr>
          <p:cNvPr id="603" name="Shape 603"/>
          <p:cNvSpPr/>
          <p:nvPr/>
        </p:nvSpPr>
        <p:spPr>
          <a:xfrm>
            <a:off x="762000" y="4254500"/>
            <a:ext cx="3683000" cy="2159000"/>
          </a:xfrm>
          <a:prstGeom prst="rect">
            <a:avLst/>
          </a:prstGeom>
          <a:solidFill>
            <a:srgbClr val="1E293B"/>
          </a:solidFill>
          <a:ln w="19050">
            <a:solidFill>
              <a:srgbClr val="22D3EE"/>
            </a:solidFill>
          </a:ln>
        </p:spPr>
        <p:txBody>
          <a:bodyPr wrap="square" lIns="91440" tIns="54864" rIns="91440" bIns="54864" anchor="t"/>
          <a:lstStyle/>
          <a:p>
            <a:pPr algn="l">
              <a:buNone/>
            </a:pPr>
            <a:r>
              <a:rPr lang="en-US" sz="1500" b="1" dirty="0">
                <a:solidFill>
                  <a:srgbClr val="22D3EE"/>
                </a:solidFill>
              </a:rPr>
              <a:t>Walk through</a:t>
            </a:r>
          </a:p>
          <a:p>
            <a:pPr marL="228600" indent="-228600">
              <a:spcBef>
                <a:spcPts val="500"/>
              </a:spcBef>
              <a:buFont typeface="+mj-lt"/>
              <a:buAutoNum type="arabicPeriod"/>
            </a:pPr>
            <a:r>
              <a:rPr lang="en-US" sz="1400" dirty="0">
                <a:solidFill>
                  <a:srgbClr val="E2E8F0"/>
                </a:solidFill>
              </a:rPr>
              <a:t>What does Kafka detect first?</a:t>
            </a:r>
          </a:p>
          <a:p>
            <a:pPr marL="228600" indent="-228600">
              <a:spcBef>
                <a:spcPts val="300"/>
              </a:spcBef>
              <a:buFont typeface="+mj-lt"/>
              <a:buAutoNum type="arabicPeriod" startAt="2"/>
            </a:pPr>
            <a:r>
              <a:rPr lang="en-US" sz="1400" dirty="0">
                <a:solidFill>
                  <a:srgbClr val="E2E8F0"/>
                </a:solidFill>
              </a:rPr>
              <a:t>Who takes over the partitions?</a:t>
            </a:r>
          </a:p>
          <a:p>
            <a:pPr marL="228600" indent="-228600">
              <a:spcBef>
                <a:spcPts val="300"/>
              </a:spcBef>
              <a:buFont typeface="+mj-lt"/>
              <a:buAutoNum type="arabicPeriod" startAt="3"/>
            </a:pPr>
            <a:r>
              <a:rPr lang="en-US" sz="1400" dirty="0">
                <a:solidFill>
                  <a:srgbClr val="E2E8F0"/>
                </a:solidFill>
              </a:rPr>
              <a:t>How is the state store rebuilt?</a:t>
            </a:r>
          </a:p>
          <a:p>
            <a:pPr marL="228600" indent="-228600">
              <a:spcBef>
                <a:spcPts val="300"/>
              </a:spcBef>
              <a:buFont typeface="+mj-lt"/>
              <a:buAutoNum type="arabicPeriod" startAt="4"/>
            </a:pPr>
            <a:r>
              <a:rPr lang="en-US" sz="1400" dirty="0">
                <a:solidFill>
                  <a:srgbClr val="E2E8F0"/>
                </a:solidFill>
              </a:rPr>
              <a:t>How does EOS prevent duplicates?</a:t>
            </a:r>
          </a:p>
        </p:txBody>
      </p:sp>
      <p:sp>
        <p:nvSpPr>
          <p:cNvPr id="604" name="Shape 604"/>
          <p:cNvSpPr/>
          <p:nvPr/>
        </p:nvSpPr>
        <p:spPr>
          <a:xfrm>
            <a:off x="4699000" y="4254500"/>
            <a:ext cx="3683000" cy="2159000"/>
          </a:xfrm>
          <a:prstGeom prst="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txBody>
          <a:bodyPr wrap="square" lIns="91440" tIns="54864" rIns="91440" bIns="54864" anchor="t"/>
          <a:lstStyle/>
          <a:p>
            <a:pPr algn="l">
              <a:buNone/>
            </a:pPr>
            <a:r>
              <a:rPr lang="en-US" sz="1500" b="1" dirty="0">
                <a:solidFill>
                  <a:srgbClr val="A78BFA"/>
                </a:solidFill>
              </a:rPr>
              <a:t>Concepts to invoke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E2E8F0"/>
                </a:solidFill>
              </a:rPr>
              <a:t>Consumer group rebalance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sz="1400" dirty="0">
                <a:solidFill>
                  <a:srgbClr val="E2E8F0"/>
                </a:solidFill>
              </a:rPr>
              <a:t>Changelog topic replay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sz="1400" dirty="0">
                <a:solidFill>
                  <a:srgbClr val="E2E8F0"/>
                </a:solidFill>
              </a:rPr>
              <a:t>Standby replicas (num.standby.replicas)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sz="1400" dirty="0">
                <a:solidFill>
                  <a:srgbClr val="E2E8F0"/>
                </a:solidFill>
              </a:rPr>
              <a:t>processing.guarantee = exactly_once_v2</a:t>
            </a:r>
          </a:p>
        </p:txBody>
      </p:sp>
    </p:spTree>
    <p:extLst>
      <p:ext uri="{BB962C8B-B14F-4D97-AF65-F5344CB8AC3E}">
        <p14:creationId xmlns:p14="http://schemas.microsoft.com/office/powerpoint/2010/main" val="3298079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Kafka Streams Configuration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application.id=wordcount-app</a:t>
            </a:r>
          </a:p>
          <a:p>
            <a:pPr>
              <a:defRPr sz="2100"/>
            </a:pPr>
            <a:r>
              <a:t>bootstrap.servers=localhost:9092</a:t>
            </a:r>
          </a:p>
          <a:p>
            <a:pPr>
              <a:defRPr sz="2100"/>
            </a:pPr>
            <a:r>
              <a:t>default.key.serde=Serdes.String()</a:t>
            </a:r>
          </a:p>
          <a:p>
            <a:pPr>
              <a:defRPr sz="2100"/>
            </a:pPr>
            <a:r>
              <a:t>default.value.serde=Serdes.String()</a:t>
            </a:r>
          </a:p>
          <a:p>
            <a:pPr>
              <a:defRPr sz="2100"/>
            </a:pPr>
            <a:r>
              <a:t>processing.guarantee=exactly_once_v2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2 - Real-Time Word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Read messages from topic</a:t>
            </a:r>
          </a:p>
          <a:p>
            <a:pPr>
              <a:defRPr sz="2100"/>
            </a:pPr>
            <a:r>
              <a:t>Split sentences into words</a:t>
            </a:r>
          </a:p>
          <a:p>
            <a:pPr>
              <a:defRPr sz="2100"/>
            </a:pPr>
            <a:r>
              <a:t>Group by word</a:t>
            </a:r>
          </a:p>
          <a:p>
            <a:pPr>
              <a:defRPr sz="2100"/>
            </a:pPr>
            <a:r>
              <a:t>Count occurrences</a:t>
            </a:r>
          </a:p>
          <a:p>
            <a:pPr>
              <a:defRPr sz="2100"/>
            </a:pPr>
            <a:r>
              <a:t>Publish counts to output topic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Word Count Processing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Input Topic → Sentences</a:t>
            </a:r>
          </a:p>
          <a:p>
            <a:pPr>
              <a:defRPr sz="2100"/>
            </a:pPr>
            <a:r>
              <a:t>flatMapValues() → split words</a:t>
            </a:r>
          </a:p>
          <a:p>
            <a:pPr>
              <a:defRPr sz="2100"/>
            </a:pPr>
            <a:r>
              <a:t>groupBy() → group similar words</a:t>
            </a:r>
          </a:p>
          <a:p>
            <a:pPr>
              <a:defRPr sz="2100"/>
            </a:pPr>
            <a:r>
              <a:t>count() → aggregate counts</a:t>
            </a:r>
          </a:p>
          <a:p>
            <a:pPr>
              <a:defRPr sz="2100"/>
            </a:pPr>
            <a:r>
              <a:t>Output Topic → live word frequencies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3 - Filtering and Aggregation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Filter invalid records</a:t>
            </a:r>
          </a:p>
          <a:p>
            <a:pPr>
              <a:defRPr sz="2100"/>
            </a:pPr>
            <a:r>
              <a:t>Aggregate records by key</a:t>
            </a:r>
          </a:p>
          <a:p>
            <a:pPr>
              <a:defRPr sz="2100"/>
            </a:pPr>
            <a:r>
              <a:t>Compute metrics in real time</a:t>
            </a:r>
          </a:p>
          <a:p>
            <a:pPr>
              <a:defRPr sz="2100"/>
            </a:pPr>
            <a:r>
              <a:t>Store aggregation results</a:t>
            </a:r>
          </a:p>
          <a:p>
            <a:pPr>
              <a:defRPr sz="2100"/>
            </a:pPr>
            <a:r>
              <a:t>Verify outputs using Kafka consumer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Filtering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Filter orders above ₹5000</a:t>
            </a:r>
          </a:p>
          <a:p>
            <a:pPr>
              <a:defRPr sz="2100"/>
            </a:pPr>
            <a:r>
              <a:t>Ignore null messages</a:t>
            </a:r>
          </a:p>
          <a:p>
            <a:pPr>
              <a:defRPr sz="2100"/>
            </a:pPr>
            <a:r>
              <a:t>Remove malformed records</a:t>
            </a:r>
          </a:p>
          <a:p>
            <a:pPr>
              <a:defRPr sz="2100"/>
            </a:pPr>
            <a:r>
              <a:t>Route critical events</a:t>
            </a:r>
          </a:p>
          <a:p>
            <a:pPr>
              <a:defRPr sz="2100"/>
            </a:pPr>
            <a:r>
              <a:t>Improve data quality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Mini Project - Real-Time Order Processing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Ingest customer orders</a:t>
            </a:r>
          </a:p>
          <a:p>
            <a:pPr>
              <a:defRPr sz="2100"/>
            </a:pPr>
            <a:r>
              <a:t>Filter invalid transactions</a:t>
            </a:r>
          </a:p>
          <a:p>
            <a:pPr>
              <a:defRPr sz="2100"/>
            </a:pPr>
            <a:r>
              <a:t>Aggregate total sales</a:t>
            </a:r>
          </a:p>
          <a:p>
            <a:pPr>
              <a:defRPr sz="2100"/>
            </a:pPr>
            <a:r>
              <a:t>Detect high-value orders</a:t>
            </a:r>
          </a:p>
          <a:p>
            <a:pPr>
              <a:defRPr sz="2100"/>
            </a:pPr>
            <a:r>
              <a:t>Generate live analytics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 Project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Order Producer → Kafka Topic</a:t>
            </a:r>
          </a:p>
          <a:p>
            <a:pPr>
              <a:defRPr sz="2100"/>
            </a:pPr>
            <a:r>
              <a:t>Kafka Streams Application</a:t>
            </a:r>
          </a:p>
          <a:p>
            <a:pPr>
              <a:defRPr sz="2100"/>
            </a:pPr>
            <a:r>
              <a:t>Filtering + Aggregation</a:t>
            </a:r>
          </a:p>
          <a:p>
            <a:pPr>
              <a:defRPr sz="2100"/>
            </a:pPr>
            <a:r>
              <a:t>Output Analytics Topic</a:t>
            </a:r>
          </a:p>
          <a:p>
            <a:pPr>
              <a:defRPr sz="2100"/>
            </a:pPr>
            <a:r>
              <a:t>Dashboard/Consumer Application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Suggested Project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Order validation</a:t>
            </a:r>
          </a:p>
          <a:p>
            <a:pPr>
              <a:defRPr sz="2100"/>
            </a:pPr>
            <a:r>
              <a:t>Real-time inventory tracking</a:t>
            </a:r>
          </a:p>
          <a:p>
            <a:pPr>
              <a:defRPr sz="2100"/>
            </a:pPr>
            <a:r>
              <a:t>Sales aggregation</a:t>
            </a:r>
          </a:p>
          <a:p>
            <a:pPr>
              <a:defRPr sz="2100"/>
            </a:pPr>
            <a:r>
              <a:t>Fraud detection rules</a:t>
            </a:r>
          </a:p>
          <a:p>
            <a:pPr>
              <a:defRPr sz="2100"/>
            </a:pPr>
            <a:r>
              <a:t>Live notifications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Containerize streams application</a:t>
            </a:r>
          </a:p>
          <a:p>
            <a:pPr>
              <a:defRPr sz="2100"/>
            </a:pPr>
            <a:r>
              <a:t>Deploy using Kubernetes</a:t>
            </a:r>
          </a:p>
          <a:p>
            <a:pPr>
              <a:defRPr sz="2100"/>
            </a:pPr>
            <a:r>
              <a:t>Monitor lag and throughput</a:t>
            </a:r>
          </a:p>
          <a:p>
            <a:pPr>
              <a:defRPr sz="2100"/>
            </a:pPr>
            <a:r>
              <a:t>Enable fault tolerance</a:t>
            </a:r>
          </a:p>
          <a:p>
            <a:pPr>
              <a:defRPr sz="2100"/>
            </a:pPr>
            <a:r>
              <a:t>Use Schema Registry for governance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Increase partitions for scalability</a:t>
            </a:r>
          </a:p>
          <a:p>
            <a:pPr>
              <a:defRPr sz="2100"/>
            </a:pPr>
            <a:r>
              <a:t>Tune RocksDB state store</a:t>
            </a:r>
          </a:p>
          <a:p>
            <a:pPr>
              <a:defRPr sz="2100"/>
            </a:pPr>
            <a:r>
              <a:t>Optimize caching</a:t>
            </a:r>
          </a:p>
          <a:p>
            <a:pPr>
              <a:defRPr sz="2100"/>
            </a:pPr>
            <a:r>
              <a:t>Enable compression</a:t>
            </a:r>
          </a:p>
          <a:p>
            <a:pPr>
              <a:defRPr sz="2100"/>
            </a:pPr>
            <a:r>
              <a:t>Use efficient serialization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Design idempotent processing</a:t>
            </a:r>
          </a:p>
          <a:p>
            <a:pPr>
              <a:defRPr sz="2100"/>
            </a:pPr>
            <a:r>
              <a:t>Handle late-arriving events</a:t>
            </a:r>
          </a:p>
          <a:p>
            <a:pPr>
              <a:defRPr sz="2100"/>
            </a:pPr>
            <a:r>
              <a:t>Use proper windowing strategies</a:t>
            </a:r>
          </a:p>
          <a:p>
            <a:pPr>
              <a:defRPr sz="2100"/>
            </a:pPr>
            <a:r>
              <a:t>Monitor consumer lag</a:t>
            </a:r>
          </a:p>
          <a:p>
            <a:pPr>
              <a:defRPr sz="2100"/>
            </a:pPr>
            <a:r>
              <a:t>Test fault recovery scenarios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Interview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Difference between KStream and KTable?</a:t>
            </a:r>
          </a:p>
          <a:p>
            <a:pPr>
              <a:defRPr sz="2100"/>
            </a:pPr>
            <a:r>
              <a:t>What are state stores?</a:t>
            </a:r>
          </a:p>
          <a:p>
            <a:pPr>
              <a:defRPr sz="2100"/>
            </a:pPr>
            <a:r>
              <a:t>How windowing works?</a:t>
            </a:r>
          </a:p>
          <a:p>
            <a:pPr>
              <a:defRPr sz="2100"/>
            </a:pPr>
            <a:r>
              <a:t>Explain exactly-once semantics</a:t>
            </a:r>
          </a:p>
          <a:p>
            <a:pPr>
              <a:defRPr sz="2100"/>
            </a:pPr>
            <a:r>
              <a:t>How Kafka Streams ensures fault tolerance?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Kafka Streams enables real-time event processing</a:t>
            </a:r>
          </a:p>
          <a:p>
            <a:pPr>
              <a:defRPr sz="2100"/>
            </a:pPr>
            <a:r>
              <a:t>KStream and KTable serve different purposes</a:t>
            </a:r>
          </a:p>
          <a:p>
            <a:pPr>
              <a:defRPr sz="2100"/>
            </a:pPr>
            <a:r>
              <a:t>Windowing and aggregation provide analytics capabilities</a:t>
            </a:r>
          </a:p>
          <a:p>
            <a:pPr>
              <a:defRPr sz="2100"/>
            </a:pPr>
            <a:r>
              <a:t>Stateful processing enables advanced use cases</a:t>
            </a:r>
          </a:p>
          <a:p>
            <a:pPr>
              <a:defRPr sz="2100"/>
            </a:pPr>
            <a:r>
              <a:t>Kafka Streams simplifies scalable stream applications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 [1779642386323]">
  <a:themeElements>
    <a:clrScheme name="Integral">
      <a:dk1>
        <a:srgbClr val="F8FAFC"/>
      </a:dk1>
      <a:lt1>
        <a:srgbClr val="0F172A"/>
      </a:lt1>
      <a:dk2>
        <a:srgbClr val="E2E8F0"/>
      </a:dk2>
      <a:lt2>
        <a:srgbClr val="1E293B"/>
      </a:lt2>
      <a:accent1>
        <a:srgbClr val="22D3EE"/>
      </a:accent1>
      <a:accent2>
        <a:srgbClr val="0EA5E9"/>
      </a:accent2>
      <a:accent3>
        <a:srgbClr val="14B8A6"/>
      </a:accent3>
      <a:accent4>
        <a:srgbClr val="A78BFA"/>
      </a:accent4>
      <a:accent5>
        <a:srgbClr val="F59E0B"/>
      </a:accent5>
      <a:accent6>
        <a:srgbClr val="64748B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F8FAFC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F8FAFC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51655B8-C688-4268-A8A3-3ED6EBBA444E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71b4899f-c446-4f6b-afe2-332a473c317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66</TotalTime>
  <Words>2112</Words>
  <Application>Microsoft Office PowerPoint</Application>
  <PresentationFormat>On-screen Show (4:3)</PresentationFormat>
  <Paragraphs>371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Tw Cen MT</vt:lpstr>
      <vt:lpstr>Tw Cen MT Condensed</vt:lpstr>
      <vt:lpstr>Wingdings 3</vt:lpstr>
      <vt:lpstr>Integral [1779642386323]</vt:lpstr>
      <vt:lpstr>Kafka Streams for Real-Time Processing</vt:lpstr>
      <vt:lpstr>Learning Objectives</vt:lpstr>
      <vt:lpstr>Introduction to Stream Processing</vt:lpstr>
      <vt:lpstr>Batch vs. Stream Processing</vt:lpstr>
      <vt:lpstr>What is Kafka Streams?</vt:lpstr>
      <vt:lpstr>Kafka Streams Architecture</vt:lpstr>
      <vt:lpstr>Kafka Streams Architecture in Action</vt:lpstr>
      <vt:lpstr>Core Components of Kafka Streams</vt:lpstr>
      <vt:lpstr>Kafka Streams API Workflow</vt:lpstr>
      <vt:lpstr>Discussion Lab: Design Your First Pipeline</vt:lpstr>
      <vt:lpstr>KStream Overview</vt:lpstr>
      <vt:lpstr>KTable Overview</vt:lpstr>
      <vt:lpstr>KStream vs KTable</vt:lpstr>
      <vt:lpstr>Discussion Lab: Stream or Table?</vt:lpstr>
      <vt:lpstr>Stateless Operations</vt:lpstr>
      <vt:lpstr>Examples of Stateless Operations</vt:lpstr>
      <vt:lpstr>Stateful Operations</vt:lpstr>
      <vt:lpstr>Discussion Lab: Stateless or Stateful?</vt:lpstr>
      <vt:lpstr>State Store Concept</vt:lpstr>
      <vt:lpstr>Windowing in Kafka Streams</vt:lpstr>
      <vt:lpstr>Types of Windows</vt:lpstr>
      <vt:lpstr>Window Types: Visual Comparison</vt:lpstr>
      <vt:lpstr>Aggregation Operations</vt:lpstr>
      <vt:lpstr>Real-Time Aggregation Example</vt:lpstr>
      <vt:lpstr>Discussion Lab: Pick the Right Window</vt:lpstr>
      <vt:lpstr>Kafka Streams Topology</vt:lpstr>
      <vt:lpstr>Lab 1 - Build Stream Processing Application</vt:lpstr>
      <vt:lpstr>Exactly-Once Semantics</vt:lpstr>
      <vt:lpstr>Fault Tolerance</vt:lpstr>
      <vt:lpstr>Discussion Lab: Recovery Walk-Through</vt:lpstr>
      <vt:lpstr>Kafka Streams Configuration Example</vt:lpstr>
      <vt:lpstr>Lab 2 - Real-Time Word Count</vt:lpstr>
      <vt:lpstr>Word Count Processing Flow</vt:lpstr>
      <vt:lpstr>Lab 3 - Filtering and Aggregation</vt:lpstr>
      <vt:lpstr>Filtering Example</vt:lpstr>
      <vt:lpstr>Mini Project - Real-Time Order Processing Pipeline</vt:lpstr>
      <vt:lpstr>Mini Project Architecture</vt:lpstr>
      <vt:lpstr>Suggested Project Features</vt:lpstr>
      <vt:lpstr>Deployment Considerations</vt:lpstr>
      <vt:lpstr>Performance Optimization</vt:lpstr>
      <vt:lpstr>Best Practices</vt:lpstr>
      <vt:lpstr>Common Interview Questions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5</cp:revision>
  <dcterms:created xsi:type="dcterms:W3CDTF">2013-01-27T09:14:16Z</dcterms:created>
  <dcterms:modified xsi:type="dcterms:W3CDTF">2026-05-24T17:52:03Z</dcterms:modified>
  <cp:category/>
</cp:coreProperties>
</file>