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93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13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54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4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8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4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43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0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22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3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48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60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Introduction to Event Streaming &amp; Kafka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>
                <a:solidFill>
                  <a:srgbClr val="1CADE4"/>
                </a:solidFill>
              </a:rPr>
              <a:t>❶  </a:t>
            </a:r>
            <a:r>
              <a:rPr lang="en-US" sz="1800" b="1" dirty="0"/>
              <a:t>What is Event Streaming?</a:t>
            </a:r>
            <a:r>
              <a:rPr lang="en-US" sz="1800" dirty="0"/>
              <a:t> - Core concepts and real-world examples</a:t>
            </a:r>
          </a:p>
          <a:p>
            <a:pPr>
              <a:spcBef>
                <a:spcPts val="400"/>
              </a:spcBef>
              <a:defRPr sz="1800"/>
            </a:pPr>
            <a:r>
              <a:rPr lang="en-US" sz="1800" b="1" dirty="0">
                <a:solidFill>
                  <a:srgbClr val="1CADE4"/>
                </a:solidFill>
              </a:rPr>
              <a:t>❷  </a:t>
            </a:r>
            <a:r>
              <a:rPr lang="en-US" sz="1800" b="1" dirty="0"/>
              <a:t>Introduction to Apache Kafka</a:t>
            </a:r>
            <a:r>
              <a:rPr lang="en-US" sz="1800" dirty="0"/>
              <a:t> - Origin, architecture, and key components</a:t>
            </a:r>
          </a:p>
          <a:p>
            <a:pPr>
              <a:spcBef>
                <a:spcPts val="400"/>
              </a:spcBef>
              <a:defRPr sz="1800"/>
            </a:pPr>
            <a:r>
              <a:rPr lang="en-US" sz="1800" b="1" dirty="0">
                <a:solidFill>
                  <a:srgbClr val="1CADE4"/>
                </a:solidFill>
              </a:rPr>
              <a:t>❸  </a:t>
            </a:r>
            <a:r>
              <a:rPr lang="en-US" sz="1800" b="1" dirty="0"/>
              <a:t>Kafka in Modern Architectures</a:t>
            </a:r>
            <a:r>
              <a:rPr lang="en-US" sz="1800" dirty="0"/>
              <a:t> - Microservices, event-driven design</a:t>
            </a:r>
          </a:p>
          <a:p>
            <a:pPr>
              <a:spcBef>
                <a:spcPts val="400"/>
              </a:spcBef>
              <a:defRPr sz="1800"/>
            </a:pPr>
            <a:r>
              <a:rPr lang="en-US" sz="1800" b="1" dirty="0">
                <a:solidFill>
                  <a:srgbClr val="1CADE4"/>
                </a:solidFill>
              </a:rPr>
              <a:t>❹  </a:t>
            </a:r>
            <a:r>
              <a:rPr lang="en-US" sz="1800" b="1" dirty="0"/>
              <a:t>Kafka Use Cases</a:t>
            </a:r>
            <a:r>
              <a:rPr lang="en-US" sz="1800" dirty="0"/>
              <a:t> - Industry applications and patterns</a:t>
            </a:r>
          </a:p>
          <a:p>
            <a:pPr>
              <a:spcBef>
                <a:spcPts val="400"/>
              </a:spcBef>
              <a:defRPr sz="1800"/>
            </a:pPr>
            <a:r>
              <a:rPr lang="en-US" sz="1800" b="1" dirty="0">
                <a:solidFill>
                  <a:srgbClr val="1CADE4"/>
                </a:solidFill>
              </a:rPr>
              <a:t>❺  </a:t>
            </a:r>
            <a:r>
              <a:rPr lang="en-US" sz="1800" b="1" dirty="0"/>
              <a:t>Kafka vs RabbitMQ vs ActiveMQ</a:t>
            </a:r>
            <a:r>
              <a:rPr lang="en-US" sz="1800" dirty="0"/>
              <a:t> - Feature comparison</a:t>
            </a:r>
          </a:p>
          <a:p>
            <a:pPr>
              <a:spcBef>
                <a:spcPts val="400"/>
              </a:spcBef>
              <a:defRPr sz="1800"/>
            </a:pPr>
            <a:r>
              <a:rPr lang="en-US" sz="1800" b="1" dirty="0">
                <a:solidFill>
                  <a:srgbClr val="1CADE4"/>
                </a:solidFill>
              </a:rPr>
              <a:t>❻  </a:t>
            </a:r>
            <a:r>
              <a:rPr lang="en-US" sz="1800" b="1" dirty="0"/>
              <a:t>Kafka Ecosystem Overview</a:t>
            </a:r>
            <a:r>
              <a:rPr lang="en-US" sz="1800" dirty="0"/>
              <a:t> - Connect, Streams, </a:t>
            </a:r>
            <a:r>
              <a:rPr lang="en-US" sz="1800" dirty="0" err="1"/>
              <a:t>ksqlDB</a:t>
            </a:r>
            <a:endParaRPr lang="en-US" sz="1800" dirty="0"/>
          </a:p>
          <a:p>
            <a:pPr>
              <a:spcBef>
                <a:spcPts val="400"/>
              </a:spcBef>
              <a:defRPr sz="1800"/>
            </a:pPr>
            <a:r>
              <a:rPr lang="en-US" sz="1800" b="1" dirty="0">
                <a:solidFill>
                  <a:srgbClr val="1CADE4"/>
                </a:solidFill>
              </a:rPr>
              <a:t>❼  </a:t>
            </a:r>
            <a:r>
              <a:rPr lang="en-US" sz="1800" b="1" dirty="0"/>
              <a:t>Hands-on Lab Setup</a:t>
            </a:r>
            <a:r>
              <a:rPr lang="en-US" sz="1800" dirty="0"/>
              <a:t> - Docker, Java, and first Kafka cluster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Event Streaming?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Continuous Data Flow</a:t>
            </a:r>
            <a:r>
              <a:rPr lang="en-US" sz="1700" dirty="0"/>
              <a:t> - Event streaming captures data as a continuous flow of events from systems, applications, sensors, and devices in real time.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Events as First-Class Records</a:t>
            </a:r>
            <a:r>
              <a:rPr lang="en-US" sz="1700" dirty="0"/>
              <a:t> - Each event (e.g., a transaction, click, log entry, or sensor reading) is an immutable, timestamped record that describes something that happened.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Real-Time Processing</a:t>
            </a:r>
            <a:r>
              <a:rPr lang="en-US" sz="1700" dirty="0"/>
              <a:t> - Unlike batch processing, streaming platforms analyze and react to data within milliseconds of arrival, enabling instant insights.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Asynchronous Communication</a:t>
            </a:r>
            <a:r>
              <a:rPr lang="en-US" sz="1700" dirty="0"/>
              <a:t> - Producers and consumers are fully decoupled; services can publish and subscribe to events independently without blocking.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Scalable &amp; Fault-Tolerant</a:t>
            </a:r>
            <a:r>
              <a:rPr lang="en-US" sz="1700" dirty="0"/>
              <a:t> - Event streaming architectures scale horizontally across clusters and provide built-in replication for zero data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Event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🛒 E-Commerce</a:t>
            </a:r>
            <a:r>
              <a:rPr lang="en-US" sz="1700" dirty="0"/>
              <a:t> - Real-time order tracking, inventory sync, and personalized recommendations powered by click-stream analysis.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🏦 Banking &amp; Finance</a:t>
            </a:r>
            <a:r>
              <a:rPr lang="en-US" sz="1700" dirty="0"/>
              <a:t> - Instant transaction processing, fraud detection within milliseconds, and compliance event logging.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📡 IoT &amp; Sensors</a:t>
            </a:r>
            <a:r>
              <a:rPr lang="en-US" sz="1700" dirty="0"/>
              <a:t> - Collecting millions of sensor events per second for predictive maintenance and smart-city analytics.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📱 Social Media</a:t>
            </a:r>
            <a:r>
              <a:rPr lang="en-US" sz="1700" dirty="0"/>
              <a:t> - Notification delivery, feed ranking, and real-time content moderation at scale.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🛡️ Fraud Detection</a:t>
            </a:r>
            <a:r>
              <a:rPr lang="en-US" sz="1700" dirty="0"/>
              <a:t> - Behavioral pattern analysis with sub-second response to flag suspicious activities.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📈 Stock Markets</a:t>
            </a:r>
            <a:r>
              <a:rPr lang="en-US" sz="1700" dirty="0"/>
              <a:t> - Streaming market data feeds for algorithmic trading and real-time portfolio risk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Apache Kafka?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Distributed Streaming Platform</a:t>
            </a:r>
            <a:r>
              <a:rPr lang="en-US" sz="1700" dirty="0"/>
              <a:t> - Apache Kafka is an open-source distributed event streaming platform capable of handling trillions of events per day.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Origin Story</a:t>
            </a:r>
            <a:r>
              <a:rPr lang="en-US" sz="1700" dirty="0"/>
              <a:t> - Created at LinkedIn in 2011 to handle 1.4 trillion messages/day for activity tracking. Donated to the Apache Software Foundation and became a top-level project.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High Throughput</a:t>
            </a:r>
            <a:r>
              <a:rPr lang="en-US" sz="1700" dirty="0"/>
              <a:t> - Designed for millions of messages per second with low latency (~2ms). Uses sequential I/O and zero-copy transfers for maximum performance.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Real-Time Pipelines</a:t>
            </a:r>
            <a:r>
              <a:rPr lang="en-US" sz="1700" dirty="0"/>
              <a:t> - Powers data pipelines connecting databases, microservices, analytics, and machine learning systems in real time.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Industry Adoption</a:t>
            </a:r>
            <a:r>
              <a:rPr lang="en-US" sz="1700" dirty="0"/>
              <a:t> - Used by 80%+ of Fortune 100 companies including Netflix, Uber, Airbnb, and Spotify for mission-critical workloads.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Kafka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1CADE4"/>
                </a:solidFill>
              </a:rPr>
              <a:t>▶ Producer</a:t>
            </a:r>
            <a:r>
              <a:rPr lang="en-US" sz="1700" dirty="0"/>
              <a:t> - Client application that publishes (writes) events to Kafka topics. Supports partitioning strategies for load balancing.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42BA97"/>
                </a:solidFill>
              </a:rPr>
              <a:t>◀ Consumer</a:t>
            </a:r>
            <a:r>
              <a:rPr lang="en-US" sz="1700" dirty="0"/>
              <a:t> - Client that subscribes to topics and reads events. Tracks progress via offsets for reliable, exactly-once processing.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🖥️ Broker</a:t>
            </a:r>
            <a:r>
              <a:rPr lang="en-US" sz="1700" dirty="0"/>
              <a:t> - A Kafka server node that stores data and serves client requests. A cluster typically runs 3+ brokers for redundancy.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42BA97"/>
                </a:solidFill>
              </a:rPr>
              <a:t>📨 Topic</a:t>
            </a:r>
            <a:r>
              <a:rPr lang="en-US" sz="1700" dirty="0"/>
              <a:t> - A named, logical channel to organize events (e.g., "orders", "user-clicks"). Topics are append-only and immutable.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3E8853"/>
                </a:solidFill>
              </a:rPr>
              <a:t>📊 Partition</a:t>
            </a:r>
            <a:r>
              <a:rPr lang="en-US" sz="1700" dirty="0"/>
              <a:t> - Topics are split into partitions distributed across brokers. Each partition is an ordered, immutable sequence of records.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335B74"/>
                </a:solidFill>
              </a:rPr>
              <a:t>🔧 </a:t>
            </a:r>
            <a:r>
              <a:rPr lang="en-US" sz="1700" b="1" dirty="0" err="1">
                <a:solidFill>
                  <a:srgbClr val="335B74"/>
                </a:solidFill>
              </a:rPr>
              <a:t>ZooKeeper</a:t>
            </a:r>
            <a:r>
              <a:rPr lang="en-US" sz="1700" b="1" dirty="0">
                <a:solidFill>
                  <a:srgbClr val="335B74"/>
                </a:solidFill>
              </a:rPr>
              <a:t> / </a:t>
            </a:r>
            <a:r>
              <a:rPr lang="en-US" sz="1700" b="1" dirty="0" err="1">
                <a:solidFill>
                  <a:srgbClr val="335B74"/>
                </a:solidFill>
              </a:rPr>
              <a:t>KRaft</a:t>
            </a:r>
            <a:r>
              <a:rPr lang="en-US" sz="1700" dirty="0"/>
              <a:t> - Manages cluster metadata and leader election. </a:t>
            </a:r>
            <a:r>
              <a:rPr lang="en-US" sz="1700" dirty="0" err="1"/>
              <a:t>KRaft</a:t>
            </a:r>
            <a:r>
              <a:rPr lang="en-US" sz="1700" dirty="0"/>
              <a:t> (Kafka Raft) is the new built-in consensus protocol replacing </a:t>
            </a:r>
            <a:r>
              <a:rPr lang="en-US" sz="1700" dirty="0" err="1"/>
              <a:t>ZooKeeper</a:t>
            </a:r>
            <a:r>
              <a:rPr lang="en-US" sz="1700" dirty="0"/>
              <a:t>.</a:t>
            </a:r>
          </a:p>
        </p:txBody>
      </p:sp>
      <p:sp>
        <p:nvSpPr>
          <p:cNvPr id="400" name="Icon 400"/>
          <p:cNvSpPr/>
          <p:nvPr/>
        </p:nvSpPr>
        <p:spPr>
          <a:xfrm>
            <a:off x="250000" y="2380000"/>
            <a:ext cx="250000" cy="250000"/>
          </a:xfrm>
          <a:prstGeom prst="ellipse">
            <a:avLst/>
          </a:prstGeom>
          <a:solidFill>
            <a:srgbClr val="1CADE4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401" name="Icon 401"/>
          <p:cNvSpPr/>
          <p:nvPr/>
        </p:nvSpPr>
        <p:spPr>
          <a:xfrm>
            <a:off x="250000" y="3040000"/>
            <a:ext cx="250000" cy="250000"/>
          </a:xfrm>
          <a:prstGeom prst="ellipse">
            <a:avLst/>
          </a:prstGeom>
          <a:solidFill>
            <a:srgbClr val="42BA97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02" name="Icon 402"/>
          <p:cNvSpPr/>
          <p:nvPr/>
        </p:nvSpPr>
        <p:spPr>
          <a:xfrm>
            <a:off x="250000" y="3700000"/>
            <a:ext cx="250000" cy="250000"/>
          </a:xfrm>
          <a:prstGeom prst="ellipse">
            <a:avLst/>
          </a:prstGeom>
          <a:solidFill>
            <a:srgbClr val="2683C6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03" name="Icon 403"/>
          <p:cNvSpPr/>
          <p:nvPr/>
        </p:nvSpPr>
        <p:spPr>
          <a:xfrm>
            <a:off x="250000" y="4360000"/>
            <a:ext cx="250000" cy="250000"/>
          </a:xfrm>
          <a:prstGeom prst="ellipse">
            <a:avLst/>
          </a:prstGeom>
          <a:solidFill>
            <a:srgbClr val="42BA97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04" name="Icon 404"/>
          <p:cNvSpPr/>
          <p:nvPr/>
        </p:nvSpPr>
        <p:spPr>
          <a:xfrm>
            <a:off x="250000" y="5020000"/>
            <a:ext cx="250000" cy="250000"/>
          </a:xfrm>
          <a:prstGeom prst="ellipse">
            <a:avLst/>
          </a:prstGeom>
          <a:solidFill>
            <a:srgbClr val="3E8853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Pt</a:t>
            </a:r>
          </a:p>
        </p:txBody>
      </p:sp>
      <p:sp>
        <p:nvSpPr>
          <p:cNvPr id="405" name="Icon 405"/>
          <p:cNvSpPr/>
          <p:nvPr/>
        </p:nvSpPr>
        <p:spPr>
          <a:xfrm>
            <a:off x="250000" y="5680000"/>
            <a:ext cx="250000" cy="250000"/>
          </a:xfrm>
          <a:prstGeom prst="ellipse">
            <a:avLst/>
          </a:prstGeom>
          <a:solidFill>
            <a:srgbClr val="335B74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3200000"/>
          </a:xfrm>
        </p:spPr>
        <p:txBody>
          <a:bodyPr>
            <a:normAutofit lnSpcReduction="10000"/>
          </a:bodyPr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Publish-Subscribe Model</a:t>
            </a:r>
            <a:r>
              <a:rPr lang="en-US" sz="1700" dirty="0"/>
              <a:t> - Producers publish events to topics; consumers subscribe and pull messages at their own pace. This fully decouples senders from receivers.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Partitioned Topics</a:t>
            </a:r>
            <a:r>
              <a:rPr lang="en-US" sz="1700" dirty="0"/>
              <a:t> - Each topic is divided into partitions spread across brokers. Partitions enable parallel reads/writes and horizontal scaling.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Broker Cluster</a:t>
            </a:r>
            <a:r>
              <a:rPr lang="en-US" sz="1700" dirty="0"/>
              <a:t> - Multiple brokers form a cluster. Each partition has one leader broker handling reads/writes and follower replicas for fault tolerance.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Consumer Groups</a:t>
            </a:r>
            <a:r>
              <a:rPr lang="en-US" sz="1700" dirty="0"/>
              <a:t> - Consumers within a group split partition workload automatically. Adding consumers scales throughput linearly.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Replication Factor</a:t>
            </a:r>
            <a:r>
              <a:rPr lang="en-US" sz="1700" dirty="0"/>
              <a:t> - Each partition is replicated across N brokers (typically 3). If a broker fails, a replica is promoted to leader with zero downtime.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Offset Tracking</a:t>
            </a:r>
            <a:r>
              <a:rPr lang="en-US" sz="1700" dirty="0"/>
              <a:t> - Consumers track their position (offset) in each partition, enabling replay, rewind, and exactly-once delivery guarantees.</a:t>
            </a:r>
          </a:p>
        </p:txBody>
      </p:sp>
      <p:sp>
        <p:nvSpPr>
          <p:cNvPr id="200" name="Box 200"/>
          <p:cNvSpPr/>
          <p:nvPr/>
        </p:nvSpPr>
        <p:spPr>
          <a:xfrm>
            <a:off x="600000" y="6300000"/>
            <a:ext cx="2200000" cy="38000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Producer</a:t>
            </a:r>
          </a:p>
        </p:txBody>
      </p:sp>
      <p:sp>
        <p:nvSpPr>
          <p:cNvPr id="201" name="Box 201"/>
          <p:cNvSpPr/>
          <p:nvPr/>
        </p:nvSpPr>
        <p:spPr>
          <a:xfrm>
            <a:off x="3400000" y="6300000"/>
            <a:ext cx="2200000" cy="380000"/>
          </a:xfrm>
          <a:prstGeom prst="roundRect">
            <a:avLst>
              <a:gd name="adj" fmla="val 16667"/>
            </a:avLst>
          </a:prstGeom>
          <a:solidFill>
            <a:srgbClr val="2683C6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Topic / Broker</a:t>
            </a:r>
          </a:p>
        </p:txBody>
      </p:sp>
      <p:sp>
        <p:nvSpPr>
          <p:cNvPr id="202" name="Box 202"/>
          <p:cNvSpPr/>
          <p:nvPr/>
        </p:nvSpPr>
        <p:spPr>
          <a:xfrm>
            <a:off x="6200000" y="6300000"/>
            <a:ext cx="2200000" cy="380000"/>
          </a:xfrm>
          <a:prstGeom prst="roundRect">
            <a:avLst>
              <a:gd name="adj" fmla="val 16667"/>
            </a:avLst>
          </a:prstGeom>
          <a:solidFill>
            <a:srgbClr val="42BA97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Consumer</a:t>
            </a:r>
          </a:p>
        </p:txBody>
      </p:sp>
      <p:sp>
        <p:nvSpPr>
          <p:cNvPr id="203" name="Arrow 203"/>
          <p:cNvSpPr/>
          <p:nvPr/>
        </p:nvSpPr>
        <p:spPr>
          <a:xfrm>
            <a:off x="2850000" y="6390000"/>
            <a:ext cx="5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AAA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Arrow 204"/>
          <p:cNvSpPr/>
          <p:nvPr/>
        </p:nvSpPr>
        <p:spPr>
          <a:xfrm>
            <a:off x="5650000" y="6390000"/>
            <a:ext cx="5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AAA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Kafka is Used in Modern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Massive Throughput</a:t>
            </a:r>
            <a:r>
              <a:rPr lang="en-US" sz="1700" dirty="0"/>
              <a:t> - Processes millions of events per second with sub-10ms latency. LinkedIn handles 7+ trillion messages/day on Kafka.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Real-Time Analytics</a:t>
            </a:r>
            <a:r>
              <a:rPr lang="en-US" sz="1700" dirty="0"/>
              <a:t> - Powers dashboards, anomaly detection, and ML feature stores with continuous streams instead of stale batch data.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Microservices Backbone</a:t>
            </a:r>
            <a:r>
              <a:rPr lang="en-US" sz="1700" dirty="0"/>
              <a:t> - Serves as the central nervous system for event-driven microservices, replacing brittle point-to-point integrations.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Durable &amp; Reliable</a:t>
            </a:r>
            <a:r>
              <a:rPr lang="en-US" sz="1700" dirty="0"/>
              <a:t> - Persists all events to disk with configurable retention (hours to forever). No data loss even during broker failures.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System Decoupling</a:t>
            </a:r>
            <a:r>
              <a:rPr lang="en-US" sz="1700" dirty="0"/>
              <a:t> - Producers and consumers evolve independently. New services can tap into existing event streams without modifying sources.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Cloud-Native Integration</a:t>
            </a:r>
            <a:r>
              <a:rPr lang="en-US" sz="1700" dirty="0"/>
              <a:t> - First-class support on AWS (MSK), Azure (Event Hubs), and GCP. Also available as Confluent Cloud managed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Log Aggregation</a:t>
            </a:r>
            <a:r>
              <a:rPr lang="en-US" sz="1700" dirty="0"/>
              <a:t> - Collect logs from hundreds of services into a centralized stream for search, alerting, and compliance.</a:t>
            </a:r>
          </a:p>
          <a:p>
            <a:pPr>
              <a:spcBef>
                <a:spcPts val="25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Real-Time Analytics</a:t>
            </a:r>
            <a:r>
              <a:rPr lang="en-US" sz="1700" dirty="0"/>
              <a:t> - Feed live dashboards and BI tools with streaming metrics for instant business visibility.</a:t>
            </a:r>
          </a:p>
          <a:p>
            <a:pPr>
              <a:spcBef>
                <a:spcPts val="25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Fraud Detection</a:t>
            </a:r>
            <a:r>
              <a:rPr lang="en-US" sz="1700" dirty="0"/>
              <a:t> - Analyze transaction patterns in real time to flag and block fraudulent activity within milliseconds.</a:t>
            </a:r>
          </a:p>
          <a:p>
            <a:pPr>
              <a:spcBef>
                <a:spcPts val="25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Monitoring &amp; Alerting</a:t>
            </a:r>
            <a:r>
              <a:rPr lang="en-US" sz="1700" dirty="0"/>
              <a:t> - Stream system metrics and trigger automated alerts when thresholds are breached.</a:t>
            </a:r>
          </a:p>
          <a:p>
            <a:pPr>
              <a:spcBef>
                <a:spcPts val="25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Event-Driven Microservices</a:t>
            </a:r>
            <a:r>
              <a:rPr lang="en-US" sz="1700" dirty="0"/>
              <a:t> - Build loosely coupled services that react to domain events (order placed, payment received, etc.).</a:t>
            </a:r>
          </a:p>
          <a:p>
            <a:pPr>
              <a:spcBef>
                <a:spcPts val="25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IoT Data Processing</a:t>
            </a:r>
            <a:r>
              <a:rPr lang="en-US" sz="1700" dirty="0"/>
              <a:t> - Ingest millions of sensor readings per second for predictive maintenance and edge analytics.</a:t>
            </a:r>
          </a:p>
          <a:p>
            <a:pPr>
              <a:spcBef>
                <a:spcPts val="25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Data Lake Ingestion</a:t>
            </a:r>
            <a:r>
              <a:rPr lang="en-US" sz="1700" dirty="0"/>
              <a:t> - Stream raw events into data lakes (S3, HDFS, Delta Lake) for downstream batch and ML workloads.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in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Asynchronous Event Communication</a:t>
            </a:r>
            <a:r>
              <a:rPr lang="en-US" sz="1700" dirty="0"/>
              <a:t> - Services publish domain events (e.g., </a:t>
            </a:r>
            <a:r>
              <a:rPr lang="en-US" sz="1700" dirty="0" err="1"/>
              <a:t>OrderCreated</a:t>
            </a:r>
            <a:r>
              <a:rPr lang="en-US" sz="1700" dirty="0"/>
              <a:t>, </a:t>
            </a:r>
            <a:r>
              <a:rPr lang="en-US" sz="1700" dirty="0" err="1"/>
              <a:t>PaymentProcessed</a:t>
            </a:r>
            <a:r>
              <a:rPr lang="en-US" sz="1700" dirty="0"/>
              <a:t>) to Kafka topics. Downstream services react independently without tight coupling.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Horizontal Scalability</a:t>
            </a:r>
            <a:r>
              <a:rPr lang="en-US" sz="1700" dirty="0"/>
              <a:t> - Kafka partitions allow consumer groups to scale processing across multiple instances. Adding pods or containers automatically balances load.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Service Independence</a:t>
            </a:r>
            <a:r>
              <a:rPr lang="en-US" sz="1700" dirty="0"/>
              <a:t> - No direct API calls between services. Producers and consumers evolve, deploy, and scale independently with no shared state.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Event Sourcing &amp; CQRS</a:t>
            </a:r>
            <a:r>
              <a:rPr lang="en-US" sz="1700" dirty="0"/>
              <a:t> - Kafka’s immutable log naturally supports event sourcing patterns. Rebuild application state by replaying the event stream.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Resilience &amp; Fault Isolation</a:t>
            </a:r>
            <a:r>
              <a:rPr lang="en-US" sz="1700" dirty="0"/>
              <a:t> - If a consumer service goes down, events are retained in Kafka. The service catches up automatically upon recovery - no data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vs RabbitMQ vs ActiveMQ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1CADE4"/>
                </a:solidFill>
              </a:rPr>
              <a:t>Apache Kafka</a:t>
            </a:r>
            <a:r>
              <a:rPr lang="en-US" sz="1700" dirty="0"/>
              <a:t> - Distributed event streaming platform built for high-throughput, persistent event logs, and real-time stream processing at scale.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42BA97"/>
                </a:solidFill>
              </a:rPr>
              <a:t>RabbitMQ</a:t>
            </a:r>
            <a:r>
              <a:rPr lang="en-US" sz="1700" dirty="0"/>
              <a:t> - Traditional message broker using AMQP protocol. Excels at complex routing, priority queues, and request-reply patterns.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3E8853"/>
                </a:solidFill>
              </a:rPr>
              <a:t>ActiveMQ</a:t>
            </a:r>
            <a:r>
              <a:rPr lang="en-US" sz="1700" dirty="0"/>
              <a:t> - Enterprise JMS-compliant message broker. Strong in legacy Java EE environments with transactional messaging support.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335B74"/>
                </a:solidFill>
              </a:rPr>
              <a:t>Key Difference: </a:t>
            </a:r>
            <a:r>
              <a:rPr lang="en-US" sz="1700" dirty="0"/>
              <a:t>Kafka retains messages as a persistent log (replay-friendly). RabbitMQ and ActiveMQ delete messages after consumption.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335B74"/>
                </a:solidFill>
              </a:rPr>
              <a:t>When to Choose: </a:t>
            </a:r>
            <a:r>
              <a:rPr lang="en-US" sz="1700" dirty="0"/>
              <a:t>Kafka for streaming &amp; big data. RabbitMQ for task queues &amp; routing flexibility. ActiveMQ for legacy JMS enterprise apps.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lang="en-US" sz="1600" b="1">
                <a:solidFill>
                  <a:srgbClr val="1CADE4"/>
                </a:solidFill>
              </a:rPr>
              <a:t>Kafka: </a:t>
            </a:r>
            <a:r>
              <a:rPr lang="en-US" sz="1600" b="1"/>
              <a:t>Throughput: </a:t>
            </a:r>
            <a:r>
              <a:rPr lang="en-US" sz="1600"/>
              <a:t>Very High (millions/sec) | </a:t>
            </a:r>
            <a:r>
              <a:rPr lang="en-US" sz="1600" b="1"/>
              <a:t>Retention: </a:t>
            </a:r>
            <a:r>
              <a:rPr lang="en-US" sz="1600"/>
              <a:t>Persistent log, configurable | </a:t>
            </a:r>
            <a:r>
              <a:rPr lang="en-US" sz="1600" b="1"/>
              <a:t>Best for: </a:t>
            </a:r>
            <a:r>
              <a:rPr lang="en-US" sz="1600"/>
              <a:t>Streaming, big data, event sourcing</a:t>
            </a:r>
          </a:p>
          <a:p>
            <a:pPr>
              <a:spcBef>
                <a:spcPts val="400"/>
              </a:spcBef>
              <a:defRPr sz="1600"/>
            </a:pPr>
            <a:r>
              <a:rPr lang="en-US" sz="1600" b="1">
                <a:solidFill>
                  <a:srgbClr val="42BA97"/>
                </a:solidFill>
              </a:rPr>
              <a:t>RabbitMQ: </a:t>
            </a:r>
            <a:r>
              <a:rPr lang="en-US" sz="1600" b="1"/>
              <a:t>Throughput: </a:t>
            </a:r>
            <a:r>
              <a:rPr lang="en-US" sz="1600"/>
              <a:t>Moderate (tens of thousands/sec) | </a:t>
            </a:r>
            <a:r>
              <a:rPr lang="en-US" sz="1600" b="1"/>
              <a:t>Retention: </a:t>
            </a:r>
            <a:r>
              <a:rPr lang="en-US" sz="1600"/>
              <a:t>Deleted after ACK | </a:t>
            </a:r>
            <a:r>
              <a:rPr lang="en-US" sz="1600" b="1"/>
              <a:t>Best for: </a:t>
            </a:r>
            <a:r>
              <a:rPr lang="en-US" sz="1600"/>
              <a:t>Task queues, complex routing, RPC</a:t>
            </a:r>
          </a:p>
          <a:p>
            <a:pPr>
              <a:spcBef>
                <a:spcPts val="400"/>
              </a:spcBef>
              <a:defRPr sz="1600"/>
            </a:pPr>
            <a:r>
              <a:rPr lang="en-US" sz="1600" b="1">
                <a:solidFill>
                  <a:srgbClr val="3E8853"/>
                </a:solidFill>
              </a:rPr>
              <a:t>ActiveMQ: </a:t>
            </a:r>
            <a:r>
              <a:rPr lang="en-US" sz="1600" b="1"/>
              <a:t>Throughput: </a:t>
            </a:r>
            <a:r>
              <a:rPr lang="en-US" sz="1600"/>
              <a:t>Moderate | </a:t>
            </a:r>
            <a:r>
              <a:rPr lang="en-US" sz="1600" b="1"/>
              <a:t>Retention: </a:t>
            </a:r>
            <a:r>
              <a:rPr lang="en-US" sz="1600"/>
              <a:t>Deleted after ACK | </a:t>
            </a:r>
            <a:r>
              <a:rPr lang="en-US" sz="1600" b="1"/>
              <a:t>Best for: </a:t>
            </a:r>
            <a:r>
              <a:rPr lang="en-US" sz="1600"/>
              <a:t>JMS enterprise, transactional messaging</a:t>
            </a:r>
          </a:p>
          <a:p>
            <a:pPr>
              <a:spcBef>
                <a:spcPts val="500"/>
              </a:spcBef>
              <a:defRPr sz="1600"/>
            </a:pPr>
            <a:r>
              <a:rPr lang="en-US" sz="1600" b="1">
                <a:solidFill>
                  <a:srgbClr val="2683C6"/>
                </a:solidFill>
              </a:rPr>
              <a:t>✔ Kafka is preferred </a:t>
            </a:r>
            <a:r>
              <a:rPr lang="en-US" sz="1600"/>
              <a:t>when you need high-throughput event streaming, data replay, and long-term message retention for analytics or audit trails.</a:t>
            </a:r>
          </a:p>
          <a:p>
            <a:pPr>
              <a:spcBef>
                <a:spcPts val="300"/>
              </a:spcBef>
              <a:defRPr sz="1600"/>
            </a:pPr>
            <a:r>
              <a:rPr lang="en-US" sz="1600" b="1">
                <a:solidFill>
                  <a:srgbClr val="42BA97"/>
                </a:solidFill>
              </a:rPr>
              <a:t>✔ RabbitMQ is preferred </a:t>
            </a:r>
            <a:r>
              <a:rPr lang="en-US" sz="1600"/>
              <a:t>for traditional work queues, request-reply patterns, and applications requiring advanced message routing (fanout, topic, headers).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Ecosystem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3600000"/>
          </a:xfrm>
        </p:spPr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1CADE4"/>
                </a:solidFill>
              </a:rPr>
              <a:t>Kafka Connect</a:t>
            </a:r>
            <a:r>
              <a:rPr lang="en-US" sz="1700" dirty="0"/>
              <a:t> - Plug-and-play framework for streaming data between Kafka and external systems (databases, S3, Elasticsearch). 200+ pre-built connectors available.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Kafka Streams</a:t>
            </a:r>
            <a:r>
              <a:rPr lang="en-US" sz="1700" dirty="0"/>
              <a:t> - Lightweight Java library for building real-time stream processing applications. No separate cluster needed - runs inside your app.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 err="1">
                <a:solidFill>
                  <a:srgbClr val="27CED7"/>
                </a:solidFill>
              </a:rPr>
              <a:t>ksqlDB</a:t>
            </a:r>
            <a:r>
              <a:rPr lang="en-US" sz="1700" dirty="0"/>
              <a:t> - SQL engine for stream processing. Write SQL queries against Kafka topics to filter, join, aggregate, and transform events in real time.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42BA97"/>
                </a:solidFill>
              </a:rPr>
              <a:t>Schema Registry</a:t>
            </a:r>
            <a:r>
              <a:rPr lang="en-US" sz="1700" dirty="0"/>
              <a:t> - Centralized schema management for Avro, </a:t>
            </a:r>
            <a:r>
              <a:rPr lang="en-US" sz="1700" dirty="0" err="1"/>
              <a:t>Protobuf</a:t>
            </a:r>
            <a:r>
              <a:rPr lang="en-US" sz="1700" dirty="0"/>
              <a:t>, and JSON Schema. Enforces data contracts and ensures backward/forward compatibility.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335B74"/>
                </a:solidFill>
              </a:rPr>
              <a:t>Confluent Platform</a:t>
            </a:r>
            <a:r>
              <a:rPr lang="en-US" sz="1700" dirty="0"/>
              <a:t> - Enterprise-grade Kafka distribution with monitoring (Control Center), security (RBAC), multi-datacenter replication, and fully managed cloud.</a:t>
            </a:r>
          </a:p>
        </p:txBody>
      </p:sp>
      <p:sp>
        <p:nvSpPr>
          <p:cNvPr id="500" name="Box 500"/>
          <p:cNvSpPr/>
          <p:nvPr/>
        </p:nvSpPr>
        <p:spPr>
          <a:xfrm>
            <a:off x="500000" y="6300000"/>
            <a:ext cx="1400000" cy="32000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501" name="Box 501"/>
          <p:cNvSpPr/>
          <p:nvPr/>
        </p:nvSpPr>
        <p:spPr>
          <a:xfrm>
            <a:off x="2150000" y="6300000"/>
            <a:ext cx="1400000" cy="320000"/>
          </a:xfrm>
          <a:prstGeom prst="roundRect">
            <a:avLst>
              <a:gd name="adj" fmla="val 16667"/>
            </a:avLst>
          </a:prstGeom>
          <a:solidFill>
            <a:srgbClr val="2683C6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Streams</a:t>
            </a:r>
          </a:p>
        </p:txBody>
      </p:sp>
      <p:sp>
        <p:nvSpPr>
          <p:cNvPr id="502" name="Box 502"/>
          <p:cNvSpPr/>
          <p:nvPr/>
        </p:nvSpPr>
        <p:spPr>
          <a:xfrm>
            <a:off x="3800000" y="6300000"/>
            <a:ext cx="1400000" cy="320000"/>
          </a:xfrm>
          <a:prstGeom prst="roundRect">
            <a:avLst>
              <a:gd name="adj" fmla="val 16667"/>
            </a:avLst>
          </a:prstGeom>
          <a:solidFill>
            <a:srgbClr val="27CED7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ksqlDB</a:t>
            </a:r>
          </a:p>
        </p:txBody>
      </p:sp>
      <p:sp>
        <p:nvSpPr>
          <p:cNvPr id="503" name="Box 503"/>
          <p:cNvSpPr/>
          <p:nvPr/>
        </p:nvSpPr>
        <p:spPr>
          <a:xfrm>
            <a:off x="5450000" y="6300000"/>
            <a:ext cx="1400000" cy="320000"/>
          </a:xfrm>
          <a:prstGeom prst="roundRect">
            <a:avLst>
              <a:gd name="adj" fmla="val 16667"/>
            </a:avLst>
          </a:prstGeom>
          <a:solidFill>
            <a:srgbClr val="42BA97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Schema</a:t>
            </a:r>
          </a:p>
        </p:txBody>
      </p:sp>
      <p:sp>
        <p:nvSpPr>
          <p:cNvPr id="504" name="Box 504"/>
          <p:cNvSpPr/>
          <p:nvPr/>
        </p:nvSpPr>
        <p:spPr>
          <a:xfrm>
            <a:off x="7100000" y="6300000"/>
            <a:ext cx="1400000" cy="320000"/>
          </a:xfrm>
          <a:prstGeom prst="roundRect">
            <a:avLst>
              <a:gd name="adj" fmla="val 16667"/>
            </a:avLst>
          </a:prstGeom>
          <a:solidFill>
            <a:srgbClr val="335B74"/>
          </a:solidFill>
          <a:ln w="0">
            <a:noFill/>
          </a:ln>
        </p:spPr>
        <p:txBody>
          <a:bodyPr wrap="square" lIns="45720" tIns="36576" rIns="45720" bIns="36576" anchor="ctr" anchorCtr="0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Confluent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Message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3500000"/>
          </a:xfrm>
        </p:spPr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1CADE4"/>
                </a:solidFill>
              </a:rPr>
              <a:t>Step 1: Produce</a:t>
            </a:r>
            <a:r>
              <a:rPr lang="en-US" sz="1700" dirty="0"/>
              <a:t> - A producer application creates an event record (key + value + timestamp) and sends it to a specific Kafka topic.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Step 2: Partition &amp; Store</a:t>
            </a:r>
            <a:r>
              <a:rPr lang="en-US" sz="1700" dirty="0"/>
              <a:t> - The broker routes the event to the correct partition (based on key hash or round-robin) and appends it to the partition’s commit log.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7CED7"/>
                </a:solidFill>
              </a:rPr>
              <a:t>Step 3: Replicate</a:t>
            </a:r>
            <a:r>
              <a:rPr lang="en-US" sz="1700" dirty="0"/>
              <a:t> - Follower replicas on other brokers copy the event. An event is "committed" only after all in-sync replicas acknowledge it.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42BA97"/>
                </a:solidFill>
              </a:rPr>
              <a:t>Step 4: Consume</a:t>
            </a:r>
            <a:r>
              <a:rPr lang="en-US" sz="1700" dirty="0"/>
              <a:t> - Consumers in a consumer group poll the broker, read committed events, and process them. Each partition is consumed by exactly one consumer in the group.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335B74"/>
                </a:solidFill>
              </a:rPr>
              <a:t>Step 5: Commit Offset</a:t>
            </a:r>
            <a:r>
              <a:rPr lang="en-US" sz="1700" dirty="0"/>
              <a:t> - After processing, the consumer commits its offset. This bookmark allows the consumer to resume from exactly where it left off after a restart.</a:t>
            </a:r>
          </a:p>
        </p:txBody>
      </p:sp>
      <p:sp>
        <p:nvSpPr>
          <p:cNvPr id="300" name="Icon 300"/>
          <p:cNvSpPr/>
          <p:nvPr/>
        </p:nvSpPr>
        <p:spPr>
          <a:xfrm>
            <a:off x="900000" y="6200000"/>
            <a:ext cx="380000" cy="340000"/>
          </a:xfrm>
          <a:prstGeom prst="ellipse">
            <a:avLst/>
          </a:prstGeom>
          <a:solidFill>
            <a:srgbClr val="1CADE4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0" name="Arrow 350"/>
          <p:cNvSpPr/>
          <p:nvPr/>
        </p:nvSpPr>
        <p:spPr>
          <a:xfrm>
            <a:off x="1360000" y="6300000"/>
            <a:ext cx="350000" cy="1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Icon 301"/>
          <p:cNvSpPr/>
          <p:nvPr/>
        </p:nvSpPr>
        <p:spPr>
          <a:xfrm>
            <a:off x="2500000" y="6200000"/>
            <a:ext cx="380000" cy="340000"/>
          </a:xfrm>
          <a:prstGeom prst="ellipse">
            <a:avLst/>
          </a:prstGeom>
          <a:solidFill>
            <a:srgbClr val="2683C6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1" name="Arrow 351"/>
          <p:cNvSpPr/>
          <p:nvPr/>
        </p:nvSpPr>
        <p:spPr>
          <a:xfrm>
            <a:off x="2960000" y="6300000"/>
            <a:ext cx="350000" cy="1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Icon 302"/>
          <p:cNvSpPr/>
          <p:nvPr/>
        </p:nvSpPr>
        <p:spPr>
          <a:xfrm>
            <a:off x="4100000" y="6200000"/>
            <a:ext cx="380000" cy="340000"/>
          </a:xfrm>
          <a:prstGeom prst="ellipse">
            <a:avLst/>
          </a:prstGeom>
          <a:solidFill>
            <a:srgbClr val="27CED7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2" name="Arrow 352"/>
          <p:cNvSpPr/>
          <p:nvPr/>
        </p:nvSpPr>
        <p:spPr>
          <a:xfrm>
            <a:off x="4560000" y="6300000"/>
            <a:ext cx="350000" cy="1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Icon 303"/>
          <p:cNvSpPr/>
          <p:nvPr/>
        </p:nvSpPr>
        <p:spPr>
          <a:xfrm>
            <a:off x="5700000" y="6200000"/>
            <a:ext cx="380000" cy="340000"/>
          </a:xfrm>
          <a:prstGeom prst="ellipse">
            <a:avLst/>
          </a:prstGeom>
          <a:solidFill>
            <a:srgbClr val="42BA97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3" name="Arrow 353"/>
          <p:cNvSpPr/>
          <p:nvPr/>
        </p:nvSpPr>
        <p:spPr>
          <a:xfrm>
            <a:off x="6160000" y="6300000"/>
            <a:ext cx="350000" cy="1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Icon 304"/>
          <p:cNvSpPr/>
          <p:nvPr/>
        </p:nvSpPr>
        <p:spPr>
          <a:xfrm>
            <a:off x="7300000" y="6200000"/>
            <a:ext cx="380000" cy="340000"/>
          </a:xfrm>
          <a:prstGeom prst="ellipse">
            <a:avLst/>
          </a:prstGeom>
          <a:solidFill>
            <a:srgbClr val="335B74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1CADE4"/>
                </a:solidFill>
              </a:rPr>
              <a:t>① Install Java</a:t>
            </a:r>
            <a:r>
              <a:rPr lang="en-US" sz="1700" dirty="0"/>
              <a:t> - Set up Java JDK 8+ as a prerequisite for Kafka tools and CLI commands.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② Install Docker Desktop</a:t>
            </a:r>
            <a:r>
              <a:rPr lang="en-US" sz="1700" dirty="0"/>
              <a:t> - Docker provides containerized Kafka and </a:t>
            </a:r>
            <a:r>
              <a:rPr lang="en-US" sz="1700" dirty="0" err="1"/>
              <a:t>ZooKeeper</a:t>
            </a:r>
            <a:r>
              <a:rPr lang="en-US" sz="1700" dirty="0"/>
              <a:t> for quick local setup without complex installation.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27CED7"/>
                </a:solidFill>
              </a:rPr>
              <a:t>③ Run Kafka via Docker Compose</a:t>
            </a:r>
            <a:r>
              <a:rPr lang="en-US" sz="1700" dirty="0"/>
              <a:t> - Use a docker-</a:t>
            </a:r>
            <a:r>
              <a:rPr lang="en-US" sz="1700" dirty="0" err="1"/>
              <a:t>compose.yml</a:t>
            </a:r>
            <a:r>
              <a:rPr lang="en-US" sz="1700" dirty="0"/>
              <a:t> to spin up a complete Kafka cluster with one command.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42BA97"/>
                </a:solidFill>
              </a:rPr>
              <a:t>④ Verify Kafka Services</a:t>
            </a:r>
            <a:r>
              <a:rPr lang="en-US" sz="1700" dirty="0"/>
              <a:t> - Confirm that Kafka broker (port 9092) and </a:t>
            </a:r>
            <a:r>
              <a:rPr lang="en-US" sz="1700" dirty="0" err="1"/>
              <a:t>ZooKeeper</a:t>
            </a:r>
            <a:r>
              <a:rPr lang="en-US" sz="1700" dirty="0"/>
              <a:t> (port 2181) are running and healthy.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 b="1" dirty="0">
                <a:solidFill>
                  <a:srgbClr val="335B74"/>
                </a:solidFill>
              </a:rPr>
              <a:t>⑤ Basic Kafka Validation</a:t>
            </a:r>
            <a:r>
              <a:rPr lang="en-US" sz="1700" dirty="0"/>
              <a:t> - Create a topic, produce sample messages, and consume them to verify end-to-end connectivity.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Docker Desktop</a:t>
            </a:r>
            <a:r>
              <a:rPr lang="en-US" sz="1700" dirty="0"/>
              <a:t> - Latest version installed and running. Ensure WSL2 backend is enabled on Windows for best performance.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Java JDK 8+</a:t>
            </a:r>
            <a:r>
              <a:rPr lang="en-US" sz="1700" dirty="0"/>
              <a:t> - Required for Kafka CLI tools. Verify with: </a:t>
            </a:r>
            <a:r>
              <a:rPr lang="en-US" sz="1700" i="1" dirty="0"/>
              <a:t>java -version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Internet Connectivity</a:t>
            </a:r>
            <a:r>
              <a:rPr lang="en-US" sz="1700" dirty="0"/>
              <a:t> - Needed to pull Docker images from Docker Hub (Confluent Kafka images are ~500MB).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Terminal/CLI Knowledge</a:t>
            </a:r>
            <a:r>
              <a:rPr lang="en-US" sz="1700" dirty="0"/>
              <a:t> - Basic familiarity with command-line operations. Windows users can use PowerShell or WSL terminal.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Minimum 8GB RAM</a:t>
            </a:r>
            <a:r>
              <a:rPr lang="en-US" sz="1700" dirty="0"/>
              <a:t> - Kafka + </a:t>
            </a:r>
            <a:r>
              <a:rPr lang="en-US" sz="1700" dirty="0" err="1"/>
              <a:t>ZooKeeper</a:t>
            </a:r>
            <a:r>
              <a:rPr lang="en-US" sz="1700" dirty="0"/>
              <a:t> containers need ~2GB. Reserve additional headroom for your IDE and other tools.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Download JDK</a:t>
            </a:r>
            <a:r>
              <a:rPr lang="en-US" sz="1700" dirty="0"/>
              <a:t> - Get Java JDK 8, 11, or 17 (LTS) from Oracle or use OpenJDK distributions like Amazon </a:t>
            </a:r>
            <a:r>
              <a:rPr lang="en-US" sz="1700" dirty="0" err="1"/>
              <a:t>Corretto</a:t>
            </a:r>
            <a:r>
              <a:rPr lang="en-US" sz="1700" dirty="0"/>
              <a:t> or Eclipse </a:t>
            </a:r>
            <a:r>
              <a:rPr lang="en-US" sz="1700" dirty="0" err="1"/>
              <a:t>Temurin</a:t>
            </a:r>
            <a:r>
              <a:rPr lang="en-US" sz="1700" dirty="0"/>
              <a:t>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Run Installer</a:t>
            </a:r>
            <a:r>
              <a:rPr lang="en-US" sz="1700" dirty="0"/>
              <a:t> - Execute the installer for your OS. Accept defaults. On Linux, use your package manager: </a:t>
            </a:r>
            <a:r>
              <a:rPr lang="en-US" sz="1700" i="1" dirty="0" err="1"/>
              <a:t>sudo</a:t>
            </a:r>
            <a:r>
              <a:rPr lang="en-US" sz="1700" i="1" dirty="0"/>
              <a:t> apt install openjdk-17-jdk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Verify Installation</a:t>
            </a:r>
            <a:r>
              <a:rPr lang="en-US" sz="1700" dirty="0"/>
              <a:t> - Open a terminal and run: </a:t>
            </a:r>
            <a:r>
              <a:rPr lang="en-US" sz="1700" b="1" dirty="0">
                <a:solidFill>
                  <a:srgbClr val="1CADE4"/>
                </a:solidFill>
              </a:rPr>
              <a:t>java -version</a:t>
            </a:r>
            <a:r>
              <a:rPr lang="en-US" sz="1700" dirty="0"/>
              <a:t> - You should see the JDK version output.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Set JAVA_HOME</a:t>
            </a:r>
            <a:r>
              <a:rPr lang="en-US" sz="1700" dirty="0"/>
              <a:t> - Add </a:t>
            </a:r>
            <a:r>
              <a:rPr lang="en-US" sz="1700" b="1" dirty="0">
                <a:solidFill>
                  <a:srgbClr val="1CADE4"/>
                </a:solidFill>
              </a:rPr>
              <a:t>JAVA_HOME</a:t>
            </a:r>
            <a:r>
              <a:rPr lang="en-US" sz="1700" dirty="0"/>
              <a:t> environment variable pointing to your JDK installation directory (e.g., C:\Program Files\Java\jdk-17).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Update PATH</a:t>
            </a:r>
            <a:r>
              <a:rPr lang="en-US" sz="1700" dirty="0"/>
              <a:t> - Append </a:t>
            </a:r>
            <a:r>
              <a:rPr lang="en-US" sz="1700" b="1" dirty="0">
                <a:solidFill>
                  <a:srgbClr val="1CADE4"/>
                </a:solidFill>
              </a:rPr>
              <a:t>%JAVA_HOME%\bin</a:t>
            </a:r>
            <a:r>
              <a:rPr lang="en-US" sz="1700" dirty="0"/>
              <a:t> (Windows) or </a:t>
            </a:r>
            <a:r>
              <a:rPr lang="en-US" sz="1700" b="1" dirty="0">
                <a:solidFill>
                  <a:srgbClr val="1CADE4"/>
                </a:solidFill>
              </a:rPr>
              <a:t>$JAVA_HOME/bin</a:t>
            </a:r>
            <a:r>
              <a:rPr lang="en-US" sz="1700" dirty="0"/>
              <a:t> (Linux/Mac) to your system PATH.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Docker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Download Docker Desktop</a:t>
            </a:r>
            <a:r>
              <a:rPr lang="en-US" sz="1700" dirty="0"/>
              <a:t> - Visit docker.com and download the installer for your OS (Windows, macOS, or Linux).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Install &amp; Configure</a:t>
            </a:r>
            <a:r>
              <a:rPr lang="en-US" sz="1700" dirty="0"/>
              <a:t> - Run the installer. On Windows, enable WSL2 integration when prompted for better container performance.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Allocate Resources</a:t>
            </a:r>
            <a:r>
              <a:rPr lang="en-US" sz="1700" dirty="0"/>
              <a:t> - In Docker Settings &gt; Resources, allocate at least 4GB memory and 2 CPUs for smooth Kafka operation.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Start Docker</a:t>
            </a:r>
            <a:r>
              <a:rPr lang="en-US" sz="1700" dirty="0"/>
              <a:t> - Launch Docker Desktop and wait for the engine to start. The whale icon in your taskbar should show "running".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Verify Installation</a:t>
            </a:r>
            <a:r>
              <a:rPr lang="en-US" sz="1700" dirty="0"/>
              <a:t> - Run: </a:t>
            </a:r>
            <a:r>
              <a:rPr lang="en-US" sz="1700" b="1" dirty="0">
                <a:solidFill>
                  <a:srgbClr val="1CADE4"/>
                </a:solidFill>
              </a:rPr>
              <a:t>docker --version</a:t>
            </a:r>
            <a:r>
              <a:rPr lang="en-US" sz="1700" dirty="0"/>
              <a:t> and </a:t>
            </a:r>
            <a:r>
              <a:rPr lang="en-US" sz="1700" b="1" dirty="0">
                <a:solidFill>
                  <a:srgbClr val="1CADE4"/>
                </a:solidFill>
              </a:rPr>
              <a:t>docker compose version</a:t>
            </a:r>
            <a:r>
              <a:rPr lang="en-US" sz="1700" dirty="0"/>
              <a:t> to confirm both are working.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Docker Compose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Create Project Folder</a:t>
            </a:r>
            <a:r>
              <a:rPr lang="en-US" sz="1700" dirty="0"/>
              <a:t> - Create a directory for your Kafka lab: </a:t>
            </a:r>
            <a:r>
              <a:rPr lang="en-US" sz="1700" b="1" dirty="0" err="1">
                <a:solidFill>
                  <a:srgbClr val="1CADE4"/>
                </a:solidFill>
              </a:rPr>
              <a:t>mkdir</a:t>
            </a:r>
            <a:r>
              <a:rPr lang="en-US" sz="1700" b="1" dirty="0">
                <a:solidFill>
                  <a:srgbClr val="1CADE4"/>
                </a:solidFill>
              </a:rPr>
              <a:t> </a:t>
            </a:r>
            <a:r>
              <a:rPr lang="en-US" sz="1700" b="1" dirty="0" err="1">
                <a:solidFill>
                  <a:srgbClr val="1CADE4"/>
                </a:solidFill>
              </a:rPr>
              <a:t>kafka</a:t>
            </a:r>
            <a:r>
              <a:rPr lang="en-US" sz="1700" b="1" dirty="0">
                <a:solidFill>
                  <a:srgbClr val="1CADE4"/>
                </a:solidFill>
              </a:rPr>
              <a:t>-lab &amp;&amp; cd </a:t>
            </a:r>
            <a:r>
              <a:rPr lang="en-US" sz="1700" b="1" dirty="0" err="1">
                <a:solidFill>
                  <a:srgbClr val="1CADE4"/>
                </a:solidFill>
              </a:rPr>
              <a:t>kafka</a:t>
            </a:r>
            <a:r>
              <a:rPr lang="en-US" sz="1700" b="1" dirty="0">
                <a:solidFill>
                  <a:srgbClr val="1CADE4"/>
                </a:solidFill>
              </a:rPr>
              <a:t>-lab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Create docker-</a:t>
            </a:r>
            <a:r>
              <a:rPr lang="en-US" sz="1700" b="1" dirty="0" err="1">
                <a:solidFill>
                  <a:srgbClr val="2683C6"/>
                </a:solidFill>
              </a:rPr>
              <a:t>compose.yml</a:t>
            </a:r>
            <a:r>
              <a:rPr lang="en-US" sz="1700" dirty="0"/>
              <a:t> - Define two services: </a:t>
            </a:r>
            <a:r>
              <a:rPr lang="en-US" sz="1700" dirty="0" err="1"/>
              <a:t>ZooKeeper</a:t>
            </a:r>
            <a:r>
              <a:rPr lang="en-US" sz="1700" dirty="0"/>
              <a:t> (cluster coordinator) and Kafka (message broker) using Confluent’s official images.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Port Configuration</a:t>
            </a:r>
            <a:r>
              <a:rPr lang="en-US" sz="1700" dirty="0"/>
              <a:t> - Expose port 2181 for </a:t>
            </a:r>
            <a:r>
              <a:rPr lang="en-US" sz="1700" dirty="0" err="1"/>
              <a:t>ZooKeeper</a:t>
            </a:r>
            <a:r>
              <a:rPr lang="en-US" sz="1700" dirty="0"/>
              <a:t> client connections and port 9092 for Kafka broker communication.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Environment Variables</a:t>
            </a:r>
            <a:r>
              <a:rPr lang="en-US" sz="1700" dirty="0"/>
              <a:t> - Set KAFKA_BROKER_ID, KAFKA_ZOOKEEPER_CONNECT, KAFKA_ADVERTISED_LISTENERS, and KAFKA_OFFSETS_TOPIC_REPLICATION_FACTOR.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Networking</a:t>
            </a:r>
            <a:r>
              <a:rPr lang="en-US" sz="1700" dirty="0"/>
              <a:t> - Both containers share a Docker network. Use service names ("zookeeper", "</a:t>
            </a:r>
            <a:r>
              <a:rPr lang="en-US" sz="1700" dirty="0" err="1"/>
              <a:t>kafka</a:t>
            </a:r>
            <a:r>
              <a:rPr lang="en-US" sz="1700" dirty="0"/>
              <a:t>") as hostnames for inter-service communication.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lang="en-US" sz="1600" b="1" dirty="0">
                <a:solidFill>
                  <a:srgbClr val="1CADE4"/>
                </a:solidFill>
              </a:rPr>
              <a:t>version: '3'</a:t>
            </a:r>
          </a:p>
          <a:p>
            <a:pPr>
              <a:spcBef>
                <a:spcPts val="200"/>
              </a:spcBef>
              <a:defRPr sz="1600"/>
            </a:pPr>
            <a:r>
              <a:rPr lang="en-US" sz="1600" b="1" dirty="0"/>
              <a:t>services:</a:t>
            </a:r>
          </a:p>
          <a:p>
            <a:pPr lvl="1">
              <a:defRPr sz="1500"/>
            </a:pPr>
            <a:r>
              <a:rPr lang="en-US" sz="1500" b="1" dirty="0">
                <a:solidFill>
                  <a:srgbClr val="2683C6"/>
                </a:solidFill>
              </a:rPr>
              <a:t>zookeeper:</a:t>
            </a:r>
            <a:r>
              <a:rPr lang="en-US" sz="1500" dirty="0"/>
              <a:t>  image: </a:t>
            </a:r>
            <a:r>
              <a:rPr lang="en-US" sz="1500" dirty="0" err="1"/>
              <a:t>confluentinc</a:t>
            </a:r>
            <a:r>
              <a:rPr lang="en-US" sz="1500" dirty="0"/>
              <a:t>/cp-zookeeper:7.5.0</a:t>
            </a:r>
          </a:p>
          <a:p>
            <a:pPr lvl="1">
              <a:defRPr sz="1500"/>
            </a:pPr>
            <a:r>
              <a:rPr lang="en-US" sz="1500" dirty="0"/>
              <a:t>  ports: "2181:2181"  |  ZOOKEEPER_CLIENT_PORT: 2181</a:t>
            </a:r>
          </a:p>
          <a:p>
            <a:pPr lvl="1">
              <a:spcBef>
                <a:spcPts val="200"/>
              </a:spcBef>
              <a:defRPr sz="1500"/>
            </a:pPr>
            <a:r>
              <a:rPr lang="en-US" sz="1500" b="1" dirty="0" err="1">
                <a:solidFill>
                  <a:srgbClr val="2683C6"/>
                </a:solidFill>
              </a:rPr>
              <a:t>kafka</a:t>
            </a:r>
            <a:r>
              <a:rPr lang="en-US" sz="1500" b="1" dirty="0">
                <a:solidFill>
                  <a:srgbClr val="2683C6"/>
                </a:solidFill>
              </a:rPr>
              <a:t>:</a:t>
            </a:r>
            <a:r>
              <a:rPr lang="en-US" sz="1500" dirty="0"/>
              <a:t>  image: </a:t>
            </a:r>
            <a:r>
              <a:rPr lang="en-US" sz="1500" dirty="0" err="1"/>
              <a:t>confluentinc</a:t>
            </a:r>
            <a:r>
              <a:rPr lang="en-US" sz="1500" dirty="0"/>
              <a:t>/cp-kafka:7.5.0</a:t>
            </a:r>
          </a:p>
          <a:p>
            <a:pPr lvl="1">
              <a:defRPr sz="1500"/>
            </a:pPr>
            <a:r>
              <a:rPr lang="en-US" sz="1500" dirty="0"/>
              <a:t>  ports: "9092:9092"  |  </a:t>
            </a:r>
            <a:r>
              <a:rPr lang="en-US" sz="1500" dirty="0" err="1"/>
              <a:t>depends_on</a:t>
            </a:r>
            <a:r>
              <a:rPr lang="en-US" sz="1500" dirty="0"/>
              <a:t>: [zookeeper]</a:t>
            </a:r>
          </a:p>
          <a:p>
            <a:pPr lvl="1">
              <a:defRPr sz="1500"/>
            </a:pPr>
            <a:r>
              <a:rPr lang="en-US" sz="1500" dirty="0"/>
              <a:t>  KAFKA_BROKER_ID: 1</a:t>
            </a:r>
          </a:p>
          <a:p>
            <a:pPr lvl="1">
              <a:defRPr sz="1500"/>
            </a:pPr>
            <a:r>
              <a:rPr lang="en-US" sz="1500" dirty="0"/>
              <a:t>  KAFKA_ZOOKEEPER_CONNECT: zookeeper:2181</a:t>
            </a:r>
          </a:p>
          <a:p>
            <a:pPr lvl="1">
              <a:defRPr sz="1500"/>
            </a:pPr>
            <a:r>
              <a:rPr lang="en-US" sz="1500" dirty="0"/>
              <a:t>  KAFKA_ADVERTISED_LISTENERS: PLAINTEXT://localhost:9092</a:t>
            </a:r>
          </a:p>
          <a:p>
            <a:pPr>
              <a:spcBef>
                <a:spcPts val="400"/>
              </a:spcBef>
              <a:defRPr sz="1600"/>
            </a:pPr>
            <a:r>
              <a:rPr lang="en-US" sz="1600" b="1" dirty="0">
                <a:solidFill>
                  <a:srgbClr val="42BA97"/>
                </a:solidFill>
              </a:rPr>
              <a:t> Tip: </a:t>
            </a:r>
            <a:r>
              <a:rPr lang="en-US" sz="1600" dirty="0"/>
              <a:t>Use specific image tags (e.g., 7.5.0) instead of "latest" for reproducible lab environments.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Kafka using 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Navigate to Project</a:t>
            </a:r>
            <a:r>
              <a:rPr lang="en-US" sz="1700" dirty="0"/>
              <a:t> - Open terminal and navigate to your </a:t>
            </a:r>
            <a:r>
              <a:rPr lang="en-US" sz="1700" dirty="0" err="1"/>
              <a:t>kafka</a:t>
            </a:r>
            <a:r>
              <a:rPr lang="en-US" sz="1700" dirty="0"/>
              <a:t>-lab directory containing docker-</a:t>
            </a:r>
            <a:r>
              <a:rPr lang="en-US" sz="1700" dirty="0" err="1"/>
              <a:t>compose.yml</a:t>
            </a:r>
            <a:r>
              <a:rPr lang="en-US" sz="1700" dirty="0"/>
              <a:t>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Start Services</a:t>
            </a:r>
            <a:r>
              <a:rPr lang="en-US" sz="1700" dirty="0"/>
              <a:t> - Execute: </a:t>
            </a:r>
            <a:r>
              <a:rPr lang="en-US" sz="1700" b="1" dirty="0">
                <a:solidFill>
                  <a:srgbClr val="1CADE4"/>
                </a:solidFill>
              </a:rPr>
              <a:t>docker compose up -d</a:t>
            </a:r>
            <a:r>
              <a:rPr lang="en-US" sz="1700" dirty="0"/>
              <a:t> - The -d flag runs containers in detached (background) mode.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Image Download</a:t>
            </a:r>
            <a:r>
              <a:rPr lang="en-US" sz="1700" dirty="0"/>
              <a:t> - On first run, Docker pulls images from Docker Hub (~1.2GB total). Subsequent starts use cached images.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Container Startup</a:t>
            </a:r>
            <a:r>
              <a:rPr lang="en-US" sz="1700" dirty="0"/>
              <a:t> - </a:t>
            </a:r>
            <a:r>
              <a:rPr lang="en-US" sz="1700" dirty="0" err="1"/>
              <a:t>ZooKeeper</a:t>
            </a:r>
            <a:r>
              <a:rPr lang="en-US" sz="1700" dirty="0"/>
              <a:t> starts first, then Kafka connects to it. Full startup takes ~15–30 seconds.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Verify Running</a:t>
            </a:r>
            <a:r>
              <a:rPr lang="en-US" sz="1700" dirty="0"/>
              <a:t> - Run: </a:t>
            </a:r>
            <a:r>
              <a:rPr lang="en-US" sz="1700" b="1" dirty="0">
                <a:solidFill>
                  <a:srgbClr val="1CADE4"/>
                </a:solidFill>
              </a:rPr>
              <a:t>docker </a:t>
            </a:r>
            <a:r>
              <a:rPr lang="en-US" sz="1700" b="1" dirty="0" err="1">
                <a:solidFill>
                  <a:srgbClr val="1CADE4"/>
                </a:solidFill>
              </a:rPr>
              <a:t>ps</a:t>
            </a:r>
            <a:r>
              <a:rPr lang="en-US" sz="1700" dirty="0"/>
              <a:t> - You should see two containers (zookeeper and </a:t>
            </a:r>
            <a:r>
              <a:rPr lang="en-US" sz="1700" dirty="0" err="1"/>
              <a:t>kafka</a:t>
            </a:r>
            <a:r>
              <a:rPr lang="en-US" sz="1700" dirty="0"/>
              <a:t>) with status "Up".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Kafka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Check Running Containers</a:t>
            </a:r>
            <a:r>
              <a:rPr lang="en-US" sz="1700" dirty="0"/>
              <a:t> - Run </a:t>
            </a:r>
            <a:r>
              <a:rPr lang="en-US" sz="1700" b="1" dirty="0">
                <a:solidFill>
                  <a:srgbClr val="1CADE4"/>
                </a:solidFill>
              </a:rPr>
              <a:t>docker </a:t>
            </a:r>
            <a:r>
              <a:rPr lang="en-US" sz="1700" b="1" dirty="0" err="1">
                <a:solidFill>
                  <a:srgbClr val="1CADE4"/>
                </a:solidFill>
              </a:rPr>
              <a:t>ps</a:t>
            </a:r>
            <a:r>
              <a:rPr lang="en-US" sz="1700" dirty="0"/>
              <a:t> to list active containers. Both </a:t>
            </a:r>
            <a:r>
              <a:rPr lang="en-US" sz="1700" dirty="0" err="1"/>
              <a:t>kafka</a:t>
            </a:r>
            <a:r>
              <a:rPr lang="en-US" sz="1700" dirty="0"/>
              <a:t> and zookeeper should show "Up" status.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Verify Kafka Broker (9092)</a:t>
            </a:r>
            <a:r>
              <a:rPr lang="en-US" sz="1700" dirty="0"/>
              <a:t> - Test connectivity: </a:t>
            </a:r>
            <a:r>
              <a:rPr lang="en-US" sz="1700" i="1" dirty="0"/>
              <a:t>docker exec </a:t>
            </a:r>
            <a:r>
              <a:rPr lang="en-US" sz="1700" i="1" dirty="0" err="1"/>
              <a:t>kafka</a:t>
            </a:r>
            <a:r>
              <a:rPr lang="en-US" sz="1700" i="1" dirty="0"/>
              <a:t> </a:t>
            </a:r>
            <a:r>
              <a:rPr lang="en-US" sz="1700" i="1" dirty="0" err="1"/>
              <a:t>kafka</a:t>
            </a:r>
            <a:r>
              <a:rPr lang="en-US" sz="1700" i="1" dirty="0"/>
              <a:t>-broker-api-versions --bootstrap-server localhost:9092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Verify </a:t>
            </a:r>
            <a:r>
              <a:rPr lang="en-US" sz="1700" b="1" dirty="0" err="1">
                <a:solidFill>
                  <a:srgbClr val="2683C6"/>
                </a:solidFill>
              </a:rPr>
              <a:t>ZooKeeper</a:t>
            </a:r>
            <a:r>
              <a:rPr lang="en-US" sz="1700" b="1" dirty="0">
                <a:solidFill>
                  <a:srgbClr val="2683C6"/>
                </a:solidFill>
              </a:rPr>
              <a:t> (2181)</a:t>
            </a:r>
            <a:r>
              <a:rPr lang="en-US" sz="1700" dirty="0"/>
              <a:t> - Check </a:t>
            </a:r>
            <a:r>
              <a:rPr lang="en-US" sz="1700" dirty="0" err="1"/>
              <a:t>ZooKeeper</a:t>
            </a:r>
            <a:r>
              <a:rPr lang="en-US" sz="1700" dirty="0"/>
              <a:t> status: </a:t>
            </a:r>
            <a:r>
              <a:rPr lang="en-US" sz="1700" i="1" dirty="0"/>
              <a:t>docker exec zookeeper bash -c "echo </a:t>
            </a:r>
            <a:r>
              <a:rPr lang="en-US" sz="1700" i="1" dirty="0" err="1"/>
              <a:t>ruok</a:t>
            </a:r>
            <a:r>
              <a:rPr lang="en-US" sz="1700" i="1" dirty="0"/>
              <a:t> | </a:t>
            </a:r>
            <a:r>
              <a:rPr lang="en-US" sz="1700" i="1" dirty="0" err="1"/>
              <a:t>nc</a:t>
            </a:r>
            <a:r>
              <a:rPr lang="en-US" sz="1700" i="1" dirty="0"/>
              <a:t> localhost 2181"</a:t>
            </a:r>
            <a:r>
              <a:rPr lang="en-US" sz="1700" dirty="0"/>
              <a:t> - should return "</a:t>
            </a:r>
            <a:r>
              <a:rPr lang="en-US" sz="1700" dirty="0" err="1"/>
              <a:t>imok</a:t>
            </a:r>
            <a:r>
              <a:rPr lang="en-US" sz="1700" dirty="0"/>
              <a:t>".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Check Logs</a:t>
            </a:r>
            <a:r>
              <a:rPr lang="en-US" sz="1700" dirty="0"/>
              <a:t> - Run </a:t>
            </a:r>
            <a:r>
              <a:rPr lang="en-US" sz="1700" b="1" dirty="0">
                <a:solidFill>
                  <a:srgbClr val="1CADE4"/>
                </a:solidFill>
              </a:rPr>
              <a:t>docker logs </a:t>
            </a:r>
            <a:r>
              <a:rPr lang="en-US" sz="1700" b="1" dirty="0" err="1">
                <a:solidFill>
                  <a:srgbClr val="1CADE4"/>
                </a:solidFill>
              </a:rPr>
              <a:t>kafka</a:t>
            </a:r>
            <a:r>
              <a:rPr lang="en-US" sz="1700" dirty="0"/>
              <a:t> to inspect broker startup logs. Look for "started" and no ERROR lines.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Health Status</a:t>
            </a:r>
            <a:r>
              <a:rPr lang="en-US" sz="1700" dirty="0"/>
              <a:t> - Ensure no restart loops. Run </a:t>
            </a:r>
            <a:r>
              <a:rPr lang="en-US" sz="1700" b="1" dirty="0">
                <a:solidFill>
                  <a:srgbClr val="1CADE4"/>
                </a:solidFill>
              </a:rPr>
              <a:t>docker </a:t>
            </a:r>
            <a:r>
              <a:rPr lang="en-US" sz="1700" b="1" dirty="0" err="1">
                <a:solidFill>
                  <a:srgbClr val="1CADE4"/>
                </a:solidFill>
              </a:rPr>
              <a:t>ps</a:t>
            </a:r>
            <a:r>
              <a:rPr lang="en-US" sz="1700" dirty="0"/>
              <a:t> multiple times - the "STATUS" uptime should be increasing, not resetting.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Kafka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Create a Topic</a:t>
            </a:r>
            <a:r>
              <a:rPr lang="en-US" sz="1700" dirty="0"/>
              <a:t> - </a:t>
            </a:r>
            <a:r>
              <a:rPr lang="en-US" sz="1700" i="1" dirty="0" err="1"/>
              <a:t>kafka</a:t>
            </a:r>
            <a:r>
              <a:rPr lang="en-US" sz="1700" i="1" dirty="0"/>
              <a:t>-topics --create --topic test-topic --partitions 3 --replication-factor 1 --bootstrap-server localhost:9092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List Topics</a:t>
            </a:r>
            <a:r>
              <a:rPr lang="en-US" sz="1700" dirty="0"/>
              <a:t> - Verify creation: </a:t>
            </a:r>
            <a:r>
              <a:rPr lang="en-US" sz="1700" i="1" dirty="0" err="1"/>
              <a:t>kafka</a:t>
            </a:r>
            <a:r>
              <a:rPr lang="en-US" sz="1700" i="1" dirty="0"/>
              <a:t>-topics --list --bootstrap-server localhost:9092</a:t>
            </a:r>
            <a:r>
              <a:rPr lang="en-US" sz="1700" dirty="0"/>
              <a:t> - should show "test-topic".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Produce Messages</a:t>
            </a:r>
            <a:r>
              <a:rPr lang="en-US" sz="1700" dirty="0"/>
              <a:t> - Open a producer console and type messages: </a:t>
            </a:r>
            <a:r>
              <a:rPr lang="en-US" sz="1700" i="1" dirty="0" err="1"/>
              <a:t>kafka</a:t>
            </a:r>
            <a:r>
              <a:rPr lang="en-US" sz="1700" i="1" dirty="0"/>
              <a:t>-console-producer --topic test-topic --bootstrap-server localhost:9092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Consume Messages</a:t>
            </a:r>
            <a:r>
              <a:rPr lang="en-US" sz="1700" dirty="0"/>
              <a:t> - In another terminal: </a:t>
            </a:r>
            <a:r>
              <a:rPr lang="en-US" sz="1700" i="1" dirty="0" err="1"/>
              <a:t>kafka</a:t>
            </a:r>
            <a:r>
              <a:rPr lang="en-US" sz="1700" i="1" dirty="0"/>
              <a:t>-console-consumer --topic test-topic --from-beginning --bootstrap-server localhost:9092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Validate Flow</a:t>
            </a:r>
            <a:r>
              <a:rPr lang="en-US" sz="1700" dirty="0"/>
              <a:t> - Type messages in the producer terminal - they should appear instantly in the consumer terminal. This confirms the full publish-subscribe pipeline works.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Kafka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lang="en-US" sz="1600" b="1" dirty="0">
                <a:solidFill>
                  <a:srgbClr val="1CADE4"/>
                </a:solidFill>
              </a:rPr>
              <a:t>Topic Management:</a:t>
            </a:r>
          </a:p>
          <a:p>
            <a:pPr lvl="1">
              <a:defRPr sz="1500"/>
            </a:pPr>
            <a:r>
              <a:rPr lang="en-US" sz="1500" i="1" dirty="0"/>
              <a:t>kafka-topics.sh --create --topic &lt;name&gt; --partitions &lt;n&gt;</a:t>
            </a:r>
            <a:r>
              <a:rPr lang="en-US" sz="1500" dirty="0"/>
              <a:t> - Create a new topic</a:t>
            </a:r>
          </a:p>
          <a:p>
            <a:pPr lvl="1">
              <a:defRPr sz="1500"/>
            </a:pPr>
            <a:r>
              <a:rPr lang="en-US" sz="1500" i="1" dirty="0"/>
              <a:t>kafka-topics.sh --list --bootstrap-server localhost:9092</a:t>
            </a:r>
            <a:r>
              <a:rPr lang="en-US" sz="1500" dirty="0"/>
              <a:t> - List all topics</a:t>
            </a:r>
          </a:p>
          <a:p>
            <a:pPr lvl="1">
              <a:defRPr sz="1500"/>
            </a:pPr>
            <a:r>
              <a:rPr lang="en-US" sz="1500" i="1" dirty="0"/>
              <a:t>kafka-topics.sh --describe --topic &lt;name&gt;</a:t>
            </a:r>
            <a:r>
              <a:rPr lang="en-US" sz="1500" dirty="0"/>
              <a:t> - Show partition/replica details</a:t>
            </a:r>
          </a:p>
          <a:p>
            <a:pPr>
              <a:spcBef>
                <a:spcPts val="400"/>
              </a:spcBef>
              <a:defRPr sz="1600"/>
            </a:pPr>
            <a:r>
              <a:rPr lang="en-US" sz="1600" b="1" dirty="0">
                <a:solidFill>
                  <a:srgbClr val="1CADE4"/>
                </a:solidFill>
              </a:rPr>
              <a:t>Producer &amp; Consumer:</a:t>
            </a:r>
          </a:p>
          <a:p>
            <a:pPr lvl="1">
              <a:defRPr sz="1500"/>
            </a:pPr>
            <a:r>
              <a:rPr lang="en-US" sz="1500" i="1" dirty="0"/>
              <a:t>kafka-console-producer.sh --topic &lt;name&gt;</a:t>
            </a:r>
            <a:r>
              <a:rPr lang="en-US" sz="1500" dirty="0"/>
              <a:t> - Send messages interactively</a:t>
            </a:r>
          </a:p>
          <a:p>
            <a:pPr lvl="1">
              <a:defRPr sz="1500"/>
            </a:pPr>
            <a:r>
              <a:rPr lang="en-US" sz="1500" i="1" dirty="0"/>
              <a:t>kafka-console-consumer.sh --topic &lt;name&gt; --from-beginning</a:t>
            </a:r>
            <a:r>
              <a:rPr lang="en-US" sz="1500" dirty="0"/>
              <a:t> - Read all messages</a:t>
            </a:r>
          </a:p>
          <a:p>
            <a:pPr>
              <a:spcBef>
                <a:spcPts val="400"/>
              </a:spcBef>
              <a:defRPr sz="1600"/>
            </a:pPr>
            <a:r>
              <a:rPr lang="en-US" sz="1600" b="1" dirty="0">
                <a:solidFill>
                  <a:srgbClr val="1CADE4"/>
                </a:solidFill>
              </a:rPr>
              <a:t>Docker Management:</a:t>
            </a:r>
          </a:p>
          <a:p>
            <a:pPr lvl="1">
              <a:defRPr sz="1500"/>
            </a:pPr>
            <a:r>
              <a:rPr lang="en-US" sz="1500" i="1" dirty="0"/>
              <a:t>docker </a:t>
            </a:r>
            <a:r>
              <a:rPr lang="en-US" sz="1500" i="1" dirty="0" err="1"/>
              <a:t>ps</a:t>
            </a:r>
            <a:r>
              <a:rPr lang="en-US" sz="1500" dirty="0"/>
              <a:t> - List running containers  |  </a:t>
            </a:r>
            <a:r>
              <a:rPr lang="en-US" sz="1500" i="1" dirty="0"/>
              <a:t>docker logs &lt;container&gt;</a:t>
            </a:r>
            <a:r>
              <a:rPr lang="en-US" sz="1500" dirty="0"/>
              <a:t> - View logs</a:t>
            </a:r>
          </a:p>
          <a:p>
            <a:pPr lvl="1">
              <a:defRPr sz="1500"/>
            </a:pPr>
            <a:r>
              <a:rPr lang="en-US" sz="1500" i="1" dirty="0"/>
              <a:t>docker compose down</a:t>
            </a:r>
            <a:r>
              <a:rPr lang="en-US" sz="1500" dirty="0"/>
              <a:t> - Stop all services  |  </a:t>
            </a:r>
            <a:r>
              <a:rPr lang="en-US" sz="1500" i="1" dirty="0"/>
              <a:t>docker compose up -d</a:t>
            </a:r>
            <a:r>
              <a:rPr lang="en-US" sz="1500" dirty="0"/>
              <a:t> - Start services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 and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⚠️ Docker Not Running</a:t>
            </a:r>
            <a:r>
              <a:rPr lang="en-US" sz="1700" dirty="0"/>
              <a:t> - Ensure Docker Desktop is started. Check system tray for the Docker icon. On Linux, run: </a:t>
            </a:r>
            <a:r>
              <a:rPr lang="en-US" sz="1700" i="1" dirty="0" err="1"/>
              <a:t>sudo</a:t>
            </a:r>
            <a:r>
              <a:rPr lang="en-US" sz="1700" i="1" dirty="0"/>
              <a:t> </a:t>
            </a:r>
            <a:r>
              <a:rPr lang="en-US" sz="1700" i="1" dirty="0" err="1"/>
              <a:t>systemctl</a:t>
            </a:r>
            <a:r>
              <a:rPr lang="en-US" sz="1700" i="1" dirty="0"/>
              <a:t> start docker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⚠️ Port Conflicts (9092/2181)</a:t>
            </a:r>
            <a:r>
              <a:rPr lang="en-US" sz="1700" dirty="0"/>
              <a:t> - Another process may be using these ports. Check with: </a:t>
            </a:r>
            <a:r>
              <a:rPr lang="en-US" sz="1700" i="1" dirty="0"/>
              <a:t>netstat -an | grep 9092</a:t>
            </a:r>
            <a:r>
              <a:rPr lang="en-US" sz="1700" dirty="0"/>
              <a:t>. Stop conflicting services or change port mappings in docker-</a:t>
            </a:r>
            <a:r>
              <a:rPr lang="en-US" sz="1700" dirty="0" err="1"/>
              <a:t>compose.yml</a:t>
            </a:r>
            <a:r>
              <a:rPr lang="en-US" sz="1700" dirty="0"/>
              <a:t>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⚠️ Java Path Issues</a:t>
            </a:r>
            <a:r>
              <a:rPr lang="en-US" sz="1700" dirty="0"/>
              <a:t> - If </a:t>
            </a:r>
            <a:r>
              <a:rPr lang="en-US" sz="1700" i="1" dirty="0"/>
              <a:t>java -version</a:t>
            </a:r>
            <a:r>
              <a:rPr lang="en-US" sz="1700" dirty="0"/>
              <a:t> fails, ensure JAVA_HOME is set and %JAVA_HOME%\bin is in your PATH. Restart terminal after changes.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⚠️ Container Restart Loops</a:t>
            </a:r>
            <a:r>
              <a:rPr lang="en-US" sz="1700" dirty="0"/>
              <a:t> - Check logs: </a:t>
            </a:r>
            <a:r>
              <a:rPr lang="en-US" sz="1700" i="1" dirty="0"/>
              <a:t>docker logs </a:t>
            </a:r>
            <a:r>
              <a:rPr lang="en-US" sz="1700" i="1" dirty="0" err="1"/>
              <a:t>kafka</a:t>
            </a:r>
            <a:r>
              <a:rPr lang="en-US" sz="1700" dirty="0"/>
              <a:t>. Common cause: </a:t>
            </a:r>
            <a:r>
              <a:rPr lang="en-US" sz="1700" dirty="0" err="1"/>
              <a:t>ZooKeeper</a:t>
            </a:r>
            <a:r>
              <a:rPr lang="en-US" sz="1700" dirty="0"/>
              <a:t> not ready yet. Ensure </a:t>
            </a:r>
            <a:r>
              <a:rPr lang="en-US" sz="1700" dirty="0" err="1"/>
              <a:t>ZooKeeper</a:t>
            </a:r>
            <a:r>
              <a:rPr lang="en-US" sz="1700" dirty="0"/>
              <a:t> starts before Kafka using </a:t>
            </a:r>
            <a:r>
              <a:rPr lang="en-US" sz="1700" dirty="0" err="1"/>
              <a:t>depends_on</a:t>
            </a:r>
            <a:r>
              <a:rPr lang="en-US" sz="1700" dirty="0"/>
              <a:t>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⚠️ Firewall/Antivirus Blocking</a:t>
            </a:r>
            <a:r>
              <a:rPr lang="en-US" sz="1700" dirty="0"/>
              <a:t> - Temporarily disable firewall rules blocking ports 9092/2181. Add Docker to your antivirus exceptions list.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Meaningful Topic Names</a:t>
            </a:r>
            <a:r>
              <a:rPr lang="en-US" sz="1700" dirty="0"/>
              <a:t> - Use a naming convention like </a:t>
            </a:r>
            <a:r>
              <a:rPr lang="en-US" sz="1700" b="1" dirty="0">
                <a:solidFill>
                  <a:srgbClr val="1CADE4"/>
                </a:solidFill>
              </a:rPr>
              <a:t>&lt;domain&gt;.&lt;entity&gt;.&lt;event&gt;</a:t>
            </a:r>
            <a:r>
              <a:rPr lang="en-US" sz="1700" dirty="0"/>
              <a:t> (e.g., </a:t>
            </a:r>
            <a:r>
              <a:rPr lang="en-US" sz="1700" dirty="0" err="1"/>
              <a:t>ecommerce.orders.created</a:t>
            </a:r>
            <a:r>
              <a:rPr lang="en-US" sz="1700" dirty="0"/>
              <a:t>). Makes topics discoverable and self-documenting.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Monitor Broker Health</a:t>
            </a:r>
            <a:r>
              <a:rPr lang="en-US" sz="1700" dirty="0"/>
              <a:t> - Track key metrics: under-replicated partitions, request latency, disk usage, and consumer lag. Use Confluent Control Center or Prometheus + Grafana.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Partition Strategy</a:t>
            </a:r>
            <a:r>
              <a:rPr lang="en-US" sz="1700" dirty="0"/>
              <a:t> - Start with 3–6 partitions per topic. Scale partitions based on consumer throughput needs. Remember: partitions can be increased but never decreased.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Enable Replication</a:t>
            </a:r>
            <a:r>
              <a:rPr lang="en-US" sz="1700" dirty="0"/>
              <a:t> - Always use replication factor ≥ 3 in production. Set </a:t>
            </a:r>
            <a:r>
              <a:rPr lang="en-US" sz="1700" b="1" dirty="0" err="1">
                <a:solidFill>
                  <a:srgbClr val="1CADE4"/>
                </a:solidFill>
              </a:rPr>
              <a:t>min.insync.replicas</a:t>
            </a:r>
            <a:r>
              <a:rPr lang="en-US" sz="1700" b="1" dirty="0">
                <a:solidFill>
                  <a:srgbClr val="1CADE4"/>
                </a:solidFill>
              </a:rPr>
              <a:t>=2</a:t>
            </a:r>
            <a:r>
              <a:rPr lang="en-US" sz="1700" dirty="0"/>
              <a:t> for strong durability guarantees.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Secure Your Cluster</a:t>
            </a:r>
            <a:r>
              <a:rPr lang="en-US" sz="1700" dirty="0"/>
              <a:t> - Enable SSL/TLS for encryption in transit. Use SASL for authentication. Implement ACLs for topic-level access control.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>
                <a:solidFill>
                  <a:srgbClr val="1CADE4"/>
                </a:solidFill>
              </a:rPr>
              <a:t> Event Streaming Fundamentals</a:t>
            </a:r>
            <a:r>
              <a:rPr lang="en-US" sz="1700" dirty="0"/>
              <a:t> - Understood continuous data flow, real-time processing, and how events drive modern architectures.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683C6"/>
                </a:solidFill>
              </a:rPr>
              <a:t>Kafka Core Concepts</a:t>
            </a:r>
            <a:r>
              <a:rPr lang="en-US" sz="1700" dirty="0"/>
              <a:t> - Learned about producers, consumers, brokers, topics, partitions, and the replication model.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27CED7"/>
                </a:solidFill>
              </a:rPr>
              <a:t>Kafka Ecosystem</a:t>
            </a:r>
            <a:r>
              <a:rPr lang="en-US" sz="1700" dirty="0"/>
              <a:t> - Explored Kafka Connect, Kafka Streams, </a:t>
            </a:r>
            <a:r>
              <a:rPr lang="en-US" sz="1700" dirty="0" err="1"/>
              <a:t>ksqlDB</a:t>
            </a:r>
            <a:r>
              <a:rPr lang="en-US" sz="1700" dirty="0"/>
              <a:t>, Schema Registry, and Confluent Platform.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42BA97"/>
                </a:solidFill>
              </a:rPr>
              <a:t>Messaging Platforms Compared</a:t>
            </a:r>
            <a:r>
              <a:rPr lang="en-US" sz="1700" dirty="0"/>
              <a:t> - Compared Kafka, RabbitMQ, and ActiveMQ across throughput, retention, and use case fit.</a:t>
            </a:r>
          </a:p>
          <a:p>
            <a:pPr>
              <a:spcBef>
                <a:spcPts val="300"/>
              </a:spcBef>
              <a:defRPr sz="1700"/>
            </a:pPr>
            <a:r>
              <a:rPr lang="en-US" sz="1700" b="1" dirty="0">
                <a:solidFill>
                  <a:srgbClr val="335B74"/>
                </a:solidFill>
              </a:rPr>
              <a:t>Hands-On Lab Complete</a:t>
            </a:r>
            <a:r>
              <a:rPr lang="en-US" sz="1700" dirty="0"/>
              <a:t> - Installed Java and Docker, deployed Kafka via Docker Compose, and validated the full producer-consumer pipeline.</a:t>
            </a:r>
          </a:p>
          <a:p>
            <a:pPr>
              <a:spcBef>
                <a:spcPts val="400"/>
              </a:spcBef>
              <a:defRPr sz="1700"/>
            </a:pPr>
            <a:r>
              <a:rPr lang="en-US" sz="1700"/>
              <a:t>Day </a:t>
            </a:r>
            <a:r>
              <a:rPr lang="en-US" sz="1700" dirty="0"/>
              <a:t>2 will cover advanced topics - Kafka Streams programming, Connect pipelines, monitoring, and production deployment strategies.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</TotalTime>
  <Words>3298</Words>
  <Application>Microsoft Office PowerPoint</Application>
  <PresentationFormat>On-screen Show (4:3)</PresentationFormat>
  <Paragraphs>197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Tw Cen MT</vt:lpstr>
      <vt:lpstr>Tw Cen MT Condensed</vt:lpstr>
      <vt:lpstr>Wingdings 3</vt:lpstr>
      <vt:lpstr>Integral</vt:lpstr>
      <vt:lpstr>Introduction to Event Streaming &amp; Kafka Basics</vt:lpstr>
      <vt:lpstr>Agenda</vt:lpstr>
      <vt:lpstr>What is Event Streaming?</vt:lpstr>
      <vt:lpstr>Examples of Event Streaming</vt:lpstr>
      <vt:lpstr>What is Apache Kafka?</vt:lpstr>
      <vt:lpstr>Core Kafka Components</vt:lpstr>
      <vt:lpstr>Kafka Architecture</vt:lpstr>
      <vt:lpstr>Why Kafka is Used in Modern Architectures</vt:lpstr>
      <vt:lpstr>Kafka Use Cases</vt:lpstr>
      <vt:lpstr>Kafka in Microservices</vt:lpstr>
      <vt:lpstr>Kafka vs RabbitMQ vs ActiveMQ</vt:lpstr>
      <vt:lpstr>Comparison Table</vt:lpstr>
      <vt:lpstr>Kafka Ecosystem Overview</vt:lpstr>
      <vt:lpstr>Kafka Message Flow</vt:lpstr>
      <vt:lpstr>Lab Overview</vt:lpstr>
      <vt:lpstr>Lab Prerequisites</vt:lpstr>
      <vt:lpstr>Install Java</vt:lpstr>
      <vt:lpstr>Install Docker Desktop</vt:lpstr>
      <vt:lpstr>Create Docker Compose File</vt:lpstr>
      <vt:lpstr>Sample Docker Compose</vt:lpstr>
      <vt:lpstr>Run Kafka using Docker Compose</vt:lpstr>
      <vt:lpstr>Verify Kafka Services</vt:lpstr>
      <vt:lpstr>Basic Kafka Validation</vt:lpstr>
      <vt:lpstr>Useful Kafka Commands</vt:lpstr>
      <vt:lpstr>Common Issues and Troubleshooting</vt:lpstr>
      <vt:lpstr>Best Practices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9</cp:revision>
  <dcterms:created xsi:type="dcterms:W3CDTF">2013-01-27T09:14:16Z</dcterms:created>
  <dcterms:modified xsi:type="dcterms:W3CDTF">2026-05-18T04:07:21Z</dcterms:modified>
  <cp:category/>
</cp:coreProperties>
</file>