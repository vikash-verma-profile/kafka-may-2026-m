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27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1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50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4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6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4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9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99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9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3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13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3E"/>
            </a:gs>
            <a:gs pos="100000">
              <a:srgbClr val="1E27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Cover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0D1B3E"/>
              </a:gs>
              <a:gs pos="100000">
                <a:srgbClr val="1E2761"/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AccentBar"/>
          <p:cNvSpPr/>
          <p:nvPr/>
        </p:nvSpPr>
        <p:spPr>
          <a:xfrm>
            <a:off x="685800" y="2200000"/>
            <a:ext cx="1143000" cy="54864"/>
          </a:xfrm>
          <a:prstGeom prst="rect">
            <a:avLst/>
          </a:prstGeom>
          <a:solidFill>
            <a:srgbClr val="0066B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50000"/>
            <a:ext cx="7772400" cy="1600000"/>
          </a:xfrm>
        </p:spPr>
        <p:txBody>
          <a:bodyPr anchor="t"/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Calibri"/>
              </a:rPr>
              <a:t>Kafka Architecture</a:t>
            </a:r>
          </a:p>
          <a:p>
            <a:pPr algn="l"/>
            <a:r>
              <a:rPr lang="en-US" sz="4400" b="1">
                <a:solidFill>
                  <a:srgbClr val="FFFFFF"/>
                </a:solidFill>
                <a:latin typeface="Calibri"/>
              </a:rPr>
              <a:t>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100000"/>
            <a:ext cx="7772400" cy="500000"/>
          </a:xfrm>
        </p:spPr>
        <p:txBody>
          <a:bodyPr anchor="t">
            <a:normAutofit/>
          </a:bodyPr>
          <a:lstStyle/>
          <a:p>
            <a:pPr algn="l"/>
            <a:r>
              <a:rPr lang="en-US" sz="1800">
                <a:solidFill>
                  <a:srgbClr val="8DA4C2"/>
                </a:solidFill>
                <a:latin typeface="Calibri Light"/>
              </a:rPr>
              <a:t>Vikash Verma</a:t>
            </a:r>
            <a:endParaRPr lang="en-US"/>
          </a:p>
        </p:txBody>
      </p:sp>
      <p:sp>
        <p:nvSpPr>
          <p:cNvPr id="11" name="BottomGradient"/>
          <p:cNvSpPr/>
          <p:nvPr/>
        </p:nvSpPr>
        <p:spPr>
          <a:xfrm>
            <a:off x="0" y="6400000"/>
            <a:ext cx="9144000" cy="458000"/>
          </a:xfrm>
          <a:prstGeom prst="rect">
            <a:avLst/>
          </a:prstGeom>
          <a:gradFill>
            <a:gsLst>
              <a:gs pos="0">
                <a:srgbClr val="0066B3"/>
              </a:gs>
              <a:gs pos="100000">
                <a:srgbClr val="00A4E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Understand Kafka architecture and core components</a:t>
            </a:r>
          </a:p>
          <a:p>
            <a:r>
              <a:t>Learn how brokers, topics, and partitions work</a:t>
            </a:r>
          </a:p>
          <a:p>
            <a:r>
              <a:t>Understand replication and fault tolerance</a:t>
            </a:r>
          </a:p>
          <a:p>
            <a:r>
              <a:t>Explore producer-consumer communication</a:t>
            </a:r>
          </a:p>
          <a:p>
            <a:r>
              <a:t>Perform Kafka CLI operations and partition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Originally developed at LinkedIn, open-sourced through Apache in 2011</a:t>
            </a:r>
          </a:p>
          <a:p>
            <a:r>
              <a:rPr lang="en-US"/>
              <a:t>Distributed </a:t>
            </a:r>
            <a:r>
              <a:t>event streaming platform</a:t>
            </a:r>
            <a:r>
              <a:rPr lang="en-US"/>
              <a:t> handling trillions of events per day</a:t>
            </a:r>
            <a:endParaRPr/>
          </a:p>
          <a:p>
            <a:r>
              <a:t>Designed for high throughput </a:t>
            </a:r>
            <a:r>
              <a:rPr lang="en-IN"/>
              <a:t>(millions of messages/sec) </a:t>
            </a:r>
            <a:r>
              <a:t>and fault tolerance</a:t>
            </a:r>
          </a:p>
          <a:p>
            <a:r>
              <a:t>Stores streams of records </a:t>
            </a:r>
            <a:r>
              <a:rPr lang="en-IN"/>
              <a:t>durably </a:t>
            </a:r>
            <a:r>
              <a:t>in </a:t>
            </a:r>
            <a:r>
              <a:rPr lang="en-IN"/>
              <a:t>ordered, immutable commit logs</a:t>
            </a:r>
            <a:endParaRPr/>
          </a:p>
          <a:p>
            <a:r>
              <a:t>Uses distributed brokers </a:t>
            </a:r>
            <a:r>
              <a:rPr lang="en-US"/>
              <a:t>coordinated in clusters for horizontal scaling</a:t>
            </a:r>
            <a:endParaRPr/>
          </a:p>
          <a:p>
            <a:r>
              <a:t>Supports real-time publishing</a:t>
            </a:r>
            <a:r>
              <a:rPr lang="en-US"/>
              <a:t>, subscription, and stream processing</a:t>
            </a:r>
          </a:p>
          <a:p>
            <a:r>
              <a:rPr lang="en-US"/>
              <a:t>Core use cases: messaging, activity tracking, log aggregation, and ETL pipelines</a:t>
            </a:r>
          </a:p>
          <a:p>
            <a:r>
              <a:rPr lang="en-US"/>
              <a:t>Powers event-driven architectures</a:t>
            </a:r>
            <a:r>
              <a:t> and </a:t>
            </a:r>
            <a:r>
              <a:rPr lang="en-IN"/>
              <a:t>microservices communication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Producer</a:t>
            </a:r>
            <a:r>
              <a:rPr lang="en-IN"/>
              <a:t>: Publishes records</a:t>
            </a:r>
            <a:r>
              <a:t> to </a:t>
            </a:r>
            <a:r>
              <a:rPr lang="en-US"/>
              <a:t>topics with configurable partitioning strategies</a:t>
            </a:r>
            <a:endParaRPr/>
          </a:p>
          <a:p>
            <a:r>
              <a:t>Broker</a:t>
            </a:r>
            <a:r>
              <a:rPr lang="en-IN"/>
              <a:t>:</a:t>
            </a:r>
            <a:r>
              <a:t> Kafka server </a:t>
            </a:r>
            <a:r>
              <a:rPr lang="en-IN"/>
              <a:t>node that stores data </a:t>
            </a:r>
            <a:r>
              <a:t>and </a:t>
            </a:r>
            <a:r>
              <a:rPr lang="en-IN"/>
              <a:t>serves client requests</a:t>
            </a:r>
            <a:endParaRPr/>
          </a:p>
          <a:p>
            <a:r>
              <a:t>Topic</a:t>
            </a:r>
            <a:r>
              <a:rPr lang="en-IN"/>
              <a:t>: Named feed or</a:t>
            </a:r>
            <a:r>
              <a:t> category </a:t>
            </a:r>
            <a:r>
              <a:rPr lang="en-US"/>
              <a:t>to which records are published</a:t>
            </a:r>
            <a:endParaRPr/>
          </a:p>
          <a:p>
            <a:r>
              <a:t>Partition</a:t>
            </a:r>
            <a:r>
              <a:rPr lang="en-IN"/>
              <a:t>: Ordered, immutable log segment enabling parallel</a:t>
            </a:r>
            <a:r>
              <a:t> data </a:t>
            </a:r>
            <a:r>
              <a:rPr lang="en-IN"/>
              <a:t>processing</a:t>
            </a:r>
            <a:endParaRPr/>
          </a:p>
          <a:p>
            <a:r>
              <a:t>Consumer Group</a:t>
            </a:r>
            <a:r>
              <a:rPr lang="en-IN"/>
              <a:t>: Set of</a:t>
            </a:r>
            <a:r>
              <a:t> consumers sharing </a:t>
            </a:r>
            <a:r>
              <a:rPr lang="en-US"/>
              <a:t>a subscription for load balancing</a:t>
            </a:r>
          </a:p>
          <a:p>
            <a:r>
              <a:rPr lang="en-US"/>
              <a:t>Offset: Sequential ID assigned to each record within a partition</a:t>
            </a:r>
          </a:p>
          <a:p>
            <a:r>
              <a:rPr lang="en-US"/>
              <a:t>ZooKeeper/KRaft: Manages cluster metadata, leader election, and configurations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Brokers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A Kafka cluster </a:t>
            </a:r>
            <a:r>
              <a:rPr lang="en-IN"/>
              <a:t>typically runs 3 </a:t>
            </a:r>
            <a:r>
              <a:t>or more brokers</a:t>
            </a:r>
            <a:r>
              <a:rPr lang="en-IN"/>
              <a:t> for high availability</a:t>
            </a:r>
            <a:endParaRPr/>
          </a:p>
          <a:p>
            <a:r>
              <a:t>Each broker stores </a:t>
            </a:r>
            <a:r>
              <a:rPr lang="en-IN"/>
              <a:t>one or more </a:t>
            </a:r>
            <a:r>
              <a:t>topic partitions</a:t>
            </a:r>
            <a:r>
              <a:rPr lang="en-IN"/>
              <a:t> on local disk</a:t>
            </a:r>
            <a:endParaRPr/>
          </a:p>
          <a:p>
            <a:r>
              <a:t>Handles read/write requests from producers and consumers</a:t>
            </a:r>
            <a:r>
              <a:rPr lang="en-IN"/>
              <a:t> simultaneously</a:t>
            </a:r>
            <a:endParaRPr/>
          </a:p>
          <a:p>
            <a:r>
              <a:t>Brokers coordinate replication </a:t>
            </a:r>
            <a:r>
              <a:rPr lang="en-IN"/>
              <a:t>using leader-follower protocol</a:t>
            </a:r>
            <a:endParaRPr/>
          </a:p>
          <a:p>
            <a:r>
              <a:t>Broker IDs </a:t>
            </a:r>
            <a:r>
              <a:rPr lang="en-IN"/>
              <a:t>(integer) </a:t>
            </a:r>
            <a:r>
              <a:t>uniquely identify </a:t>
            </a:r>
            <a:r>
              <a:rPr lang="en-IN"/>
              <a:t>each server within the </a:t>
            </a:r>
            <a:r>
              <a:t>cluster</a:t>
            </a:r>
            <a:endParaRPr lang="en-US"/>
          </a:p>
          <a:p>
            <a:r>
              <a:rPr lang="en-US"/>
              <a:t>Data retention is configurable by time (e.g., 7 days) or size (e.g., 100 GB)</a:t>
            </a:r>
          </a:p>
          <a:p>
            <a:r>
              <a:rPr lang="en-US"/>
              <a:t>One broker acts as the Controller, managing partition leader assignments</a:t>
            </a:r>
          </a:p>
          <a:p>
            <a:r>
              <a:rPr lang="en-US"/>
              <a:t>Brokers communicate via an internal binary protocol on port 9092 by default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Topics in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Topics are </a:t>
            </a:r>
            <a:r>
              <a:rPr lang="en-IN"/>
              <a:t>named </a:t>
            </a:r>
            <a:r>
              <a:t>logical channels for </a:t>
            </a:r>
            <a:r>
              <a:rPr lang="en-IN"/>
              <a:t>organizing related event streams</a:t>
            </a:r>
            <a:endParaRPr/>
          </a:p>
          <a:p>
            <a:r>
              <a:t>Messages </a:t>
            </a:r>
            <a:r>
              <a:rPr lang="en-IN"/>
              <a:t>within a topic </a:t>
            </a:r>
            <a:r>
              <a:t>are </a:t>
            </a:r>
            <a:r>
              <a:rPr lang="en-US"/>
              <a:t>stored as ordered, immutable append-only logs</a:t>
            </a:r>
            <a:endParaRPr/>
          </a:p>
          <a:p>
            <a:r>
              <a:t>Topics can have </a:t>
            </a:r>
            <a:r>
              <a:rPr lang="en-IN"/>
              <a:t>one or many </a:t>
            </a:r>
            <a:r>
              <a:t>partitions</a:t>
            </a:r>
            <a:r>
              <a:rPr lang="en-US"/>
              <a:t> for parallel processing</a:t>
            </a:r>
          </a:p>
          <a:p>
            <a:r>
              <a:rPr lang="en-US"/>
              <a:t>Retention policy controls how long messages are kept (time-based or size-based)</a:t>
            </a:r>
          </a:p>
          <a:p>
            <a:r>
              <a:rPr lang="en-US"/>
              <a:t>Log compaction retains only the latest value for each message key</a:t>
            </a:r>
            <a:endParaRPr/>
          </a:p>
          <a:p>
            <a:r>
              <a:t>Producers write to topics</a:t>
            </a:r>
            <a:r>
              <a:rPr lang="en-IN"/>
              <a:t>; consumers subscribe</a:t>
            </a:r>
            <a:r>
              <a:t> and read from topics</a:t>
            </a:r>
          </a:p>
          <a:p>
            <a:r>
              <a:rPr lang="en-IN"/>
              <a:t>Common examples</a:t>
            </a:r>
            <a:r>
              <a:t>: </a:t>
            </a:r>
            <a:r>
              <a:rPr lang="en-IN"/>
              <a:t>orders, payments</a:t>
            </a:r>
            <a:r>
              <a:t>, </a:t>
            </a:r>
            <a:r>
              <a:rPr lang="en-IN"/>
              <a:t>user-activity</a:t>
            </a:r>
            <a:r>
              <a:t>, </a:t>
            </a:r>
            <a:r>
              <a:rPr lang="en-IN"/>
              <a:t>logs</a:t>
            </a:r>
            <a:r>
              <a:t>, </a:t>
            </a:r>
            <a:r>
              <a:rPr lang="en-US"/>
              <a:t>notifications</a:t>
            </a:r>
          </a:p>
          <a:p>
            <a:r>
              <a:rPr lang="en-US"/>
              <a:t>Topics can be configured with custom replication and cleanup policies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Partitions in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Partitions </a:t>
            </a:r>
            <a:r>
              <a:rPr lang="en-IN"/>
              <a:t>are the unit of </a:t>
            </a:r>
            <a:r>
              <a:t>parallelism and scalability</a:t>
            </a:r>
            <a:r>
              <a:rPr lang="en-IN"/>
              <a:t> in Kafka</a:t>
            </a:r>
            <a:endParaRPr/>
          </a:p>
          <a:p>
            <a:r>
              <a:t>Each partition is an ordered</a:t>
            </a:r>
            <a:r>
              <a:rPr lang="en-IN"/>
              <a:t>,</a:t>
            </a:r>
            <a:r>
              <a:t> immutable sequence</a:t>
            </a:r>
            <a:r>
              <a:rPr lang="en-IN"/>
              <a:t> of records (commit log)</a:t>
            </a:r>
            <a:endParaRPr/>
          </a:p>
          <a:p>
            <a:r>
              <a:t>Messages are </a:t>
            </a:r>
            <a:r>
              <a:rPr lang="en-US"/>
              <a:t>assigned sequential offset IDs starting from 0</a:t>
            </a:r>
          </a:p>
          <a:p>
            <a:r>
              <a:rPr lang="en-US"/>
              <a:t>Partition key determines which partition receives a given message</a:t>
            </a:r>
            <a:endParaRPr/>
          </a:p>
          <a:p>
            <a:r>
              <a:t>Consumers process partitions independently</a:t>
            </a:r>
            <a:r>
              <a:rPr lang="en-IN"/>
              <a:t> for parallel throughput</a:t>
            </a:r>
            <a:endParaRPr/>
          </a:p>
          <a:p>
            <a:r>
              <a:t>More partitions </a:t>
            </a:r>
            <a:r>
              <a:rPr lang="en-US"/>
              <a:t>allow more consumers to read in parallel</a:t>
            </a:r>
          </a:p>
          <a:p>
            <a:r>
              <a:rPr lang="en-US"/>
              <a:t>Ordering is guaranteed only within a single partition, not across partitions</a:t>
            </a:r>
          </a:p>
          <a:p>
            <a:r>
              <a:rPr lang="en-US"/>
              <a:t>Partition count should balance </a:t>
            </a:r>
            <a:r>
              <a:t>throughput</a:t>
            </a:r>
            <a:r>
              <a:rPr lang="en-IN"/>
              <a:t> needs with resource overhead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Partitioning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Topic: Orders</a:t>
            </a:r>
            <a:r>
              <a:rPr lang="en-US"/>
              <a:t> (partitioned by region for geographic locality)</a:t>
            </a:r>
            <a:endParaRPr/>
          </a:p>
          <a:p>
            <a:r>
              <a:t>Partition 0</a:t>
            </a:r>
            <a:r>
              <a:rPr lang="en-IN"/>
              <a:t>:</a:t>
            </a:r>
            <a:r>
              <a:t> Order events </a:t>
            </a:r>
            <a:r>
              <a:rPr lang="en-IN"/>
              <a:t>from Region </a:t>
            </a:r>
            <a:r>
              <a:t>A</a:t>
            </a:r>
            <a:r>
              <a:rPr lang="en-IN"/>
              <a:t> (e.g., North America)</a:t>
            </a:r>
            <a:endParaRPr/>
          </a:p>
          <a:p>
            <a:r>
              <a:t>Partition 1</a:t>
            </a:r>
            <a:r>
              <a:rPr lang="en-IN"/>
              <a:t>:</a:t>
            </a:r>
            <a:r>
              <a:t> Order events </a:t>
            </a:r>
            <a:r>
              <a:rPr lang="en-IN"/>
              <a:t>from Region </a:t>
            </a:r>
            <a:r>
              <a:t>B</a:t>
            </a:r>
            <a:r>
              <a:rPr lang="en-IN"/>
              <a:t> (e.g., Europe)</a:t>
            </a:r>
            <a:endParaRPr/>
          </a:p>
          <a:p>
            <a:r>
              <a:t>Partition 2</a:t>
            </a:r>
            <a:r>
              <a:rPr lang="en-IN"/>
              <a:t>:</a:t>
            </a:r>
            <a:r>
              <a:t> Order events </a:t>
            </a:r>
            <a:r>
              <a:rPr lang="en-IN"/>
              <a:t>from Region </a:t>
            </a:r>
            <a:r>
              <a:t>C</a:t>
            </a:r>
            <a:r>
              <a:rPr lang="en-US"/>
              <a:t> (e.g., Asia-Pacific)</a:t>
            </a:r>
          </a:p>
          <a:p>
            <a:r>
              <a:rPr lang="en-US"/>
              <a:t>Messages with same key always route to the same partition (sticky)</a:t>
            </a:r>
            <a:endParaRPr/>
          </a:p>
          <a:p>
            <a:r>
              <a:rPr lang="en-US"/>
              <a:t>Each consumer in a group handles one or more </a:t>
            </a:r>
            <a:r>
              <a:t>partitions in parallel</a:t>
            </a:r>
            <a:endParaRPr lang="en-US"/>
          </a:p>
          <a:p>
            <a:r>
              <a:rPr lang="en-US"/>
              <a:t>Key-based partitioning ensures ordering per customer or entity</a:t>
            </a:r>
          </a:p>
          <a:p>
            <a:r>
              <a:rPr lang="en-US"/>
              <a:t>Round-robin partitioning distributes load evenly when order does not matter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Replication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Replication </a:t>
            </a:r>
            <a:r>
              <a:rPr lang="en-US"/>
              <a:t>factor defines how many copies of each </a:t>
            </a:r>
            <a:r>
              <a:t>partition </a:t>
            </a:r>
            <a:r>
              <a:rPr lang="en-US"/>
              <a:t>exist</a:t>
            </a:r>
          </a:p>
          <a:p>
            <a:r>
              <a:rPr lang="en-US"/>
              <a:t>Typical production setting: replication-factor=3 across different brokers</a:t>
            </a:r>
            <a:endParaRPr/>
          </a:p>
          <a:p>
            <a:r>
              <a:rPr lang="en-US"/>
              <a:t>One replica is elected as </a:t>
            </a:r>
            <a:r>
              <a:t>Leader</a:t>
            </a:r>
            <a:r>
              <a:rPr lang="en-IN"/>
              <a:t>, handling all</a:t>
            </a:r>
            <a:r>
              <a:t> reads</a:t>
            </a:r>
            <a:r>
              <a:rPr lang="en-IN"/>
              <a:t> and </a:t>
            </a:r>
            <a:r>
              <a:t>writes</a:t>
            </a:r>
          </a:p>
          <a:p>
            <a:r>
              <a:t>Follower replicas </a:t>
            </a:r>
            <a:r>
              <a:rPr lang="en-IN"/>
              <a:t>continuously </a:t>
            </a:r>
            <a:r>
              <a:t>synchronize </a:t>
            </a:r>
            <a:r>
              <a:rPr lang="en-IN"/>
              <a:t>(fetch) data </a:t>
            </a:r>
            <a:r>
              <a:t>from </a:t>
            </a:r>
            <a:r>
              <a:rPr lang="en-IN"/>
              <a:t>the </a:t>
            </a:r>
            <a:r>
              <a:t>leader</a:t>
            </a:r>
          </a:p>
          <a:p>
            <a:r>
              <a:rPr lang="en-US"/>
              <a:t>ISR (In-Sync Replicas) tracks followers that are fully caught up</a:t>
            </a:r>
          </a:p>
          <a:p>
            <a:r>
              <a:t>If </a:t>
            </a:r>
            <a:r>
              <a:rPr lang="en-IN"/>
              <a:t>the </a:t>
            </a:r>
            <a:r>
              <a:t>leader fails, </a:t>
            </a:r>
            <a:r>
              <a:rPr lang="en-IN"/>
              <a:t>an in-sync </a:t>
            </a:r>
            <a:r>
              <a:t>follower </a:t>
            </a:r>
            <a:r>
              <a:rPr lang="en-IN"/>
              <a:t>is promoted to </a:t>
            </a:r>
            <a:r>
              <a:t>new leader</a:t>
            </a:r>
            <a:endParaRPr lang="en-US"/>
          </a:p>
          <a:p>
            <a:r>
              <a:rPr lang="en-US"/>
              <a:t>min.insync.replicas setting controls write durability guarantees</a:t>
            </a:r>
          </a:p>
          <a:p>
            <a:r>
              <a:rPr lang="en-US"/>
              <a:t>Unclean leader election (disabled by default) can cause data loss if enabled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Producer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Producer </a:t>
            </a:r>
            <a:r>
              <a:rPr lang="en-IN"/>
              <a:t>serializes records and </a:t>
            </a:r>
            <a:r>
              <a:t>sends </a:t>
            </a:r>
            <a:r>
              <a:rPr lang="en-IN"/>
              <a:t>them </a:t>
            </a:r>
            <a:r>
              <a:t>to </a:t>
            </a:r>
            <a:r>
              <a:rPr lang="en-IN"/>
              <a:t>the target topic partition</a:t>
            </a:r>
            <a:endParaRPr/>
          </a:p>
          <a:p>
            <a:r>
              <a:t>Partition selection</a:t>
            </a:r>
            <a:r>
              <a:rPr lang="en-IN"/>
              <a:t>:</a:t>
            </a:r>
            <a:r>
              <a:t> key-based </a:t>
            </a:r>
            <a:r>
              <a:rPr lang="en-IN"/>
              <a:t>hashing, round-robin, </a:t>
            </a:r>
            <a:r>
              <a:t>or </a:t>
            </a:r>
            <a:r>
              <a:rPr lang="en-IN"/>
              <a:t>custom partitioner</a:t>
            </a:r>
            <a:endParaRPr/>
          </a:p>
          <a:p>
            <a:r>
              <a:t>Messages are appended to </a:t>
            </a:r>
            <a:r>
              <a:rPr lang="en-IN"/>
              <a:t>the </a:t>
            </a:r>
            <a:r>
              <a:t>partition </a:t>
            </a:r>
            <a:r>
              <a:rPr lang="en-US"/>
              <a:t>commit log on the leader broker</a:t>
            </a:r>
          </a:p>
          <a:p>
            <a:r>
              <a:rPr lang="en-US"/>
              <a:t>acks=0: No acknowledgment (fastest, risk of loss)</a:t>
            </a:r>
          </a:p>
          <a:p>
            <a:r>
              <a:rPr lang="en-US"/>
              <a:t>acks=1: Leader acknowledgment only (balanced)</a:t>
            </a:r>
          </a:p>
          <a:p>
            <a:r>
              <a:rPr lang="en-US"/>
              <a:t>acks=all: All ISR replicas must acknowledge (strongest durability)</a:t>
            </a:r>
            <a:endParaRPr/>
          </a:p>
          <a:p>
            <a:r>
              <a:rPr lang="en-US"/>
              <a:t>Batching groups multiple records per request to </a:t>
            </a:r>
            <a:r>
              <a:t>improve </a:t>
            </a:r>
            <a:r>
              <a:rPr lang="en-IN"/>
              <a:t>throughput</a:t>
            </a:r>
            <a:endParaRPr/>
          </a:p>
          <a:p>
            <a:r>
              <a:rPr lang="en-US"/>
              <a:t>Compression (gzip, snappy, lz4, zstd) reduces network </a:t>
            </a:r>
            <a:r>
              <a:t>and </a:t>
            </a:r>
            <a:r>
              <a:rPr lang="en-IN"/>
              <a:t>storage usage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Consumer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Consumers subscribe to </a:t>
            </a:r>
            <a:r>
              <a:rPr lang="en-IN"/>
              <a:t>one or more </a:t>
            </a:r>
            <a:r>
              <a:t>topics</a:t>
            </a:r>
            <a:r>
              <a:rPr lang="en-US"/>
              <a:t> and poll for new records</a:t>
            </a:r>
            <a:endParaRPr/>
          </a:p>
          <a:p>
            <a:r>
              <a:t>Kafka tracks </a:t>
            </a:r>
            <a:r>
              <a:rPr lang="en-US"/>
              <a:t>each consumer's position using committed </a:t>
            </a:r>
            <a:r>
              <a:t>offsets</a:t>
            </a:r>
          </a:p>
          <a:p>
            <a:r>
              <a:t>Consumer groups divide </a:t>
            </a:r>
            <a:r>
              <a:rPr lang="en-US"/>
              <a:t>partitions among members for load balancing</a:t>
            </a:r>
            <a:endParaRPr/>
          </a:p>
          <a:p>
            <a:r>
              <a:t>Each partition </a:t>
            </a:r>
            <a:r>
              <a:rPr lang="en-IN"/>
              <a:t>is assigned to exactly </a:t>
            </a:r>
            <a:r>
              <a:t>one consumer </a:t>
            </a:r>
            <a:r>
              <a:rPr lang="en-IN"/>
              <a:t>within </a:t>
            </a:r>
            <a:r>
              <a:t>a group</a:t>
            </a:r>
          </a:p>
          <a:p>
            <a:r>
              <a:rPr lang="en-US"/>
              <a:t>Auto-commit periodically saves offsets (at-least-once by default)</a:t>
            </a:r>
          </a:p>
          <a:p>
            <a:r>
              <a:rPr lang="en-US"/>
              <a:t>Manual commit gives precise control: commitSync() or commitAsync()</a:t>
            </a:r>
          </a:p>
          <a:p>
            <a:r>
              <a:rPr lang="en-US"/>
              <a:t>Consumers use a pull model, fetching batches at their own pace</a:t>
            </a:r>
          </a:p>
          <a:p>
            <a:r>
              <a:rPr lang="en-US"/>
              <a:t>Rebalancing redistributes partitions when consumers join or leave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Consumer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Consumer group is identified by a unique group.id string</a:t>
            </a:r>
          </a:p>
          <a:p>
            <a:r>
              <a:rPr lang="en-US"/>
              <a:t>Members </a:t>
            </a:r>
            <a:r>
              <a:t>within </a:t>
            </a:r>
            <a:r>
              <a:rPr lang="en-IN"/>
              <a:t>the </a:t>
            </a:r>
            <a:r>
              <a:t>same group share </a:t>
            </a:r>
            <a:r>
              <a:rPr lang="en-IN"/>
              <a:t>the </a:t>
            </a:r>
            <a:r>
              <a:t>workload</a:t>
            </a:r>
            <a:r>
              <a:rPr lang="en-IN"/>
              <a:t> across partitions</a:t>
            </a:r>
            <a:endParaRPr/>
          </a:p>
          <a:p>
            <a:r>
              <a:t>Adding consumers increases parallelism</a:t>
            </a:r>
            <a:r>
              <a:rPr lang="en-US"/>
              <a:t> up to the partition count</a:t>
            </a:r>
            <a:endParaRPr/>
          </a:p>
          <a:p>
            <a:r>
              <a:t>If consumers exceed partitions, </a:t>
            </a:r>
            <a:r>
              <a:rPr lang="en-IN"/>
              <a:t>extra consumers </a:t>
            </a:r>
            <a:r>
              <a:t>remain idle</a:t>
            </a:r>
            <a:r>
              <a:rPr lang="en-US"/>
              <a:t> (standby)</a:t>
            </a:r>
          </a:p>
          <a:p>
            <a:r>
              <a:rPr lang="en-US"/>
              <a:t>Group Coordinator broker manages membership and partition assignment</a:t>
            </a:r>
          </a:p>
          <a:p>
            <a:r>
              <a:rPr lang="en-US"/>
              <a:t>Rebalancing triggers: consumer join, leave, crash, or new partitions added</a:t>
            </a:r>
            <a:endParaRPr/>
          </a:p>
          <a:p>
            <a:r>
              <a:t>Offset management</a:t>
            </a:r>
            <a:r>
              <a:rPr lang="en-IN"/>
              <a:t>: group</a:t>
            </a:r>
            <a:r>
              <a:t> tracks </a:t>
            </a:r>
            <a:r>
              <a:rPr lang="en-US"/>
              <a:t>last consumed position per partition</a:t>
            </a:r>
            <a:endParaRPr/>
          </a:p>
          <a:p>
            <a:r>
              <a:rPr lang="en-US"/>
              <a:t>Strategies: Range, RoundRobin, Sticky, or CooperativeSticky assignment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Message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/>
              <a:t>Step 1: </a:t>
            </a:r>
            <a:r>
              <a:t>Producer </a:t>
            </a:r>
            <a:r>
              <a:rPr lang="en-US"/>
              <a:t>serializes and sends record to the </a:t>
            </a:r>
            <a:r>
              <a:t>topic partition</a:t>
            </a:r>
            <a:r>
              <a:rPr lang="en-US"/>
              <a:t> leader</a:t>
            </a:r>
          </a:p>
          <a:p>
            <a:r>
              <a:rPr lang="en-US"/>
              <a:t>Step 2: Leader broker appends record to the local partition commit log</a:t>
            </a:r>
          </a:p>
          <a:p>
            <a:r>
              <a:rPr lang="en-US"/>
              <a:t>Step 3: Follower replicas fetch and replicate the record from the leader</a:t>
            </a:r>
            <a:endParaRPr/>
          </a:p>
          <a:p>
            <a:r>
              <a:rPr lang="en-IN"/>
              <a:t>Step 4: </a:t>
            </a:r>
            <a:r>
              <a:t>Leader </a:t>
            </a:r>
            <a:r>
              <a:rPr lang="en-IN"/>
              <a:t>sends acknowledgment </a:t>
            </a:r>
            <a:r>
              <a:t>to </a:t>
            </a:r>
            <a:r>
              <a:rPr lang="en-US"/>
              <a:t>producer (based on acks setting)</a:t>
            </a:r>
            <a:endParaRPr/>
          </a:p>
          <a:p>
            <a:r>
              <a:rPr lang="en-IN"/>
              <a:t>Step 5: </a:t>
            </a:r>
            <a:r>
              <a:t>Consumer </a:t>
            </a:r>
            <a:r>
              <a:rPr lang="en-IN"/>
              <a:t>polls the broker and </a:t>
            </a:r>
            <a:r>
              <a:t>fetches </a:t>
            </a:r>
            <a:r>
              <a:rPr lang="en-US"/>
              <a:t>records in batches</a:t>
            </a:r>
          </a:p>
          <a:p>
            <a:r>
              <a:rPr lang="en-US"/>
              <a:t>Step 6: Consumer processes records and commits the offset</a:t>
            </a:r>
            <a:endParaRPr/>
          </a:p>
          <a:p>
            <a:r>
              <a:t>Offsets </a:t>
            </a:r>
            <a:r>
              <a:rPr lang="en-US"/>
              <a:t>ensure exactly-once or at-least-once delivery semantics</a:t>
            </a:r>
          </a:p>
          <a:p>
            <a:r>
              <a:rPr lang="en-US"/>
              <a:t>End-to-end latency can be as low as single-digit milliseconds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ZooKeeper’s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ZooKeeper</a:t>
            </a:r>
            <a:r>
              <a:rPr lang="en-IN"/>
              <a:t> served as Kafka's external metadata management system</a:t>
            </a:r>
            <a:endParaRPr/>
          </a:p>
          <a:p>
            <a:r>
              <a:rPr lang="en-US"/>
              <a:t>Maintained the list of active brokers </a:t>
            </a:r>
            <a:r>
              <a:t>and </a:t>
            </a:r>
            <a:r>
              <a:rPr lang="en-IN"/>
              <a:t>their health status</a:t>
            </a:r>
            <a:endParaRPr/>
          </a:p>
          <a:p>
            <a:r>
              <a:rPr lang="en-IN"/>
              <a:t>Handled </a:t>
            </a:r>
            <a:r>
              <a:t>controller election</a:t>
            </a:r>
            <a:r>
              <a:rPr lang="en-US"/>
              <a:t>: one broker becomes the cluster controller</a:t>
            </a:r>
            <a:endParaRPr/>
          </a:p>
          <a:p>
            <a:r>
              <a:rPr lang="en-IN"/>
              <a:t>Stored </a:t>
            </a:r>
            <a:r>
              <a:t>topic configurations</a:t>
            </a:r>
            <a:r>
              <a:rPr lang="en-IN"/>
              <a:t>, partition assignments,</a:t>
            </a:r>
            <a:r>
              <a:t> and ACLs</a:t>
            </a:r>
          </a:p>
          <a:p>
            <a:r>
              <a:rPr lang="en-US"/>
              <a:t>Tracked consumer group offsets in older Kafka versions (pre-0.9)</a:t>
            </a:r>
          </a:p>
          <a:p>
            <a:r>
              <a:rPr lang="en-US"/>
              <a:t>Required a separate ZooKeeper ensemble (typically 3 or 5 nodes)</a:t>
            </a:r>
          </a:p>
          <a:p>
            <a:r>
              <a:t>Introduced operational complexity</a:t>
            </a:r>
            <a:r>
              <a:rPr lang="en-US"/>
              <a:t>: two distributed systems to manage</a:t>
            </a:r>
          </a:p>
          <a:p>
            <a:r>
              <a:rPr lang="en-US"/>
              <a:t>Being replaced by KRaft mode starting with Kafka 3.x releases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KRaft Mode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KRaft = Kafka Raft Metadata mode</a:t>
            </a:r>
            <a:r>
              <a:rPr lang="en-US"/>
              <a:t> (introduced in Kafka 2.8, production-ready in 3.3)</a:t>
            </a:r>
            <a:endParaRPr/>
          </a:p>
          <a:p>
            <a:r>
              <a:rPr lang="en-IN"/>
              <a:t>Eliminates the </a:t>
            </a:r>
            <a:r>
              <a:t>ZooKeeper dependency</a:t>
            </a:r>
            <a:r>
              <a:rPr lang="en-IN"/>
              <a:t> entirely</a:t>
            </a:r>
            <a:endParaRPr/>
          </a:p>
          <a:p>
            <a:r>
              <a:t>Uses </a:t>
            </a:r>
            <a:r>
              <a:rPr lang="en-IN"/>
              <a:t>an </a:t>
            </a:r>
            <a:r>
              <a:t>internal Raft consensus protocol</a:t>
            </a:r>
            <a:r>
              <a:rPr lang="en-IN"/>
              <a:t> for metadata management</a:t>
            </a:r>
          </a:p>
          <a:p>
            <a:r>
              <a:rPr lang="en-IN"/>
              <a:t>Controller quorum of dedicated brokers replaces ZooKeeper ensemble</a:t>
            </a:r>
          </a:p>
          <a:p>
            <a:r>
              <a:rPr lang="en-IN"/>
              <a:t>Metadata is stored as an internal Kafka topic (__cluster_metadata)</a:t>
            </a:r>
          </a:p>
          <a:p>
            <a:r>
              <a:rPr lang="en-IN"/>
              <a:t>Faster broker startup and controller failover (seconds vs minutes)</a:t>
            </a:r>
            <a:endParaRPr/>
          </a:p>
          <a:p>
            <a:r>
              <a:t>Simplifies </a:t>
            </a:r>
            <a:r>
              <a:rPr lang="en-US"/>
              <a:t>deployment: single system to install, configure, and monitor</a:t>
            </a:r>
            <a:endParaRPr/>
          </a:p>
          <a:p>
            <a:r>
              <a:t>Recommended for </a:t>
            </a:r>
            <a:r>
              <a:rPr lang="en-IN"/>
              <a:t>all new </a:t>
            </a:r>
            <a:r>
              <a:t>Kafka deployments</a:t>
            </a:r>
            <a:r>
              <a:rPr lang="en-US"/>
              <a:t>; migration path available for existing clusters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ZooKeeper vs KRaft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ZooKeeper: External dependency </a:t>
            </a:r>
            <a:r>
              <a:rPr lang="en-IN"/>
              <a:t>requiring separate cluster management</a:t>
            </a:r>
            <a:endParaRPr/>
          </a:p>
          <a:p>
            <a:r>
              <a:t>KRaft: Built directly into Kafka</a:t>
            </a:r>
            <a:r>
              <a:rPr lang="en-US"/>
              <a:t>, no external coordination service needed</a:t>
            </a:r>
          </a:p>
          <a:p>
            <a:r>
              <a:rPr lang="en-US"/>
              <a:t>ZooKeeper: Metadata updates are slower due to cross-system communication</a:t>
            </a:r>
            <a:endParaRPr/>
          </a:p>
          <a:p>
            <a:r>
              <a:t>KRaft</a:t>
            </a:r>
            <a:r>
              <a:rPr lang="en-IN"/>
              <a:t>: Metadata propagation is faster via internal Raft log replication</a:t>
            </a:r>
            <a:endParaRPr/>
          </a:p>
          <a:p>
            <a:r>
              <a:rPr lang="en-IN"/>
              <a:t>ZooKeeper: Controller </a:t>
            </a:r>
            <a:r>
              <a:t>election </a:t>
            </a:r>
            <a:r>
              <a:rPr lang="en-US"/>
              <a:t>can take minutes during failures</a:t>
            </a:r>
          </a:p>
          <a:p>
            <a:r>
              <a:rPr lang="en-US"/>
              <a:t>KRaft: Controller failover completes in seconds with Raft protocol</a:t>
            </a:r>
            <a:endParaRPr/>
          </a:p>
          <a:p>
            <a:r>
              <a:t>KRaft </a:t>
            </a:r>
            <a:r>
              <a:rPr lang="en-US"/>
              <a:t>supports significantly more partitions per cluster (millions vs hundreds of thousands)</a:t>
            </a:r>
          </a:p>
          <a:p>
            <a:r>
              <a:rPr lang="en-US"/>
              <a:t>Apache Kafka plans to fully remove ZooKeeper support in version 4.0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Kafka CLI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kafka-topics.sh: </a:t>
            </a:r>
            <a:r>
              <a:t>Create</a:t>
            </a:r>
            <a:r>
              <a:rPr lang="en-IN"/>
              <a:t>, list, describe, alter, and delete topics</a:t>
            </a:r>
          </a:p>
          <a:p>
            <a:r>
              <a:rPr lang="en-IN"/>
              <a:t>kafka-console-producer.sh: Publish messages to a topic from the terminal</a:t>
            </a:r>
          </a:p>
          <a:p>
            <a:r>
              <a:rPr lang="en-IN"/>
              <a:t>kafka-console-consumer.sh: Read messages from a topic in real-time</a:t>
            </a:r>
            <a:endParaRPr/>
          </a:p>
          <a:p>
            <a:r>
              <a:rPr lang="en-US"/>
              <a:t>kafka-consumer-groups.sh: Manage and inspect consumer group offsets</a:t>
            </a:r>
            <a:endParaRPr/>
          </a:p>
          <a:p>
            <a:r>
              <a:rPr lang="en-US"/>
              <a:t>kafka-configs.sh: View and modify broker, topic, and client configurations</a:t>
            </a:r>
            <a:endParaRPr/>
          </a:p>
          <a:p>
            <a:r>
              <a:rPr lang="en-US"/>
              <a:t>kafka-log-dirs.sh: Inspect log directory usage across brokers</a:t>
            </a:r>
            <a:endParaRPr/>
          </a:p>
          <a:p>
            <a:r>
              <a:rPr lang="en-US"/>
              <a:t>kafka-reassign-partitions.sh: Move partitions between brokers for rebalancing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1 - Create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Start Kafka server</a:t>
            </a:r>
            <a:r>
              <a:rPr lang="en-US"/>
              <a:t> (and ZooKeeper if not using KRaft mode)</a:t>
            </a:r>
            <a:endParaRPr/>
          </a:p>
          <a:p>
            <a:r>
              <a:t>Create topic using kafka-topics.sh</a:t>
            </a:r>
            <a:r>
              <a:rPr lang="en-IN"/>
              <a:t> with --create flag</a:t>
            </a:r>
            <a:endParaRPr/>
          </a:p>
          <a:p>
            <a:r>
              <a:t>Define </a:t>
            </a:r>
            <a:r>
              <a:rPr lang="en-IN"/>
              <a:t>partition count (--</a:t>
            </a:r>
            <a:r>
              <a:t>partitions </a:t>
            </a:r>
            <a:r>
              <a:rPr lang="en-IN"/>
              <a:t>3) for parallel processing</a:t>
            </a:r>
          </a:p>
          <a:p>
            <a:r>
              <a:rPr lang="en-IN"/>
              <a:t>Set </a:t>
            </a:r>
            <a:r>
              <a:t>replication factor</a:t>
            </a:r>
            <a:r>
              <a:rPr lang="en-US"/>
              <a:t> (--replication-factor 1 for single-node lab)</a:t>
            </a:r>
            <a:endParaRPr/>
          </a:p>
          <a:p>
            <a:r>
              <a:t>Verify topic creation</a:t>
            </a:r>
            <a:r>
              <a:rPr lang="en-US"/>
              <a:t> using --list to see all available topics</a:t>
            </a:r>
            <a:endParaRPr/>
          </a:p>
          <a:p>
            <a:r>
              <a:t>Describe created topic</a:t>
            </a:r>
            <a:r>
              <a:rPr lang="en-US"/>
              <a:t> to inspect partition leaders and replicas</a:t>
            </a:r>
          </a:p>
          <a:p>
            <a:r>
              <a:rPr lang="en-US"/>
              <a:t>Observe the output: PartitionCount, ReplicationFactor, ISR details</a:t>
            </a:r>
          </a:p>
          <a:p>
            <a:r>
              <a:rPr lang="en-US"/>
              <a:t>Try creating topics with different partition and replication settings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Commands - Create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kafka-topics.sh --create --topic orders --partitions 3 --replication-factor 1 --bootstrap-server localhost:9092</a:t>
            </a:r>
          </a:p>
          <a:p>
            <a:r>
              <a:t>kafka-topics.sh --list --bootstrap-server localhost:9092</a:t>
            </a:r>
          </a:p>
          <a:p>
            <a:r>
              <a:t>kafka-topics.sh --describe --topic orders --bootstrap-server localhost:9092</a:t>
            </a:r>
          </a:p>
          <a:p>
            <a:r>
              <a:rPr lang="en-IN"/>
              <a:t>kafka-topics.sh --create --topic payments --partitions 2 --replication-factor 1 --bootstrap-server localhost:9092</a:t>
            </a:r>
          </a:p>
          <a:p>
            <a:r>
              <a:rPr lang="en-IN"/>
              <a:t>kafka-topics.sh --alter --topic orders --partitions 5 --bootstrap-server localhost:9092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2 - Topic Partition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Send multiple messages to </a:t>
            </a:r>
            <a:r>
              <a:rPr lang="en-IN"/>
              <a:t>a partitioned </a:t>
            </a:r>
            <a:r>
              <a:t>topic</a:t>
            </a:r>
            <a:r>
              <a:rPr lang="en-IN"/>
              <a:t> to observe distribution</a:t>
            </a:r>
            <a:endParaRPr/>
          </a:p>
          <a:p>
            <a:r>
              <a:rPr lang="en-US"/>
              <a:t>Messages without keys are distributed </a:t>
            </a:r>
            <a:r>
              <a:t>across partitions</a:t>
            </a:r>
            <a:r>
              <a:rPr lang="en-US"/>
              <a:t> via round-robin</a:t>
            </a:r>
          </a:p>
          <a:p>
            <a:r>
              <a:rPr lang="en-US"/>
              <a:t>Messages with the same key always go to the same partition</a:t>
            </a:r>
          </a:p>
          <a:p>
            <a:r>
              <a:rPr lang="en-US"/>
              <a:t>Observe partition offsets incrementing as messages are produced</a:t>
            </a:r>
            <a:endParaRPr/>
          </a:p>
          <a:p>
            <a:r>
              <a:t>Use </a:t>
            </a:r>
            <a:r>
              <a:rPr lang="en-IN"/>
              <a:t>--describe </a:t>
            </a:r>
            <a:r>
              <a:t>to </a:t>
            </a:r>
            <a:r>
              <a:rPr lang="en-US"/>
              <a:t>verify which broker leads each partition</a:t>
            </a:r>
            <a:endParaRPr/>
          </a:p>
          <a:p>
            <a:r>
              <a:t>Analyze </a:t>
            </a:r>
            <a:r>
              <a:rPr lang="en-US"/>
              <a:t>how partition count affects consumer parallelism</a:t>
            </a:r>
            <a:endParaRPr/>
          </a:p>
          <a:p>
            <a:r>
              <a:t>Understand </a:t>
            </a:r>
            <a:r>
              <a:rPr lang="en-US"/>
              <a:t>that message ordering is per-partition, not global</a:t>
            </a:r>
          </a:p>
          <a:p>
            <a:r>
              <a:rPr lang="en-US"/>
              <a:t>Key takeaway: partition strategy directly impacts </a:t>
            </a:r>
            <a:r>
              <a:t>processing</a:t>
            </a:r>
            <a:r>
              <a:rPr lang="en-IN"/>
              <a:t> guarantees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3 - Produce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 kafka-console-producer.sh</a:t>
            </a:r>
            <a:r>
              <a:rPr lang="en-IN"/>
              <a:t> to publish messages interactively</a:t>
            </a:r>
            <a:endParaRPr/>
          </a:p>
          <a:p>
            <a:r>
              <a:t>Connect to Kafka broker</a:t>
            </a:r>
            <a:r>
              <a:rPr lang="en-IN"/>
              <a:t> using --bootstrap-server localhost:9092</a:t>
            </a:r>
            <a:endParaRPr/>
          </a:p>
          <a:p>
            <a:r>
              <a:t>Publish </a:t>
            </a:r>
            <a:r>
              <a:rPr lang="en-IN"/>
              <a:t>plain text </a:t>
            </a:r>
            <a:r>
              <a:t>events</a:t>
            </a:r>
            <a:r>
              <a:rPr lang="en-US"/>
              <a:t> (one message per line, Enter to send)</a:t>
            </a:r>
            <a:endParaRPr/>
          </a:p>
          <a:p>
            <a:r>
              <a:t>Send key-value messages</a:t>
            </a:r>
            <a:r>
              <a:rPr lang="en-US"/>
              <a:t> using --property parse.key=true --property key.separator=:</a:t>
            </a:r>
          </a:p>
          <a:p>
            <a:r>
              <a:rPr lang="en-US"/>
              <a:t>Example: user1:OrderPlaced sends key=user1, value=OrderPlaced</a:t>
            </a:r>
          </a:p>
          <a:p>
            <a:r>
              <a:rPr lang="en-US"/>
              <a:t>Messages are persisted to the topic partition commit log on disk</a:t>
            </a:r>
            <a:endParaRPr/>
          </a:p>
          <a:p>
            <a:r>
              <a:t>Validate data persistence</a:t>
            </a:r>
            <a:r>
              <a:rPr lang="en-US"/>
              <a:t> by consuming messages after producing</a:t>
            </a:r>
          </a:p>
          <a:p>
            <a:r>
              <a:rPr lang="en-US"/>
              <a:t>Try producing to different topics to see independent storage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Commands - Produce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kafka-console-producer.sh --topic orders --bootstrap-server localhost:9092</a:t>
            </a:r>
          </a:p>
          <a:p>
            <a:r>
              <a:t>&gt; Order1</a:t>
            </a:r>
          </a:p>
          <a:p>
            <a:r>
              <a:t>&gt; Order2</a:t>
            </a:r>
          </a:p>
          <a:p>
            <a:r>
              <a:t>&gt; Order3</a:t>
            </a:r>
          </a:p>
          <a:p>
            <a:r>
              <a:rPr lang="en-IN"/>
              <a:t>kafka-console-producer.sh --topic orders --property parse.key=true --property key.separator=: --bootstrap-server localhost:9092</a:t>
            </a:r>
          </a:p>
          <a:p>
            <a:r>
              <a:rPr lang="en-IN"/>
              <a:t>&gt; user1:OrderPlaced</a:t>
            </a:r>
          </a:p>
          <a:p>
            <a:r>
              <a:rPr lang="en-IN"/>
              <a:t>&gt; user2:OrderShipped</a:t>
            </a:r>
          </a:p>
          <a:p>
            <a:r>
              <a:rPr lang="en-IN"/>
              <a:t>&gt; user1:OrderDelivered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4 - Consume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 kafka-console-consumer.sh</a:t>
            </a:r>
            <a:r>
              <a:rPr lang="en-IN"/>
              <a:t> to read </a:t>
            </a:r>
            <a:r>
              <a:t>messages from </a:t>
            </a:r>
            <a:r>
              <a:rPr lang="en-IN"/>
              <a:t>a </a:t>
            </a:r>
            <a:r>
              <a:t>topic</a:t>
            </a:r>
          </a:p>
          <a:p>
            <a:r>
              <a:rPr lang="en-US"/>
              <a:t>--from-beginning flag reads all messages </a:t>
            </a:r>
            <a:r>
              <a:t>from </a:t>
            </a:r>
            <a:r>
              <a:rPr lang="en-US"/>
              <a:t>the earliest offset</a:t>
            </a:r>
          </a:p>
          <a:p>
            <a:r>
              <a:rPr lang="en-US"/>
              <a:t>Without --from-beginning, only new messages after consumer start are shown</a:t>
            </a:r>
            <a:endParaRPr/>
          </a:p>
          <a:p>
            <a:r>
              <a:t>Observe </a:t>
            </a:r>
            <a:r>
              <a:rPr lang="en-IN"/>
              <a:t>message </a:t>
            </a:r>
            <a:r>
              <a:t>offsets and ordering</a:t>
            </a:r>
            <a:r>
              <a:rPr lang="en-IN"/>
              <a:t> within each partition</a:t>
            </a:r>
            <a:endParaRPr/>
          </a:p>
          <a:p>
            <a:r>
              <a:t>Test real-time streaming</a:t>
            </a:r>
            <a:r>
              <a:rPr lang="en-US"/>
              <a:t>: produce in one terminal, consume in another</a:t>
            </a:r>
          </a:p>
          <a:p>
            <a:r>
              <a:rPr lang="en-US"/>
              <a:t>Use --group flag to assign consumer to a named consumer group</a:t>
            </a:r>
          </a:p>
          <a:p>
            <a:r>
              <a:rPr lang="en-US"/>
              <a:t>Multiple consumers in same group split partition workload</a:t>
            </a:r>
          </a:p>
          <a:p>
            <a:r>
              <a:rPr lang="en-US"/>
              <a:t>Try consuming from different topics to see independent streams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Lab Commands - Consume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kafka-console-consumer.sh --topic orders --from-beginning --bootstrap-server localhost:9092</a:t>
            </a:r>
          </a:p>
          <a:p>
            <a:r>
              <a:rPr lang="en-IN"/>
              <a:t>kafka-console-consumer.sh --topic orders --group my-group --bootstrap-server localhost:9092</a:t>
            </a:r>
          </a:p>
          <a:p>
            <a:r>
              <a:rPr lang="en-IN"/>
              <a:t>kafka-consumer-groups.sh --describe --group my-group --bootstrap-server localhost:9092</a:t>
            </a:r>
          </a:p>
          <a:p>
            <a:r>
              <a:t>Observe live messages</a:t>
            </a:r>
            <a:r>
              <a:rPr lang="en-US"/>
              <a:t> as they are produced in real-time</a:t>
            </a:r>
            <a:endParaRPr/>
          </a:p>
          <a:p>
            <a:r>
              <a:t>Validate message order and delivery</a:t>
            </a:r>
            <a:r>
              <a:rPr lang="en-IN"/>
              <a:t> consistency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Hands-On - Topic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Run kafka-topics.sh --describe to inspect full </a:t>
            </a:r>
            <a:r>
              <a:t>topic </a:t>
            </a:r>
            <a:r>
              <a:rPr lang="en-IN"/>
              <a:t>metadata</a:t>
            </a:r>
            <a:endParaRPr/>
          </a:p>
          <a:p>
            <a:r>
              <a:t>Check partition count</a:t>
            </a:r>
            <a:r>
              <a:rPr lang="en-US"/>
              <a:t> and verify it matches creation parameters</a:t>
            </a:r>
          </a:p>
          <a:p>
            <a:r>
              <a:rPr lang="en-US"/>
              <a:t>Identify the leader broker for each partition</a:t>
            </a:r>
            <a:endParaRPr/>
          </a:p>
          <a:p>
            <a:r>
              <a:t>Verify replica assignment</a:t>
            </a:r>
            <a:r>
              <a:rPr lang="en-US"/>
              <a:t>: which brokers hold copies of each partition</a:t>
            </a:r>
            <a:endParaRPr/>
          </a:p>
          <a:p>
            <a:r>
              <a:t>Inspect ISR (In-Sync Replicas)</a:t>
            </a:r>
            <a:r>
              <a:rPr lang="en-US"/>
              <a:t> to confirm replication health</a:t>
            </a:r>
          </a:p>
          <a:p>
            <a:r>
              <a:rPr lang="en-US"/>
              <a:t>Replicas not in ISR indicate lag or broker issues</a:t>
            </a:r>
            <a:endParaRPr/>
          </a:p>
          <a:p>
            <a:r>
              <a:t>Analyze broker allocation</a:t>
            </a:r>
            <a:r>
              <a:rPr lang="en-US"/>
              <a:t> for balanced partition distribution</a:t>
            </a:r>
          </a:p>
          <a:p>
            <a:r>
              <a:rPr lang="en-US"/>
              <a:t>Compare settings across multiple topics for consistency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Hands-On - Partition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Identify partition leaders</a:t>
            </a:r>
            <a:r>
              <a:rPr lang="en-US"/>
              <a:t> and check for even distribution across brokers</a:t>
            </a:r>
            <a:endParaRPr/>
          </a:p>
          <a:p>
            <a:r>
              <a:t>Observe message balancing</a:t>
            </a:r>
            <a:r>
              <a:rPr lang="en-US"/>
              <a:t>: are partitions receiving roughly equal load?</a:t>
            </a:r>
            <a:endParaRPr/>
          </a:p>
          <a:p>
            <a:r>
              <a:t>Understand consumer load distribution</a:t>
            </a:r>
            <a:r>
              <a:rPr lang="en-IN"/>
              <a:t> within consumer groups</a:t>
            </a:r>
            <a:endParaRPr/>
          </a:p>
          <a:p>
            <a:r>
              <a:t>Analyze throughput impact</a:t>
            </a:r>
            <a:r>
              <a:rPr lang="en-US"/>
              <a:t>: more partitions can increase parallelism</a:t>
            </a:r>
          </a:p>
          <a:p>
            <a:r>
              <a:rPr lang="en-US"/>
              <a:t>Monitor for hot partitions (one partition receiving disproportionate traffic)</a:t>
            </a:r>
            <a:endParaRPr/>
          </a:p>
          <a:p>
            <a:r>
              <a:t>Discuss scalability strategies</a:t>
            </a:r>
            <a:r>
              <a:rPr lang="en-US"/>
              <a:t>: when and how to increase partition count</a:t>
            </a:r>
          </a:p>
          <a:p>
            <a:r>
              <a:rPr lang="en-US"/>
              <a:t>Review under-replicated partitions as a cluster health indicator</a:t>
            </a:r>
          </a:p>
          <a:p>
            <a:r>
              <a:rPr lang="en-US"/>
              <a:t>Key insight: balanced distribution is critical for optimal Kafka performance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/>
          <p:nvPr/>
        </p:nvSpPr>
        <p:spPr>
          <a:xfrm>
            <a:off x="0" y="73152"/>
            <a:ext cx="9144000" cy="190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Use sufficient partitions for scalability</a:t>
            </a:r>
            <a:r>
              <a:rPr lang="en-US"/>
              <a:t> (rule of thumb: partitions &gt;= max consumers)</a:t>
            </a:r>
            <a:endParaRPr/>
          </a:p>
          <a:p>
            <a:r>
              <a:t>Avoid excessive partition count</a:t>
            </a:r>
            <a:r>
              <a:rPr lang="en-US"/>
              <a:t>: increases metadata overhead and recovery time</a:t>
            </a:r>
            <a:endParaRPr/>
          </a:p>
          <a:p>
            <a:r>
              <a:rPr lang="en-IN"/>
              <a:t>Set </a:t>
            </a:r>
            <a:r>
              <a:t>replication </a:t>
            </a:r>
            <a:r>
              <a:rPr lang="en-US"/>
              <a:t>factor of 3 and min.insync.replicas=2 </a:t>
            </a:r>
            <a:r>
              <a:t>for </a:t>
            </a:r>
            <a:r>
              <a:rPr lang="en-IN"/>
              <a:t>production</a:t>
            </a:r>
            <a:endParaRPr/>
          </a:p>
          <a:p>
            <a:r>
              <a:t>Monitor consumer lag</a:t>
            </a:r>
            <a:r>
              <a:rPr lang="en-US"/>
              <a:t> using kafka-consumer-groups.sh to detect processing delays</a:t>
            </a:r>
            <a:endParaRPr/>
          </a:p>
          <a:p>
            <a:r>
              <a:t>Use KRaft </a:t>
            </a:r>
            <a:r>
              <a:rPr lang="en-IN"/>
              <a:t>mode </a:t>
            </a:r>
            <a:r>
              <a:t>for </a:t>
            </a:r>
            <a:r>
              <a:rPr lang="en-IN"/>
              <a:t>all </a:t>
            </a:r>
            <a:r>
              <a:t>new Kafka deployments</a:t>
            </a:r>
            <a:r>
              <a:rPr lang="en-IN"/>
              <a:t> (Kafka 3.3+)</a:t>
            </a:r>
          </a:p>
          <a:p>
            <a:r>
              <a:rPr lang="en-IN"/>
              <a:t>Enable idempotent producers (enable.idempotence=true) to prevent duplicates</a:t>
            </a:r>
          </a:p>
          <a:p>
            <a:r>
              <a:rPr lang="en-IN"/>
              <a:t>Configure appropriate retention policies based on storage and compliance needs</a:t>
            </a:r>
          </a:p>
          <a:p>
            <a:r>
              <a:rPr lang="en-IN"/>
              <a:t>Implement proper error handling and dead letter queues for failed messages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3E"/>
            </a:gs>
            <a:gs pos="100000">
              <a:srgbClr val="1E27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/>
          <p:nvPr/>
        </p:nvSpPr>
        <p:spPr>
          <a:xfrm>
            <a:off x="685800" y="500000"/>
            <a:ext cx="1143000" cy="54864"/>
          </a:xfrm>
          <a:prstGeom prst="rect">
            <a:avLst/>
          </a:prstGeom>
          <a:solidFill>
            <a:srgbClr val="0066B3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85216"/>
            <a:ext cx="7772400" cy="1000000"/>
          </a:xfrm>
        </p:spPr>
        <p:txBody>
          <a:bodyPr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000"/>
            <a:ext cx="7772400" cy="47000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Kafka is a distributed event streaming platform processing trillions of events daily</a:t>
            </a:r>
          </a:p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Topics and partitions provide horizontal scalability and parallel processing</a:t>
            </a:r>
          </a:p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Replication with ISR tracking ensures fault tolerance and high availability</a:t>
            </a:r>
          </a:p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Producers support acks, batching, and compression for reliable delivery</a:t>
            </a:r>
          </a:p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Consumer groups enable scalable, load-balanced event consumption</a:t>
            </a:r>
          </a:p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KRaft mode eliminates ZooKeeper, simplifying modern Kafka deployments</a:t>
            </a:r>
          </a:p>
          <a:p>
            <a:pPr>
              <a:spcBef>
                <a:spcPts val="800"/>
              </a:spcBef>
              <a:buClr>
                <a:srgbClr val="00A4E4"/>
              </a:buClr>
            </a:pPr>
            <a:r>
              <a:rPr lang="en-US" sz="1800">
                <a:solidFill>
                  <a:srgbClr val="C8D6E5"/>
                </a:solidFill>
                <a:latin typeface="Calibri Light"/>
              </a:rPr>
              <a:t>Mastering CLI tools and best practices is key to operating Kafka effectively</a:t>
            </a:r>
          </a:p>
        </p:txBody>
      </p:sp>
      <p:sp>
        <p:nvSpPr>
          <p:cNvPr id="11" name="BottomGradient"/>
          <p:cNvSpPr/>
          <p:nvPr/>
        </p:nvSpPr>
        <p:spPr>
          <a:xfrm>
            <a:off x="0" y="6400000"/>
            <a:ext cx="9144000" cy="458000"/>
          </a:xfrm>
          <a:prstGeom prst="rect">
            <a:avLst/>
          </a:prstGeom>
          <a:gradFill>
            <a:gsLst>
              <a:gs pos="0">
                <a:srgbClr val="0066B3"/>
              </a:gs>
              <a:gs pos="100000">
                <a:srgbClr val="00A4E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63</TotalTime>
  <Words>2261</Words>
  <Application>Microsoft Office PowerPoint</Application>
  <PresentationFormat>On-screen Show (4:3)</PresentationFormat>
  <Paragraphs>234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</vt:lpstr>
      <vt:lpstr>Calibri Light</vt:lpstr>
      <vt:lpstr>Tw Cen MT</vt:lpstr>
      <vt:lpstr>Tw Cen MT Condensed</vt:lpstr>
      <vt:lpstr>Wingdings 3</vt:lpstr>
      <vt:lpstr>Integral</vt:lpstr>
      <vt:lpstr>Kafka Architecture Deep Dive</vt:lpstr>
      <vt:lpstr>Learning Objectives</vt:lpstr>
      <vt:lpstr>Kafka Architecture Overview</vt:lpstr>
      <vt:lpstr>Kafka Core Components</vt:lpstr>
      <vt:lpstr>Kafka Brokers</vt:lpstr>
      <vt:lpstr>Topics in Kafka</vt:lpstr>
      <vt:lpstr>Partitions in Kafka</vt:lpstr>
      <vt:lpstr>Partitioning Example</vt:lpstr>
      <vt:lpstr>Replication Factor</vt:lpstr>
      <vt:lpstr>Kafka Producer Workflow</vt:lpstr>
      <vt:lpstr>Kafka Consumer Workflow</vt:lpstr>
      <vt:lpstr>Consumer Groups</vt:lpstr>
      <vt:lpstr>Kafka Message Flow</vt:lpstr>
      <vt:lpstr>ZooKeeper’s Role</vt:lpstr>
      <vt:lpstr>KRaft Mode Introduction</vt:lpstr>
      <vt:lpstr>ZooKeeper vs KRaft</vt:lpstr>
      <vt:lpstr>Kafka CLI Commands</vt:lpstr>
      <vt:lpstr>Lab 1 - Create Topics</vt:lpstr>
      <vt:lpstr>Lab Commands - Create Topic</vt:lpstr>
      <vt:lpstr>Lab 2 - Topic Partition Demonstration</vt:lpstr>
      <vt:lpstr>Lab 3 - Produce Messages</vt:lpstr>
      <vt:lpstr>Lab Commands - Produce Messages</vt:lpstr>
      <vt:lpstr>Lab 4 - Consume Messages</vt:lpstr>
      <vt:lpstr>Lab Commands - Consume Messages</vt:lpstr>
      <vt:lpstr>Hands-On - Topic Description</vt:lpstr>
      <vt:lpstr>Hands-On - Partition Distribution Analysis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5</cp:revision>
  <dcterms:created xsi:type="dcterms:W3CDTF">2013-01-27T09:14:16Z</dcterms:created>
  <dcterms:modified xsi:type="dcterms:W3CDTF">2026-05-18T23:41:28Z</dcterms:modified>
  <cp:category/>
</cp:coreProperties>
</file>