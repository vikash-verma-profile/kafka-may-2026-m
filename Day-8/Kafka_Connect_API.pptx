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336" r:id="rId2"/>
    <p:sldId id="333" r:id="rId3"/>
    <p:sldId id="310" r:id="rId4"/>
    <p:sldId id="311" r:id="rId5"/>
    <p:sldId id="312" r:id="rId6"/>
    <p:sldId id="292" r:id="rId7"/>
    <p:sldId id="313" r:id="rId8"/>
    <p:sldId id="337" r:id="rId9"/>
    <p:sldId id="314" r:id="rId10"/>
    <p:sldId id="295" r:id="rId11"/>
    <p:sldId id="315" r:id="rId12"/>
    <p:sldId id="316" r:id="rId13"/>
    <p:sldId id="296" r:id="rId14"/>
    <p:sldId id="317" r:id="rId15"/>
    <p:sldId id="318" r:id="rId16"/>
    <p:sldId id="325" r:id="rId17"/>
    <p:sldId id="326" r:id="rId18"/>
    <p:sldId id="319" r:id="rId19"/>
    <p:sldId id="338" r:id="rId20"/>
    <p:sldId id="268" r:id="rId21"/>
    <p:sldId id="269" r:id="rId22"/>
    <p:sldId id="297" r:id="rId23"/>
    <p:sldId id="279" r:id="rId24"/>
    <p:sldId id="280" r:id="rId25"/>
    <p:sldId id="320" r:id="rId26"/>
    <p:sldId id="321" r:id="rId27"/>
    <p:sldId id="322" r:id="rId28"/>
    <p:sldId id="298" r:id="rId29"/>
    <p:sldId id="323" r:id="rId30"/>
    <p:sldId id="339" r:id="rId31"/>
    <p:sldId id="324" r:id="rId32"/>
    <p:sldId id="282" r:id="rId33"/>
    <p:sldId id="299" r:id="rId34"/>
    <p:sldId id="278" r:id="rId35"/>
    <p:sldId id="300" r:id="rId36"/>
    <p:sldId id="327" r:id="rId37"/>
    <p:sldId id="281" r:id="rId38"/>
    <p:sldId id="340" r:id="rId39"/>
    <p:sldId id="283" r:id="rId40"/>
    <p:sldId id="284" r:id="rId41"/>
    <p:sldId id="285" r:id="rId42"/>
    <p:sldId id="301" r:id="rId43"/>
    <p:sldId id="328" r:id="rId44"/>
    <p:sldId id="329" r:id="rId45"/>
    <p:sldId id="341" r:id="rId46"/>
    <p:sldId id="330" r:id="rId47"/>
    <p:sldId id="331" r:id="rId48"/>
    <p:sldId id="332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3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473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13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05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6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0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3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35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17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>
  <p:cSld name="Picture with Caption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5544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77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>
  <p:cSld name="Vertical Title and Text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690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1" name="AccentLine"/>
          <p:cNvSpPr/>
          <p:nvPr userDrawn="1"/>
        </p:nvSpPr>
        <p:spPr>
          <a:xfrm>
            <a:off x="0" y="6680200"/>
            <a:ext cx="9144000" cy="22860"/>
          </a:xfrm>
          <a:prstGeom prst="rect">
            <a:avLst/>
          </a:prstGeom>
          <a:solidFill>
            <a:srgbClr val="E94B4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2035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rgbClr val="F4F4F5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rgbClr val="E4E4E7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rgbClr val="E4E4E7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4E4E7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4E4E7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4E4E7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4E4E7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4E4E7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4E4E7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4E4E7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4E4E7"/>
          </a:solidFill>
        </a:defRPr>
      </a:defPPr>
      <a:lvl1pPr marL="0" algn="l" defTabSz="914400" rtl="0" eaLnBrk="1" latinLnBrk="0" hangingPunct="1">
        <a:defRPr sz="1800" kern="1200">
          <a:solidFill>
            <a:srgbClr val="E4E4E7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E4E4E7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E4E4E7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E4E4E7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E4E4E7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E4E4E7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E4E4E7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E4E4E7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E4E4E7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ing1"/>
          <p:cNvSpPr/>
          <p:nvPr/>
        </p:nvSpPr>
        <p:spPr>
          <a:xfrm>
            <a:off x="6400000" y="-1600000"/>
            <a:ext cx="4500000" cy="4500000"/>
          </a:xfrm>
          <a:prstGeom prst="ellipse">
            <a:avLst/>
          </a:prstGeom>
          <a:noFill/>
          <a:ln w="12700">
            <a:solidFill>
              <a:srgbClr val="E94B4B">
                <a:alpha val="3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ing2"/>
          <p:cNvSpPr/>
          <p:nvPr/>
        </p:nvSpPr>
        <p:spPr>
          <a:xfrm>
            <a:off x="-1800000" y="3800000"/>
            <a:ext cx="5200000" cy="5200000"/>
          </a:xfrm>
          <a:prstGeom prst="ellipse">
            <a:avLst/>
          </a:prstGeom>
          <a:noFill/>
          <a:ln w="9525">
            <a:solidFill>
              <a:srgbClr val="22D3EE">
                <a:alpha val="2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Eyebrow"/>
          <p:cNvSpPr txBox="1"/>
          <p:nvPr/>
        </p:nvSpPr>
        <p:spPr>
          <a:xfrm>
            <a:off x="685800" y="1828800"/>
            <a:ext cx="5486400" cy="304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1" spc="600" dirty="0">
                <a:solidFill>
                  <a:srgbClr val="E94B4B"/>
                </a:solidFill>
                <a:latin typeface="Inter"/>
              </a:rPr>
              <a:t>STREAMING DATA INTEGRATION</a:t>
            </a:r>
          </a:p>
        </p:txBody>
      </p:sp>
      <p:sp>
        <p:nvSpPr>
          <p:cNvPr id="14" name="Title 1"/>
          <p:cNvSpPr txBox="1">
            <a:spLocks noGrp="1"/>
          </p:cNvSpPr>
          <p:nvPr>
            <p:ph type="ctrTitle"/>
          </p:nvPr>
        </p:nvSpPr>
        <p:spPr>
          <a:xfrm>
            <a:off x="685800" y="2200000"/>
            <a:ext cx="7600000" cy="1500000"/>
          </a:xfrm>
          <a:prstGeom prst="rect">
            <a:avLst/>
          </a:prstGeom>
          <a:noFill/>
        </p:spPr>
        <p:txBody>
          <a:bodyPr wrap="square" rtlCol="0" anchor="t">
            <a:normAutofit fontScale="90000"/>
          </a:bodyPr>
          <a:lstStyle/>
          <a:p>
            <a:pPr algn="l">
              <a:buNone/>
            </a:pPr>
            <a:r>
              <a:rPr lang="en-US" sz="6000" b="1" spc="-50" dirty="0">
                <a:solidFill>
                  <a:srgbClr val="F4F4F5"/>
                </a:solidFill>
                <a:latin typeface="Inter"/>
              </a:rPr>
              <a:t>Kafka Connect</a:t>
            </a:r>
          </a:p>
          <a:p>
            <a:pPr algn="l">
              <a:buNone/>
            </a:pPr>
            <a:r>
              <a:rPr lang="en-US" sz="6000" b="1" spc="-50" dirty="0">
                <a:solidFill>
                  <a:srgbClr val="E94B4B"/>
                </a:solidFill>
                <a:latin typeface="Inter"/>
              </a:rPr>
              <a:t>&amp; API Integration</a:t>
            </a:r>
          </a:p>
        </p:txBody>
      </p:sp>
      <p:sp>
        <p:nvSpPr>
          <p:cNvPr id="15" name="Tagline"/>
          <p:cNvSpPr txBox="1"/>
          <p:nvPr/>
        </p:nvSpPr>
        <p:spPr>
          <a:xfrm>
            <a:off x="685800" y="4500000"/>
            <a:ext cx="64008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en-US" sz="2000" dirty="0">
                <a:solidFill>
                  <a:srgbClr val="CBD5E1"/>
                </a:solidFill>
                <a:latin typeface="Inter"/>
              </a:rPr>
              <a:t>Connectors, transforms, and pipelines for moving data in and out of Kafka</a:t>
            </a:r>
          </a:p>
        </p:txBody>
      </p:sp>
      <p:sp>
        <p:nvSpPr>
          <p:cNvPr id="16" name="AccentBar"/>
          <p:cNvSpPr/>
          <p:nvPr/>
        </p:nvSpPr>
        <p:spPr>
          <a:xfrm>
            <a:off x="685800" y="5800000"/>
            <a:ext cx="50800" cy="600000"/>
          </a:xfrm>
          <a:prstGeom prst="rect">
            <a:avLst/>
          </a:prstGeom>
          <a:solidFill>
            <a:srgbClr val="E94B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resenter"/>
          <p:cNvSpPr txBox="1">
            <a:spLocks noGrp="1"/>
          </p:cNvSpPr>
          <p:nvPr>
            <p:ph type="subTitle" idx="1"/>
          </p:nvPr>
        </p:nvSpPr>
        <p:spPr>
          <a:xfrm>
            <a:off x="850000" y="5800000"/>
            <a:ext cx="5000000" cy="6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en-US" sz="1600" b="1" dirty="0">
                <a:solidFill>
                  <a:srgbClr val="F4F4F5"/>
                </a:solidFill>
                <a:latin typeface="Inter"/>
              </a:rPr>
              <a:t>Vikash Verma</a:t>
            </a:r>
          </a:p>
          <a:p>
            <a:pPr algn="l">
              <a:buNone/>
            </a:pPr>
            <a:r>
              <a:rPr lang="en-US" sz="1300" dirty="0">
                <a:solidFill>
                  <a:srgbClr val="64748B"/>
                </a:solidFill>
                <a:latin typeface="Inter"/>
              </a:rPr>
              <a:t>Workshop · 2026</a:t>
            </a:r>
          </a:p>
        </p:txBody>
      </p:sp>
    </p:spTree>
    <p:extLst>
      <p:ext uri="{BB962C8B-B14F-4D97-AF65-F5344CB8AC3E}">
        <p14:creationId xmlns:p14="http://schemas.microsoft.com/office/powerpoint/2010/main" val="2982175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Understand what Kafka Connect solves</a:t>
            </a:r>
          </a:p>
          <a:p>
            <a:pPr marL="571500" lvl="1" indent="-228600">
              <a:lnSpc>
                <a:spcPts val="1600"/>
              </a:lnSpc>
              <a:spcBef>
                <a:spcPts val="200"/>
              </a:spcBef>
              <a:buFont typeface="Arial"/>
              <a:buChar char="◦"/>
            </a:pPr>
            <a:r>
              <a:rPr lang="en-US" sz="1400" dirty="0"/>
              <a:t>The role of connectors, tasks, workers, and converters</a:t>
            </a:r>
          </a:p>
          <a:p>
            <a:pPr marL="285750" lvl="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Build pipelines with source and sink connectors</a:t>
            </a:r>
          </a:p>
          <a:p>
            <a:pPr marL="571500" lvl="1" indent="-228600">
              <a:lnSpc>
                <a:spcPts val="1600"/>
              </a:lnSpc>
              <a:spcBef>
                <a:spcPts val="200"/>
              </a:spcBef>
              <a:buFont typeface="Arial"/>
              <a:buChar char="◦"/>
            </a:pPr>
            <a:r>
              <a:rPr lang="en-US" sz="1400" dirty="0"/>
              <a:t>JDBC, Debezium CDC, Elasticsearch, REST, and custom plugins</a:t>
            </a:r>
          </a:p>
          <a:p>
            <a:pPr marL="285750" lvl="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Operate Connect in distributed mode</a:t>
            </a:r>
          </a:p>
          <a:p>
            <a:pPr marL="571500" lvl="1" indent="-228600">
              <a:lnSpc>
                <a:spcPts val="1600"/>
              </a:lnSpc>
              <a:spcBef>
                <a:spcPts val="200"/>
              </a:spcBef>
              <a:buFont typeface="Arial"/>
              <a:buChar char="◦"/>
            </a:pPr>
            <a:r>
              <a:rPr lang="en-US" sz="1400" dirty="0"/>
              <a:t>Deploy, scale tasks, rebalance workers, and use the REST API</a:t>
            </a:r>
          </a:p>
          <a:p>
            <a:pPr marL="285750" lvl="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Shape data in flight with SMTs and converters</a:t>
            </a:r>
          </a:p>
          <a:p>
            <a:pPr marL="571500" lvl="1" indent="-228600">
              <a:lnSpc>
                <a:spcPts val="1600"/>
              </a:lnSpc>
              <a:spcBef>
                <a:spcPts val="200"/>
              </a:spcBef>
              <a:buFont typeface="Arial"/>
              <a:buChar char="◦"/>
            </a:pPr>
            <a:r>
              <a:rPr lang="en-US" sz="1400" dirty="0"/>
              <a:t>Schema Registry, Avro/Protobuf, DLQs, and error handling</a:t>
            </a:r>
          </a:p>
          <a:p>
            <a:pPr marL="285750" lvl="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Run Connect safely in production</a:t>
            </a:r>
          </a:p>
          <a:p>
            <a:pPr marL="571500" lvl="1" indent="-228600">
              <a:lnSpc>
                <a:spcPts val="1600"/>
              </a:lnSpc>
              <a:spcBef>
                <a:spcPts val="200"/>
              </a:spcBef>
              <a:buFont typeface="Arial"/>
              <a:buChar char="◦"/>
            </a:pPr>
            <a:r>
              <a:rPr lang="en-US" sz="1400" dirty="0"/>
              <a:t>Monitor, secure, tune, and apply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240205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Kafka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Framework for scalable data integration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Built into the Kafka ecosystem — no separate cluster required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Moves data between Kafka and external systems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Databases, search indices, object stores, message queues, REST endpoints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Standalone or distributed mode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Standalone for dev/PoC; distributed for production with HA and rebalancing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Configuration over code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Deploy a connector by POSTing JSON to the REST API — no custom code needed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Fault tolerance built in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Offsets stored in Kafka; failed tasks rebalance to surviving workers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3725834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Kafka Connect?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Replaces fragile, hand-written ETL pipelines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One framework instead of bespoke scripts per source/sink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Reusable, community-supported connectors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200+ connectors on Confluent Hub: JDBC, S3, Snowflake, Elasticsearch, Mongo, Debezium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Automatic offset and progress tracking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Exactly-once or at-least-once semantics without bespoke checkpointing logic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Horizontal scale via task parallelism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Increase throughput by raising tasks.max — workers split partitions across tasks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Lower operational burden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One REST API, one set of metrics, one config format — no per-pipeline tooling</a:t>
            </a:r>
          </a:p>
        </p:txBody>
      </p:sp>
    </p:spTree>
    <p:extLst>
      <p:ext uri="{BB962C8B-B14F-4D97-AF65-F5344CB8AC3E}">
        <p14:creationId xmlns:p14="http://schemas.microsoft.com/office/powerpoint/2010/main" val="260564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Connect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Workers execute the runtime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JVM processes that host connector and task threads and expose the REST API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Connectors define what to integrate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Configuration object: which system, which topics, partitioning, polling cadence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Tasks move the actual data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Each task owns a slice of work (rows, partitions, files) — parallelism unit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Converters handle (de)serialization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JSON, Avro, Protobuf, String — pluggable per key and value independently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REST API for dynamic control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Deploy, pause, restart, and reconfigure connectors without restarting workers</a:t>
            </a:r>
          </a:p>
        </p:txBody>
      </p:sp>
    </p:spTree>
    <p:extLst>
      <p:ext uri="{BB962C8B-B14F-4D97-AF65-F5344CB8AC3E}">
        <p14:creationId xmlns:p14="http://schemas.microsoft.com/office/powerpoint/2010/main" val="2878598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8503-AA4E-DE3E-FF3B-D67F23E73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Kafka Connect Architecture</a:t>
            </a:r>
          </a:p>
        </p:txBody>
      </p:sp>
      <p:sp>
        <p:nvSpPr>
          <p:cNvPr id="101" name="Box101"/>
          <p:cNvSpPr/>
          <p:nvPr/>
        </p:nvSpPr>
        <p:spPr>
          <a:xfrm>
            <a:off x="508000" y="2413000"/>
            <a:ext cx="1651000" cy="8890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5B74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F4F5"/>
                </a:solidFill>
              </a:rPr>
              <a:t>External Source
(DB, API, File)</a:t>
            </a:r>
          </a:p>
        </p:txBody>
      </p:sp>
      <p:sp>
        <p:nvSpPr>
          <p:cNvPr id="102" name="A102"/>
          <p:cNvSpPr/>
          <p:nvPr/>
        </p:nvSpPr>
        <p:spPr>
          <a:xfrm>
            <a:off x="2222500" y="2730500"/>
            <a:ext cx="381000" cy="279400"/>
          </a:xfrm>
          <a:prstGeom prst="rightArrow">
            <a:avLst/>
          </a:prstGeom>
          <a:solidFill>
            <a:srgbClr val="A3E635"/>
          </a:solidFill>
          <a:ln w="6350">
            <a:solidFill>
              <a:srgbClr val="3E885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Box103"/>
          <p:cNvSpPr/>
          <p:nvPr/>
        </p:nvSpPr>
        <p:spPr>
          <a:xfrm>
            <a:off x="2667000" y="2222500"/>
            <a:ext cx="3810000" cy="3556000"/>
          </a:xfrm>
          <a:prstGeom prst="roundRect">
            <a:avLst/>
          </a:prstGeom>
          <a:solidFill>
            <a:srgbClr val="F7FAFB"/>
          </a:solidFill>
          <a:ln w="12700">
            <a:solidFill>
              <a:srgbClr val="335B74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 dirty="0">
                <a:solidFill>
                  <a:srgbClr val="CBD5E1"/>
                </a:solidFill>
              </a:rPr>
              <a:t>Kafka Connect Cluster</a:t>
            </a:r>
          </a:p>
        </p:txBody>
      </p:sp>
      <p:sp>
        <p:nvSpPr>
          <p:cNvPr id="104" name="Box104"/>
          <p:cNvSpPr/>
          <p:nvPr/>
        </p:nvSpPr>
        <p:spPr>
          <a:xfrm>
            <a:off x="2857500" y="2603500"/>
            <a:ext cx="1651000" cy="6350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335B74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F4F5"/>
                </a:solidFill>
              </a:rPr>
              <a:t>Source Connector
+ Tasks</a:t>
            </a:r>
          </a:p>
        </p:txBody>
      </p:sp>
      <p:sp>
        <p:nvSpPr>
          <p:cNvPr id="105" name="Box105"/>
          <p:cNvSpPr/>
          <p:nvPr/>
        </p:nvSpPr>
        <p:spPr>
          <a:xfrm>
            <a:off x="4635500" y="2603500"/>
            <a:ext cx="1651000" cy="6350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335B74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F4F5"/>
                </a:solidFill>
              </a:rPr>
              <a:t>Converter
(Avro/JSON)</a:t>
            </a:r>
          </a:p>
        </p:txBody>
      </p:sp>
      <p:sp>
        <p:nvSpPr>
          <p:cNvPr id="106" name="Box106"/>
          <p:cNvSpPr/>
          <p:nvPr/>
        </p:nvSpPr>
        <p:spPr>
          <a:xfrm>
            <a:off x="2857500" y="3492500"/>
            <a:ext cx="3429000" cy="63500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335B74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F4F5"/>
                </a:solidFill>
              </a:rPr>
              <a:t>Connect Worker (JVM)
executes tasks</a:t>
            </a:r>
          </a:p>
        </p:txBody>
      </p:sp>
      <p:sp>
        <p:nvSpPr>
          <p:cNvPr id="107" name="Box107"/>
          <p:cNvSpPr/>
          <p:nvPr/>
        </p:nvSpPr>
        <p:spPr>
          <a:xfrm>
            <a:off x="2857500" y="4381500"/>
            <a:ext cx="1651000" cy="57150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335B74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4F4F5"/>
                </a:solidFill>
              </a:rPr>
              <a:t>REST API
(manage connectors)</a:t>
            </a:r>
          </a:p>
        </p:txBody>
      </p:sp>
      <p:sp>
        <p:nvSpPr>
          <p:cNvPr id="108" name="Box108"/>
          <p:cNvSpPr/>
          <p:nvPr/>
        </p:nvSpPr>
        <p:spPr>
          <a:xfrm>
            <a:off x="4635500" y="4381500"/>
            <a:ext cx="1651000" cy="57150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335B74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4F4F5"/>
                </a:solidFill>
              </a:rPr>
              <a:t>Offset Storage
(__consumer_offsets)</a:t>
            </a:r>
          </a:p>
        </p:txBody>
      </p:sp>
      <p:sp>
        <p:nvSpPr>
          <p:cNvPr id="109" name="Box109"/>
          <p:cNvSpPr/>
          <p:nvPr/>
        </p:nvSpPr>
        <p:spPr>
          <a:xfrm>
            <a:off x="2857500" y="5080000"/>
            <a:ext cx="3429000" cy="5715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335B74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F4F5"/>
                </a:solidFill>
              </a:rPr>
              <a:t>Sink Connector + Tasks</a:t>
            </a:r>
          </a:p>
        </p:txBody>
      </p:sp>
      <p:sp>
        <p:nvSpPr>
          <p:cNvPr id="110" name="A110"/>
          <p:cNvSpPr/>
          <p:nvPr/>
        </p:nvSpPr>
        <p:spPr>
          <a:xfrm>
            <a:off x="6540500" y="2730500"/>
            <a:ext cx="381000" cy="279400"/>
          </a:xfrm>
          <a:prstGeom prst="rightArrow">
            <a:avLst/>
          </a:prstGeom>
          <a:solidFill>
            <a:srgbClr val="A3E635"/>
          </a:solidFill>
          <a:ln w="6350">
            <a:solidFill>
              <a:srgbClr val="3E885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Box111"/>
          <p:cNvSpPr/>
          <p:nvPr/>
        </p:nvSpPr>
        <p:spPr>
          <a:xfrm>
            <a:off x="6985000" y="2413000"/>
            <a:ext cx="1651000" cy="889000"/>
          </a:xfrm>
          <a:prstGeom prst="roundRect">
            <a:avLst/>
          </a:prstGeom>
          <a:solidFill>
            <a:srgbClr val="60A5FA"/>
          </a:solidFill>
          <a:ln w="1270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Kafka Brokers
(Topics)</a:t>
            </a:r>
          </a:p>
        </p:txBody>
      </p:sp>
      <p:sp>
        <p:nvSpPr>
          <p:cNvPr id="112" name="A112"/>
          <p:cNvSpPr/>
          <p:nvPr/>
        </p:nvSpPr>
        <p:spPr>
          <a:xfrm>
            <a:off x="7683500" y="3429000"/>
            <a:ext cx="279400" cy="1651000"/>
          </a:xfrm>
          <a:prstGeom prst="downArrow">
            <a:avLst/>
          </a:prstGeom>
          <a:solidFill>
            <a:srgbClr val="A3E635"/>
          </a:solidFill>
          <a:ln w="6350">
            <a:solidFill>
              <a:srgbClr val="3E885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Box113"/>
          <p:cNvSpPr/>
          <p:nvPr/>
        </p:nvSpPr>
        <p:spPr>
          <a:xfrm>
            <a:off x="6985000" y="5207000"/>
            <a:ext cx="1651000" cy="7620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5B74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F4F5"/>
                </a:solidFill>
              </a:rPr>
              <a:t>External Sink
(ES, DB, S3)</a:t>
            </a:r>
          </a:p>
        </p:txBody>
      </p:sp>
      <p:sp>
        <p:nvSpPr>
          <p:cNvPr id="114" name="A114"/>
          <p:cNvSpPr/>
          <p:nvPr/>
        </p:nvSpPr>
        <p:spPr>
          <a:xfrm>
            <a:off x="6350000" y="5334000"/>
            <a:ext cx="571500" cy="279400"/>
          </a:xfrm>
          <a:prstGeom prst="rightArrow">
            <a:avLst/>
          </a:prstGeom>
          <a:solidFill>
            <a:srgbClr val="A3E635"/>
          </a:solidFill>
          <a:ln w="6350">
            <a:solidFill>
              <a:srgbClr val="3E885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Caption"/>
          <p:cNvSpPr/>
          <p:nvPr/>
        </p:nvSpPr>
        <p:spPr>
          <a:xfrm>
            <a:off x="508000" y="6070600"/>
            <a:ext cx="8128000" cy="381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1100" i="1" dirty="0">
                <a:solidFill>
                  <a:srgbClr val="CBD5E1"/>
                </a:solidFill>
              </a:rPr>
              <a:t>Workers run Tasks defined by Connectors; Converters serialize records flowing through Kafka topics</a:t>
            </a:r>
          </a:p>
        </p:txBody>
      </p:sp>
    </p:spTree>
    <p:extLst>
      <p:ext uri="{BB962C8B-B14F-4D97-AF65-F5344CB8AC3E}">
        <p14:creationId xmlns:p14="http://schemas.microsoft.com/office/powerpoint/2010/main" val="15687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Connect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Source Connector</a:t>
            </a:r>
            <a:r>
              <a:rPr lang="en-US" sz="1600" dirty="0"/>
              <a:t> — pulls data </a:t>
            </a:r>
            <a:r>
              <a:rPr lang="en-US" sz="1600" i="1" dirty="0"/>
              <a:t>into</a:t>
            </a:r>
            <a:r>
              <a:rPr lang="en-US" sz="1600" dirty="0"/>
              <a:t> Kafka topics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Examples: JDBC, Debezium (CDC), MongoDB, FilePulse, MQTT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Sink Connector</a:t>
            </a:r>
            <a:r>
              <a:rPr lang="en-US" sz="1600" dirty="0"/>
              <a:t> — pushes data </a:t>
            </a:r>
            <a:r>
              <a:rPr lang="en-US" sz="1600" i="1" dirty="0"/>
              <a:t>out of</a:t>
            </a:r>
            <a:r>
              <a:rPr lang="en-US" sz="1600" dirty="0"/>
              <a:t> Kafka topics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Examples: JDBC Sink, Elasticsearch, S3, Snowflake, BigQuery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Connect Worker — runtime container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Converter — schema-aware serialization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SMTs — in-flight per-record transforms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Offset Storage — durable progress tracking in Kafka</a:t>
            </a:r>
          </a:p>
        </p:txBody>
      </p:sp>
    </p:spTree>
    <p:extLst>
      <p:ext uri="{BB962C8B-B14F-4D97-AF65-F5344CB8AC3E}">
        <p14:creationId xmlns:p14="http://schemas.microsoft.com/office/powerpoint/2010/main" val="1616236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CB64D-E02C-B0E8-8E49-DA5B9550F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CBD5E1"/>
                </a:solidFill>
              </a:rPr>
              <a:t>Lab - Identify Connect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A3123-F0EB-650F-656A-F30D57904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1700" b="1" dirty="0">
                <a:solidFill>
                  <a:srgbClr val="22D3EE"/>
                </a:solidFill>
                <a:latin typeface="Inter"/>
              </a:rPr>
              <a:t>Scenario</a:t>
            </a:r>
          </a:p>
          <a:p>
            <a:pPr>
              <a:spcBef>
                <a:spcPts val="200"/>
              </a:spcBef>
              <a:buNone/>
            </a:pPr>
            <a:r>
              <a:rPr lang="en-US" sz="1400" i="1" dirty="0">
                <a:solidFill>
                  <a:srgbClr val="CBD5E1"/>
                </a:solidFill>
                <a:latin typeface="Inter"/>
              </a:rPr>
              <a:t>You inherit a Kafka Connect cluster running 3 pipelines. Your job: map each piece of the config to a Connect component.</a:t>
            </a:r>
          </a:p>
          <a:p>
            <a:pPr>
              <a:spcBef>
                <a:spcPts val="600"/>
              </a:spcBef>
              <a:buNone/>
            </a:pPr>
            <a:r>
              <a:rPr lang="en-US" sz="1700" b="1" dirty="0">
                <a:solidFill>
                  <a:srgbClr val="22D3EE"/>
                </a:solidFill>
                <a:latin typeface="Inter"/>
              </a:rPr>
              <a:t>Given snippet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200" dirty="0">
                <a:solidFill>
                  <a:srgbClr val="F4F4F5"/>
                </a:solidFill>
                <a:latin typeface="Consolas"/>
              </a:rPr>
              <a:t>name=mysql-orders   connector.class=JdbcSourceConnector   tasks.max=3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F4F4F5"/>
                </a:solidFill>
                <a:latin typeface="Consolas"/>
              </a:rPr>
              <a:t>value.converter=AvroConverter   transforms=mask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F4F4F5"/>
                </a:solidFill>
                <a:latin typeface="Consolas"/>
              </a:rPr>
              <a:t>transforms.mask.type=MaskField$Value</a:t>
            </a:r>
          </a:p>
          <a:p>
            <a:pPr>
              <a:spcBef>
                <a:spcPts val="600"/>
              </a:spcBef>
              <a:buNone/>
            </a:pPr>
            <a:r>
              <a:rPr lang="en-US" sz="1700" b="1" dirty="0">
                <a:solidFill>
                  <a:srgbClr val="22D3EE"/>
                </a:solidFill>
                <a:latin typeface="Inter"/>
              </a:rPr>
              <a:t>Discuss — match each value to: Connector · Task · Converter · SMT · Worker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solidFill>
                  <a:srgbClr val="F4F4F5"/>
                </a:solidFill>
                <a:latin typeface="Inter"/>
              </a:rPr>
              <a:t>Which line picks the Connector class? Which controls Task parallelism?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solidFill>
                  <a:srgbClr val="F4F4F5"/>
                </a:solidFill>
                <a:latin typeface="Inter"/>
              </a:rPr>
              <a:t>Where does the Converter sit in the data path — before or after Kafka?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solidFill>
                  <a:srgbClr val="F4F4F5"/>
                </a:solidFill>
                <a:latin typeface="Inter"/>
              </a:rPr>
              <a:t>If tasks.max=3 but the source has 1 table, how many Tasks actually run? Why?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solidFill>
                  <a:srgbClr val="F4F4F5"/>
                </a:solidFill>
                <a:latin typeface="Inter"/>
              </a:rPr>
              <a:t>Where would you add a second SMT to drop a column?</a:t>
            </a:r>
          </a:p>
        </p:txBody>
      </p:sp>
    </p:spTree>
    <p:extLst>
      <p:ext uri="{BB962C8B-B14F-4D97-AF65-F5344CB8AC3E}">
        <p14:creationId xmlns:p14="http://schemas.microsoft.com/office/powerpoint/2010/main" val="2165294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Standalone vs Distributed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Standalone mode — single JVM, single worker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Config and offsets stored in local files (no Kafka required for state)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Fast to launch — good for development, demos, and one-off ingest jobs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No HA — if the process dies, the pipeline dies with it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Distributed mode — cluster of workers, rebalance-aware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Config, offsets, and status persisted to internal Kafka topics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Tasks rebalance automatically when workers join, leave, or fail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Managed via REST API on any worker — production-grade default</a:t>
            </a:r>
          </a:p>
        </p:txBody>
      </p:sp>
    </p:spTree>
    <p:extLst>
      <p:ext uri="{BB962C8B-B14F-4D97-AF65-F5344CB8AC3E}">
        <p14:creationId xmlns:p14="http://schemas.microsoft.com/office/powerpoint/2010/main" val="2359093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3DFC-3313-B21B-3784-F8FC82D9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Standalone vs Distributed Mode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13E6E-39BC-4AE9-96A2-7BECDB3957FC}"/>
              </a:ext>
            </a:extLst>
          </p:cNvPr>
          <p:cNvSpPr txBox="1"/>
          <p:nvPr/>
        </p:nvSpPr>
        <p:spPr>
          <a:xfrm>
            <a:off x="508000" y="22225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22D3EE"/>
                </a:solidFill>
              </a:rPr>
              <a:t>STANDALONE MODE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174182-9757-4467-920D-675DBADF2EF6}"/>
              </a:ext>
            </a:extLst>
          </p:cNvPr>
          <p:cNvSpPr/>
          <p:nvPr/>
        </p:nvSpPr>
        <p:spPr>
          <a:xfrm>
            <a:off x="508000" y="2603500"/>
            <a:ext cx="3810000" cy="6350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4F4F5"/>
                </a:solidFill>
              </a:rPr>
              <a:t>Single Worker Process
(one JVM, one config file)</a:t>
            </a:r>
            <a:endParaRPr lang="en-IN" sz="1100" b="1">
              <a:solidFill>
                <a:srgbClr val="F4F4F5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DE087E-2D43-4650-A8F4-B10CEF0A1A04}"/>
              </a:ext>
            </a:extLst>
          </p:cNvPr>
          <p:cNvSpPr/>
          <p:nvPr/>
        </p:nvSpPr>
        <p:spPr>
          <a:xfrm>
            <a:off x="508000" y="3365500"/>
            <a:ext cx="1778000" cy="5715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Connector 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174DA4-48D4-4DB8-87C2-B8FBAF5C23E3}"/>
              </a:ext>
            </a:extLst>
          </p:cNvPr>
          <p:cNvSpPr/>
          <p:nvPr/>
        </p:nvSpPr>
        <p:spPr>
          <a:xfrm>
            <a:off x="2413000" y="3365500"/>
            <a:ext cx="1905000" cy="5715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Connector B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7D8EEE-AFC4-4AAD-9ABA-4BB33DD23383}"/>
              </a:ext>
            </a:extLst>
          </p:cNvPr>
          <p:cNvSpPr/>
          <p:nvPr/>
        </p:nvSpPr>
        <p:spPr>
          <a:xfrm>
            <a:off x="508000" y="4064000"/>
            <a:ext cx="3810000" cy="635000"/>
          </a:xfrm>
          <a:prstGeom prst="roundRect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4F4F5"/>
                </a:solidFill>
              </a:rPr>
              <a:t>Offsets stored in LOCAL FILE
(offset.storage.file.filename)</a:t>
            </a:r>
            <a:endParaRPr lang="en-IN" sz="1000" b="1">
              <a:solidFill>
                <a:srgbClr val="F4F4F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CA43D-A1C7-4D1A-8B68-45FC90117363}"/>
              </a:ext>
            </a:extLst>
          </p:cNvPr>
          <p:cNvSpPr txBox="1"/>
          <p:nvPr/>
        </p:nvSpPr>
        <p:spPr>
          <a:xfrm>
            <a:off x="508000" y="4826000"/>
            <a:ext cx="3810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1100">
                <a:solidFill>
                  <a:srgbClr val="CBD5E1"/>
                </a:solidFill>
              </a:rPr>
              <a:t>✓ Dev / testing
✓ Single-machine pipelines
✗ No HA, no scaling</a:t>
            </a:r>
            <a:endParaRPr lang="en-IN" sz="1100">
              <a:solidFill>
                <a:srgbClr val="CBD5E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4E5A2-B8FC-47B7-A011-93F224443B8A}"/>
              </a:ext>
            </a:extLst>
          </p:cNvPr>
          <p:cNvSpPr txBox="1"/>
          <p:nvPr/>
        </p:nvSpPr>
        <p:spPr>
          <a:xfrm>
            <a:off x="4826000" y="22225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60A5FA"/>
                </a:solidFill>
              </a:rPr>
              <a:t>DISTRIBUTED MODE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229A05-276E-4A92-B0AE-6C3F2F2C90B6}"/>
              </a:ext>
            </a:extLst>
          </p:cNvPr>
          <p:cNvSpPr/>
          <p:nvPr/>
        </p:nvSpPr>
        <p:spPr>
          <a:xfrm>
            <a:off x="4826000" y="2603500"/>
            <a:ext cx="1143000" cy="6350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Worker 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30126A-C03E-4DAB-BBC7-2F785E914D2A}"/>
              </a:ext>
            </a:extLst>
          </p:cNvPr>
          <p:cNvSpPr/>
          <p:nvPr/>
        </p:nvSpPr>
        <p:spPr>
          <a:xfrm>
            <a:off x="6159500" y="2603500"/>
            <a:ext cx="1143000" cy="6350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Worker 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B51B36-39BE-4EE6-9617-C1F526059C47}"/>
              </a:ext>
            </a:extLst>
          </p:cNvPr>
          <p:cNvSpPr/>
          <p:nvPr/>
        </p:nvSpPr>
        <p:spPr>
          <a:xfrm>
            <a:off x="7493000" y="2603500"/>
            <a:ext cx="1143000" cy="6350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Worker 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D9C89A4-AFE9-493E-A738-B12C66EB3C4F}"/>
              </a:ext>
            </a:extLst>
          </p:cNvPr>
          <p:cNvSpPr/>
          <p:nvPr/>
        </p:nvSpPr>
        <p:spPr>
          <a:xfrm>
            <a:off x="4826000" y="3365500"/>
            <a:ext cx="3810000" cy="635000"/>
          </a:xfrm>
          <a:prstGeom prst="roundRect">
            <a:avLst/>
          </a:prstGeom>
          <a:solidFill>
            <a:srgbClr val="A3E63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4F4F5"/>
                </a:solidFill>
              </a:rPr>
              <a:t>Connectors &amp; Tasks rebalanced
across worker cluster</a:t>
            </a:r>
            <a:endParaRPr lang="en-IN" sz="1100" b="1">
              <a:solidFill>
                <a:srgbClr val="F4F4F5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200161-F88E-495C-9904-E37C205BA4F3}"/>
              </a:ext>
            </a:extLst>
          </p:cNvPr>
          <p:cNvSpPr/>
          <p:nvPr/>
        </p:nvSpPr>
        <p:spPr>
          <a:xfrm>
            <a:off x="4826000" y="4064000"/>
            <a:ext cx="3810000" cy="635000"/>
          </a:xfrm>
          <a:prstGeom prst="roundRect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4F4F5"/>
                </a:solidFill>
              </a:rPr>
              <a:t>State in KAFKA TOPICS
(config, offset, status topics)</a:t>
            </a:r>
            <a:endParaRPr lang="en-IN" sz="1000" b="1">
              <a:solidFill>
                <a:srgbClr val="F4F4F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5BC411-3781-422C-9182-3604A5E3DA7A}"/>
              </a:ext>
            </a:extLst>
          </p:cNvPr>
          <p:cNvSpPr txBox="1"/>
          <p:nvPr/>
        </p:nvSpPr>
        <p:spPr>
          <a:xfrm>
            <a:off x="4826000" y="4826000"/>
            <a:ext cx="3810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CBD5E1"/>
                </a:solidFill>
              </a:rPr>
              <a:t>✓ Production deployments
✓ HA + horizontal scaling
✓ Auto rebalancing on failure</a:t>
            </a:r>
            <a:endParaRPr lang="en-IN" sz="1100">
              <a:solidFill>
                <a:srgbClr val="CBD5E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E283C0-7DE7-45D0-96F0-84381DF62739}"/>
              </a:ext>
            </a:extLst>
          </p:cNvPr>
          <p:cNvSpPr/>
          <p:nvPr/>
        </p:nvSpPr>
        <p:spPr>
          <a:xfrm>
            <a:off x="4546600" y="2222500"/>
            <a:ext cx="25400" cy="3302000"/>
          </a:xfrm>
          <a:prstGeom prst="rect">
            <a:avLst/>
          </a:prstGeom>
          <a:solidFill>
            <a:srgbClr val="1F293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945E7D-85E6-40F9-B188-8F0432AF783D}"/>
              </a:ext>
            </a:extLst>
          </p:cNvPr>
          <p:cNvSpPr txBox="1"/>
          <p:nvPr/>
        </p:nvSpPr>
        <p:spPr>
          <a:xfrm>
            <a:off x="508000" y="60960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i="1">
                <a:solidFill>
                  <a:srgbClr val="CBD5E1"/>
                </a:solidFill>
              </a:rPr>
              <a:t>Standalone runs in a single JVM with file-based offsets; Distributed coordinates multiple workers through Kafka topics for HA and scale.</a:t>
            </a:r>
            <a:endParaRPr lang="en-IN" sz="1000" i="1">
              <a:solidFill>
                <a:srgbClr val="CBD5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126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Connectors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Ingest external systems into Kafka topics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Relational DBs (JDBC, Debezium CDC), files, S3, REST APIs, queues, sensors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Offset tracking is the connector's job, not yours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Source offsets stored in Connect's internal topic — survives restarts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Resumes exactly where it left off after worker restart or rebalance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Common patterns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CDC from operational DB → Kafka → downstream microservices and analytics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Log files or API polls → Kafka → enrichment via stream processing</a:t>
            </a:r>
          </a:p>
        </p:txBody>
      </p:sp>
    </p:spTree>
    <p:extLst>
      <p:ext uri="{BB962C8B-B14F-4D97-AF65-F5344CB8AC3E}">
        <p14:creationId xmlns:p14="http://schemas.microsoft.com/office/powerpoint/2010/main" val="1435122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Sink Connectors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Drain Kafka topics into external systems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Databases (JDBC), search (Elasticsearch, OpenSearch), warehouses (BigQuery, Snowflake)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Object storage (S3, GCS, Azure Blob), HDFS, caches (Redis), webhooks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Batching and delivery semantics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Records buffered into write batches for throughput; commit on flush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At-least-once by default; idempotent sinks (e.g., upsert on PK) get effectively-once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Failure handling is configurable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errors.tolerance + dead-letter queue topic to quarantine bad records</a:t>
            </a:r>
          </a:p>
        </p:txBody>
      </p:sp>
    </p:spTree>
    <p:extLst>
      <p:ext uri="{BB962C8B-B14F-4D97-AF65-F5344CB8AC3E}">
        <p14:creationId xmlns:p14="http://schemas.microsoft.com/office/powerpoint/2010/main" val="837315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1646C-DB8E-45F4-3AC4-DDC3F709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vs Sink - Data Flow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BF7B8-3DA4-4771-A668-91C49FAC2413}"/>
              </a:ext>
            </a:extLst>
          </p:cNvPr>
          <p:cNvSpPr txBox="1"/>
          <p:nvPr/>
        </p:nvSpPr>
        <p:spPr>
          <a:xfrm>
            <a:off x="508000" y="2222500"/>
            <a:ext cx="8128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22D3EE"/>
                </a:solidFill>
              </a:rPr>
              <a:t>SOURCE CONNECTOR — pulls data INTO Kafka</a:t>
            </a:r>
            <a:endParaRPr lang="en-IN" sz="1300" b="1">
              <a:solidFill>
                <a:srgbClr val="22D3EE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440D71-075A-42B3-BDF6-6B15E51B47F6}"/>
              </a:ext>
            </a:extLst>
          </p:cNvPr>
          <p:cNvSpPr/>
          <p:nvPr/>
        </p:nvSpPr>
        <p:spPr>
          <a:xfrm>
            <a:off x="508000" y="2603500"/>
            <a:ext cx="1905000" cy="7620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External System
(DB, file, queue)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2A7FFA2-252B-44A3-A59B-D2E9F7074A6E}"/>
              </a:ext>
            </a:extLst>
          </p:cNvPr>
          <p:cNvSpPr/>
          <p:nvPr/>
        </p:nvSpPr>
        <p:spPr>
          <a:xfrm>
            <a:off x="2540000" y="2819400"/>
            <a:ext cx="762000" cy="3302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FAED2A-F4C0-4964-82BB-7758C8C753B5}"/>
              </a:ext>
            </a:extLst>
          </p:cNvPr>
          <p:cNvSpPr/>
          <p:nvPr/>
        </p:nvSpPr>
        <p:spPr>
          <a:xfrm>
            <a:off x="3429000" y="2603500"/>
            <a:ext cx="1905000" cy="7620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Source
Connector + Task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5729436-6324-497A-BB3F-A2C69434F7E5}"/>
              </a:ext>
            </a:extLst>
          </p:cNvPr>
          <p:cNvSpPr/>
          <p:nvPr/>
        </p:nvSpPr>
        <p:spPr>
          <a:xfrm>
            <a:off x="5461000" y="2819400"/>
            <a:ext cx="762000" cy="3302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CC3800-6800-4751-BB3B-8BB81A260000}"/>
              </a:ext>
            </a:extLst>
          </p:cNvPr>
          <p:cNvSpPr/>
          <p:nvPr/>
        </p:nvSpPr>
        <p:spPr>
          <a:xfrm>
            <a:off x="6350000" y="2603500"/>
            <a:ext cx="2286000" cy="762000"/>
          </a:xfrm>
          <a:prstGeom prst="roundRect">
            <a:avLst/>
          </a:prstGeom>
          <a:solidFill>
            <a:srgbClr val="CBD5E1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FFFFF"/>
                </a:solidFill>
              </a:rPr>
              <a:t>Kafka Topic
(records produced)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5F259E-4CF1-48EC-A319-A6117652ABB2}"/>
              </a:ext>
            </a:extLst>
          </p:cNvPr>
          <p:cNvSpPr/>
          <p:nvPr/>
        </p:nvSpPr>
        <p:spPr>
          <a:xfrm>
            <a:off x="508000" y="3683000"/>
            <a:ext cx="8128000" cy="25400"/>
          </a:xfrm>
          <a:prstGeom prst="rect">
            <a:avLst/>
          </a:prstGeom>
          <a:solidFill>
            <a:srgbClr val="1F293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AE6DF5-29C3-48BE-94C5-C2299CF8ADC9}"/>
              </a:ext>
            </a:extLst>
          </p:cNvPr>
          <p:cNvSpPr txBox="1"/>
          <p:nvPr/>
        </p:nvSpPr>
        <p:spPr>
          <a:xfrm>
            <a:off x="508000" y="3873500"/>
            <a:ext cx="8128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60A5FA"/>
                </a:solidFill>
              </a:rPr>
              <a:t>SINK CONNECTOR — pushes data OUT of Kafka</a:t>
            </a:r>
            <a:endParaRPr lang="en-IN" sz="1300" b="1">
              <a:solidFill>
                <a:srgbClr val="60A5FA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516157-49AC-4AEA-B664-48AAB619B8B2}"/>
              </a:ext>
            </a:extLst>
          </p:cNvPr>
          <p:cNvSpPr/>
          <p:nvPr/>
        </p:nvSpPr>
        <p:spPr>
          <a:xfrm>
            <a:off x="508000" y="4254500"/>
            <a:ext cx="2286000" cy="762000"/>
          </a:xfrm>
          <a:prstGeom prst="roundRect">
            <a:avLst/>
          </a:prstGeom>
          <a:solidFill>
            <a:srgbClr val="CBD5E1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FFFFF"/>
                </a:solidFill>
              </a:rPr>
              <a:t>Kafka Topic
(records consumed)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439518E-22B2-4CED-9170-016985C574AC}"/>
              </a:ext>
            </a:extLst>
          </p:cNvPr>
          <p:cNvSpPr/>
          <p:nvPr/>
        </p:nvSpPr>
        <p:spPr>
          <a:xfrm>
            <a:off x="2921000" y="4470400"/>
            <a:ext cx="762000" cy="3302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22A8F40-3688-40C2-B32B-4BBBF500A331}"/>
              </a:ext>
            </a:extLst>
          </p:cNvPr>
          <p:cNvSpPr/>
          <p:nvPr/>
        </p:nvSpPr>
        <p:spPr>
          <a:xfrm>
            <a:off x="3810000" y="4254500"/>
            <a:ext cx="1905000" cy="762000"/>
          </a:xfrm>
          <a:prstGeom prst="roundRect">
            <a:avLst/>
          </a:prstGeom>
          <a:solidFill>
            <a:srgbClr val="A3E63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Sink
Connector + Task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D3F2EEA-ABF5-4081-A905-899DA17487F8}"/>
              </a:ext>
            </a:extLst>
          </p:cNvPr>
          <p:cNvSpPr/>
          <p:nvPr/>
        </p:nvSpPr>
        <p:spPr>
          <a:xfrm>
            <a:off x="5842000" y="4470400"/>
            <a:ext cx="762000" cy="3302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16BC18E-B9C1-4ED5-8268-3CF26A82F755}"/>
              </a:ext>
            </a:extLst>
          </p:cNvPr>
          <p:cNvSpPr/>
          <p:nvPr/>
        </p:nvSpPr>
        <p:spPr>
          <a:xfrm>
            <a:off x="6731000" y="4254500"/>
            <a:ext cx="1905000" cy="7620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Target System
(DB, ES, S3, etc.)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5D1686-C187-4BDC-930E-A63C7FB80E79}"/>
              </a:ext>
            </a:extLst>
          </p:cNvPr>
          <p:cNvSpPr txBox="1"/>
          <p:nvPr/>
        </p:nvSpPr>
        <p:spPr>
          <a:xfrm>
            <a:off x="508000" y="5207000"/>
            <a:ext cx="812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CBD5E1"/>
                </a:solidFill>
              </a:rPr>
              <a:t>Both directions share the same framework: connectors define configs, tasks do the work,
workers run tasks, and converters serialize the payload (Avro / JSON / Protobuf).</a:t>
            </a:r>
            <a:endParaRPr lang="en-IN" sz="1100">
              <a:solidFill>
                <a:srgbClr val="CBD5E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000ECB-D4C9-42D4-A647-512E1108ACC9}"/>
              </a:ext>
            </a:extLst>
          </p:cNvPr>
          <p:cNvSpPr txBox="1"/>
          <p:nvPr/>
        </p:nvSpPr>
        <p:spPr>
          <a:xfrm>
            <a:off x="508000" y="60960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i="1">
                <a:solidFill>
                  <a:srgbClr val="CBD5E1"/>
                </a:solidFill>
              </a:rPr>
              <a:t>Source = ingest into Kafka. Sink = export from Kafka. Same architecture, opposite direction.</a:t>
            </a:r>
            <a:endParaRPr lang="en-IN" sz="1000" i="1">
              <a:solidFill>
                <a:srgbClr val="CBD5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126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JDBC Source Connector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Polls tables and publishes rows as Kafka records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Works with PostgreSQL, MySQL, Oracle, SQL Server, DB2 — any JDBC driver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Four ingest modes — pick by what your schema supports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bulk — full table snapshot every poll (small reference tables)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incrementing — monotonically increasing ID column (inserts only)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timestamp — updated_at column (catches updates but needs reliable timestamps)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timestamp+incrementing — most robust; survives clock skew within a second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Limitation: poll-based — cannot capture DELETEs (use Debezium for that)</a:t>
            </a:r>
          </a:p>
        </p:txBody>
      </p:sp>
    </p:spTree>
    <p:extLst>
      <p:ext uri="{BB962C8B-B14F-4D97-AF65-F5344CB8AC3E}">
        <p14:creationId xmlns:p14="http://schemas.microsoft.com/office/powerpoint/2010/main" val="386401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JDBC Source Connector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1. Configure the source table and mode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table.whitelist or query, mode (incrementing/timestamp), incrementing.column.name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2. Connector polls on a fixed interval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poll.interval.ms (default 5s) drives a SELECT WHERE col &gt; last_committed_value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3. Each row becomes a SinkRecord with schema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Column names/types inferred from JDBC metadata → Connect Schema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4. Converter writes to Kafka topic + offset commit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Topic name = topic.prefix + table; offsets persisted so next poll resumes correctly</a:t>
            </a:r>
          </a:p>
        </p:txBody>
      </p:sp>
    </p:spTree>
    <p:extLst>
      <p:ext uri="{BB962C8B-B14F-4D97-AF65-F5344CB8AC3E}">
        <p14:creationId xmlns:p14="http://schemas.microsoft.com/office/powerpoint/2010/main" val="4100551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Lab</a:t>
            </a:r>
            <a:r>
              <a:rPr lang="en-US" dirty="0"/>
              <a:t>-</a:t>
            </a:r>
            <a:r>
              <a:rPr dirty="0"/>
              <a:t>Configure PostgreSQL Source Connector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Goal — stream new rows from PostgreSQL into a Kafka topic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Steps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Drop PostgreSQL JDBC driver into the Connect plugin.path directory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Start a Connect worker (distributed mode against your cluster)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POST the JDBC Source connector config to /connectors (see next slide)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Set mode=incrementing with incrementing.column.name=id for new-rows-only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Verify topic was created and INSERTs land on it via kafka-console-consumer</a:t>
            </a:r>
          </a:p>
        </p:txBody>
      </p:sp>
    </p:spTree>
    <p:extLst>
      <p:ext uri="{BB962C8B-B14F-4D97-AF65-F5344CB8AC3E}">
        <p14:creationId xmlns:p14="http://schemas.microsoft.com/office/powerpoint/2010/main" val="1357234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Sample PostgreSQL Connector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300" dirty="0">
                <a:latin typeface="Consolas"/>
              </a:rPr>
              <a:t>connector.class=io.confluent.connect.jdbc.JdbcSourceConnector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connection.url=jdbc:postgresql://localhost:5432/ordersdb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connection.user=postgres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connection.password=${file:/etc/secrets:pg.password}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table.whitelist=orders,customers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mode=incrementing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incrementing.column.name=id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poll.interval.ms=5000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topic.prefix=postgres-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tasks.max=2</a:t>
            </a:r>
          </a:p>
          <a:p>
            <a:pPr>
              <a:spcBef>
                <a:spcPts val="600"/>
              </a:spcBef>
              <a:buNone/>
            </a:pPr>
            <a:r>
              <a:rPr lang="en-US" sz="1300" i="1" dirty="0">
                <a:solidFill>
                  <a:srgbClr val="335B74"/>
                </a:solidFill>
              </a:rPr>
              <a:t>Secrets externalized via ConfigProvider. topic.prefix + table name → final topic (e.g. postgres-orders).</a:t>
            </a:r>
          </a:p>
        </p:txBody>
      </p:sp>
    </p:spTree>
    <p:extLst>
      <p:ext uri="{BB962C8B-B14F-4D97-AF65-F5344CB8AC3E}">
        <p14:creationId xmlns:p14="http://schemas.microsoft.com/office/powerpoint/2010/main" val="24200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JDBC Sink Connector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Writes Kafka records into any JDBC database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Target table inferred from topic name (table.name.format = ${topic})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Insert modes — pick by your downstream contract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insert — append only; insert.mode = upsert — INSERT…ON CONFLICT UPDATE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update — UPDATE existing rows only (no inserts)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Schema evolution and DDL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auto.create + auto.evolve add tables and columns as the schema changes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pk.mode (record_key/record_value) + pk.fields control upsert key resolution</a:t>
            </a:r>
          </a:p>
        </p:txBody>
      </p:sp>
    </p:spTree>
    <p:extLst>
      <p:ext uri="{BB962C8B-B14F-4D97-AF65-F5344CB8AC3E}">
        <p14:creationId xmlns:p14="http://schemas.microsoft.com/office/powerpoint/2010/main" val="1328281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4BA28-4DDF-4D2A-3006-AA2C6285C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/>
              <a:t>Lab - Design a JDBC Sink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2B2E2-C850-576F-F4AC-3DF67098C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700" b="1" dirty="0">
                <a:solidFill>
                  <a:srgbClr val="22D3EE"/>
                </a:solidFill>
              </a:rPr>
              <a:t>Scenario</a:t>
            </a:r>
          </a:p>
          <a:p>
            <a:pPr>
              <a:buNone/>
            </a:pPr>
            <a:r>
              <a:rPr lang="en-US" sz="1400" i="1" dirty="0">
                <a:solidFill>
                  <a:srgbClr val="CBD5E1"/>
                </a:solidFill>
              </a:rPr>
              <a:t>Your team needs to stream orders from a Kafka topic into a Postgres analytics table. Design the connector config.</a:t>
            </a:r>
          </a:p>
          <a:p>
            <a:pPr>
              <a:buNone/>
            </a:pPr>
            <a:r>
              <a:rPr lang="en-US" sz="1500" b="1" dirty="0">
                <a:solidFill>
                  <a:srgbClr val="22D3EE"/>
                </a:solidFill>
              </a:rPr>
              <a:t>Starter config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name=orders-sink     connector.class=io.confluent.connect.jdbc.JdbcSinkConnector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topics=orders        connection.url=jdbc:postgresql://db:5432/analytics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insert.mode=upsert   pk.mode=record_key      auto.create=true</a:t>
            </a:r>
          </a:p>
          <a:p>
            <a:pPr>
              <a:buNone/>
            </a:pPr>
            <a:r>
              <a:rPr lang="en-US" sz="1500" b="1" dirty="0">
                <a:solidFill>
                  <a:srgbClr val="22D3EE"/>
                </a:solidFill>
              </a:rPr>
              <a:t>Discuss</a:t>
            </a:r>
          </a:p>
          <a:p>
            <a:pPr marL="285750" indent="-285750">
              <a:buFont typeface="Arial"/>
              <a:buChar char="•"/>
            </a:pPr>
            <a:r>
              <a:rPr lang="en-US" sz="1300" dirty="0"/>
              <a:t>What pk.fields should you set, and why does insert.mode=upsert require it?</a:t>
            </a:r>
          </a:p>
          <a:p>
            <a:pPr marL="285750" indent="-285750">
              <a:buFont typeface="Arial"/>
              <a:buChar char="•"/>
            </a:pPr>
            <a:r>
              <a:rPr lang="en-US" sz="1300" dirty="0"/>
              <a:t>How would you handle a schema change in the source topic (new column added)?</a:t>
            </a:r>
          </a:p>
          <a:p>
            <a:pPr marL="285750" indent="-285750">
              <a:buFont typeface="Arial"/>
              <a:buChar char="•"/>
            </a:pPr>
            <a:r>
              <a:rPr lang="en-US" sz="1300" dirty="0"/>
              <a:t>What tasks.max value fits a topic with 6 partitions? Why not 12?</a:t>
            </a:r>
          </a:p>
          <a:p>
            <a:pPr marL="285750" indent="-285750">
              <a:buFont typeface="Arial"/>
              <a:buChar char="•"/>
            </a:pPr>
            <a:r>
              <a:rPr lang="en-US" sz="1300" dirty="0"/>
              <a:t>Which errors belong in the DLQ vs. which should fail the connector outright?</a:t>
            </a:r>
          </a:p>
        </p:txBody>
      </p:sp>
    </p:spTree>
    <p:extLst>
      <p:ext uri="{BB962C8B-B14F-4D97-AF65-F5344CB8AC3E}">
        <p14:creationId xmlns:p14="http://schemas.microsoft.com/office/powerpoint/2010/main" val="513312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Elasticsearch Connector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Indexes Kafka data into Elasticsearch</a:t>
            </a:r>
          </a:p>
          <a:p>
            <a:pPr>
              <a:defRPr sz="2000"/>
            </a:pPr>
            <a:r>
              <a:t>Supports real-time search analytics</a:t>
            </a:r>
          </a:p>
          <a:p>
            <a:pPr>
              <a:defRPr sz="2000"/>
            </a:pPr>
            <a:r>
              <a:t>Creates searchable documents</a:t>
            </a:r>
          </a:p>
          <a:p>
            <a:pPr>
              <a:defRPr sz="2000"/>
            </a:pPr>
            <a:r>
              <a:t>Useful for log analytics</a:t>
            </a:r>
          </a:p>
          <a:p>
            <a:pPr>
              <a:defRPr sz="2000"/>
            </a:pPr>
            <a:r>
              <a:t>Enables Kibana dashboards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Elasticsearch Connector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Kafka topic as input</a:t>
            </a:r>
          </a:p>
          <a:p>
            <a:pPr>
              <a:defRPr sz="2000"/>
            </a:pPr>
            <a:r>
              <a:t>Connector consumes records</a:t>
            </a:r>
          </a:p>
          <a:p>
            <a:pPr>
              <a:defRPr sz="2000"/>
            </a:pPr>
            <a:r>
              <a:t>Transforms messages into documents</a:t>
            </a:r>
          </a:p>
          <a:p>
            <a:pPr>
              <a:defRPr sz="2000"/>
            </a:pPr>
            <a:r>
              <a:t>Indexes into Elasticsearch</a:t>
            </a:r>
          </a:p>
          <a:p>
            <a:pPr>
              <a:defRPr sz="2000"/>
            </a:pPr>
            <a:r>
              <a:t>Visualize using Kibana dashboards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1CC95-EBED-9BA0-B058-910F7A5A2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JDBC → Kafka → Elasticsearch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EBF737-6567-4C40-8768-707E413368F6}"/>
              </a:ext>
            </a:extLst>
          </p:cNvPr>
          <p:cNvSpPr txBox="1"/>
          <p:nvPr/>
        </p:nvSpPr>
        <p:spPr>
          <a:xfrm>
            <a:off x="508000" y="2222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22D3EE"/>
                </a:solidFill>
              </a:rPr>
              <a:t>SOURCE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6C231-B736-4150-AEFB-5E605EB4880D}"/>
              </a:ext>
            </a:extLst>
          </p:cNvPr>
          <p:cNvSpPr txBox="1"/>
          <p:nvPr/>
        </p:nvSpPr>
        <p:spPr>
          <a:xfrm>
            <a:off x="2476500" y="2222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22D3EE"/>
                </a:solidFill>
              </a:rPr>
              <a:t>INGEST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8C69E5-1B27-41EA-8F76-8AF3DCBCD3AD}"/>
              </a:ext>
            </a:extLst>
          </p:cNvPr>
          <p:cNvSpPr txBox="1"/>
          <p:nvPr/>
        </p:nvSpPr>
        <p:spPr>
          <a:xfrm>
            <a:off x="4445000" y="2222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CBD5E1"/>
                </a:solidFill>
              </a:rPr>
              <a:t>STREAM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BD934-7A39-4967-822D-EDF5D7B67684}"/>
              </a:ext>
            </a:extLst>
          </p:cNvPr>
          <p:cNvSpPr txBox="1"/>
          <p:nvPr/>
        </p:nvSpPr>
        <p:spPr>
          <a:xfrm>
            <a:off x="6413500" y="2222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A3E635"/>
                </a:solidFill>
              </a:rPr>
              <a:t>EXPORT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427D67-437B-49DB-BC8B-81AA3DB67E43}"/>
              </a:ext>
            </a:extLst>
          </p:cNvPr>
          <p:cNvSpPr/>
          <p:nvPr/>
        </p:nvSpPr>
        <p:spPr>
          <a:xfrm>
            <a:off x="508000" y="2540000"/>
            <a:ext cx="1651000" cy="9525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4F4F5"/>
                </a:solidFill>
              </a:rPr>
              <a:t>PostgreSQL
/ MySQL
(rows in table)</a:t>
            </a:r>
            <a:endParaRPr lang="en-IN" sz="1100" b="1">
              <a:solidFill>
                <a:srgbClr val="F4F4F5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A62F268-884C-4032-AA9C-2F9BCA54EE0D}"/>
              </a:ext>
            </a:extLst>
          </p:cNvPr>
          <p:cNvSpPr/>
          <p:nvPr/>
        </p:nvSpPr>
        <p:spPr>
          <a:xfrm>
            <a:off x="2286000" y="2857500"/>
            <a:ext cx="254000" cy="3175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E63953-8DD1-4356-966C-7B31C8AF2A27}"/>
              </a:ext>
            </a:extLst>
          </p:cNvPr>
          <p:cNvSpPr/>
          <p:nvPr/>
        </p:nvSpPr>
        <p:spPr>
          <a:xfrm>
            <a:off x="2603500" y="2540000"/>
            <a:ext cx="1651000" cy="9525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4F4F5"/>
                </a:solidFill>
              </a:rPr>
              <a:t>JDBC Source
Connector
poll-based reads</a:t>
            </a:r>
            <a:endParaRPr lang="en-IN" sz="1000" b="1">
              <a:solidFill>
                <a:srgbClr val="F4F4F5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3E56C63-87F1-4AC5-B8B9-02444519E735}"/>
              </a:ext>
            </a:extLst>
          </p:cNvPr>
          <p:cNvSpPr/>
          <p:nvPr/>
        </p:nvSpPr>
        <p:spPr>
          <a:xfrm>
            <a:off x="4381500" y="2857500"/>
            <a:ext cx="254000" cy="3175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5ED0B0-FD25-42B7-BBD8-A0EDAD01D9CA}"/>
              </a:ext>
            </a:extLst>
          </p:cNvPr>
          <p:cNvSpPr/>
          <p:nvPr/>
        </p:nvSpPr>
        <p:spPr>
          <a:xfrm>
            <a:off x="4699000" y="2540000"/>
            <a:ext cx="1651000" cy="952500"/>
          </a:xfrm>
          <a:prstGeom prst="roundRect">
            <a:avLst/>
          </a:prstGeom>
          <a:solidFill>
            <a:srgbClr val="CBD5E1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FFFFF"/>
                </a:solidFill>
              </a:rPr>
              <a:t>Kafka Topic
e.g. 'pg.orders'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6A611CE-A8B8-4E9B-93D2-BF7DDF4E0A6E}"/>
              </a:ext>
            </a:extLst>
          </p:cNvPr>
          <p:cNvSpPr/>
          <p:nvPr/>
        </p:nvSpPr>
        <p:spPr>
          <a:xfrm>
            <a:off x="6477000" y="2857500"/>
            <a:ext cx="254000" cy="3175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BCE27D2-4755-4F03-B5D4-18CBB3195E89}"/>
              </a:ext>
            </a:extLst>
          </p:cNvPr>
          <p:cNvSpPr/>
          <p:nvPr/>
        </p:nvSpPr>
        <p:spPr>
          <a:xfrm>
            <a:off x="6794500" y="2540000"/>
            <a:ext cx="1651000" cy="952500"/>
          </a:xfrm>
          <a:prstGeom prst="roundRect">
            <a:avLst/>
          </a:prstGeom>
          <a:solidFill>
            <a:srgbClr val="A3E63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4F4F5"/>
                </a:solidFill>
              </a:rPr>
              <a:t>ES Sink
Connector
bulk indexing</a:t>
            </a:r>
            <a:endParaRPr lang="en-IN" sz="1100" b="1">
              <a:solidFill>
                <a:srgbClr val="F4F4F5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0309C8-D120-4A4F-B04D-80DE76A8F03E}"/>
              </a:ext>
            </a:extLst>
          </p:cNvPr>
          <p:cNvSpPr/>
          <p:nvPr/>
        </p:nvSpPr>
        <p:spPr>
          <a:xfrm>
            <a:off x="6794500" y="3873500"/>
            <a:ext cx="1651000" cy="7620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Elasticsearch Index
(documents searchable)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71AFCDF-A1F4-42FA-B18F-28F52A834C6E}"/>
              </a:ext>
            </a:extLst>
          </p:cNvPr>
          <p:cNvSpPr/>
          <p:nvPr/>
        </p:nvSpPr>
        <p:spPr>
          <a:xfrm>
            <a:off x="508000" y="4889500"/>
            <a:ext cx="2540000" cy="889000"/>
          </a:xfrm>
          <a:prstGeom prst="roundRect">
            <a:avLst/>
          </a:prstGeom>
          <a:solidFill>
            <a:srgbClr val="1F293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JDBC Source key configs:
connection.url, mode=timestamp,
table.whitelist, poll.interval.ms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EADED4-1707-4D9C-A1BB-51E8155EA20A}"/>
              </a:ext>
            </a:extLst>
          </p:cNvPr>
          <p:cNvSpPr/>
          <p:nvPr/>
        </p:nvSpPr>
        <p:spPr>
          <a:xfrm>
            <a:off x="3302000" y="4889500"/>
            <a:ext cx="2540000" cy="889000"/>
          </a:xfrm>
          <a:prstGeom prst="roundRect">
            <a:avLst/>
          </a:prstGeom>
          <a:solidFill>
            <a:srgbClr val="1F293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4F4F5"/>
                </a:solidFill>
              </a:rPr>
              <a:t>Converter layer:
key/value.converter
(JSON or Avro+Schema Registry)</a:t>
            </a:r>
            <a:endParaRPr lang="en-IN" sz="1000" b="1">
              <a:solidFill>
                <a:srgbClr val="F4F4F5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F33642-0191-4CFB-AE3E-63DC564641A7}"/>
              </a:ext>
            </a:extLst>
          </p:cNvPr>
          <p:cNvSpPr/>
          <p:nvPr/>
        </p:nvSpPr>
        <p:spPr>
          <a:xfrm>
            <a:off x="6096000" y="4889500"/>
            <a:ext cx="2540000" cy="889000"/>
          </a:xfrm>
          <a:prstGeom prst="roundRect">
            <a:avLst/>
          </a:prstGeom>
          <a:solidFill>
            <a:srgbClr val="1F293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4F4F5"/>
                </a:solidFill>
              </a:rPr>
              <a:t>ES Sink key configs:
connection.url, type.name,
key.ignore, schema.ignore</a:t>
            </a:r>
            <a:endParaRPr lang="en-IN" sz="1000" b="1">
              <a:solidFill>
                <a:srgbClr val="F4F4F5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4126A1-C943-4DC9-A2C1-E2DB436FD390}"/>
              </a:ext>
            </a:extLst>
          </p:cNvPr>
          <p:cNvSpPr txBox="1"/>
          <p:nvPr/>
        </p:nvSpPr>
        <p:spPr>
          <a:xfrm>
            <a:off x="508000" y="60960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i="1">
                <a:solidFill>
                  <a:srgbClr val="CBD5E1"/>
                </a:solidFill>
              </a:rPr>
              <a:t>End-to-end CDC-style pipeline: relational rows become Kafka events, then become searchable ES documents.</a:t>
            </a:r>
            <a:endParaRPr lang="en-IN" sz="1000" i="1">
              <a:solidFill>
                <a:srgbClr val="CBD5E1"/>
              </a:solidFill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A7F3199B-4687-4694-8208-D33CECCCBD77}"/>
              </a:ext>
            </a:extLst>
          </p:cNvPr>
          <p:cNvSpPr/>
          <p:nvPr/>
        </p:nvSpPr>
        <p:spPr>
          <a:xfrm>
            <a:off x="7493000" y="3530600"/>
            <a:ext cx="254000" cy="317500"/>
          </a:xfrm>
          <a:prstGeom prst="down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003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Lab 3 - Push Kafka Data to Elasticsearch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Install Elasticsearch connector</a:t>
            </a:r>
          </a:p>
          <a:p>
            <a:pPr>
              <a:defRPr sz="2000"/>
            </a:pPr>
            <a:r>
              <a:t>Configure sink connector</a:t>
            </a:r>
          </a:p>
          <a:p>
            <a:pPr>
              <a:defRPr sz="2000"/>
            </a:pPr>
            <a:r>
              <a:t>Consume Kafka topic data</a:t>
            </a:r>
          </a:p>
          <a:p>
            <a:pPr>
              <a:defRPr sz="2000"/>
            </a:pPr>
            <a:r>
              <a:t>Index records into Elasticsearch</a:t>
            </a:r>
          </a:p>
          <a:p>
            <a:pPr>
              <a:defRPr sz="2000"/>
            </a:pPr>
            <a:r>
              <a:t>Visualize data using Kibana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Sample Elasticsearch Connector 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connector.class=ElasticsearchSinkConnector</a:t>
            </a:r>
          </a:p>
          <a:p>
            <a:pPr>
              <a:defRPr sz="2000"/>
            </a:pPr>
            <a:r>
              <a:t>topics=orders-topic</a:t>
            </a:r>
          </a:p>
          <a:p>
            <a:pPr>
              <a:defRPr sz="2000"/>
            </a:pPr>
            <a:r>
              <a:t>connection.url=http://localhost:9200</a:t>
            </a:r>
          </a:p>
          <a:p>
            <a:pPr>
              <a:defRPr sz="2000"/>
            </a:pPr>
            <a:r>
              <a:t>key.ignore=true</a:t>
            </a:r>
          </a:p>
          <a:p>
            <a:pPr>
              <a:defRPr sz="2000"/>
            </a:pPr>
            <a:r>
              <a:t>schema.ignore=false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REST 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HTTP gateway for Kafka — produce and consume over REST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Bridges non-JVM clients (PHP, Ruby, browser, mobile) to brokers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Stateless tier — scale horizontally behind a load balancer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Payload formats — JSON, JSON Schema, Avro, Protobuf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Integrates with Schema Registry for versioned schemas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When to choose REST Proxy over native clients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Quick prototyping, legacy systems, or "Kafka-as-a-Service" boundaries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Trade-off: extra hop and HTTP overhead — slower than native producers</a:t>
            </a:r>
          </a:p>
        </p:txBody>
      </p:sp>
    </p:spTree>
    <p:extLst>
      <p:ext uri="{BB962C8B-B14F-4D97-AF65-F5344CB8AC3E}">
        <p14:creationId xmlns:p14="http://schemas.microsoft.com/office/powerpoint/2010/main" val="2268414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Proxy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Produce — POST /topics/{topic}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Send single or batched records with key, value, and optional partition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Content-Type negotiates the wire format (JSON, Avro, Protobuf)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Consume — stateful consumer instances over HTTP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POST to create a consumer instance → subscribe → poll → commit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Group coordination handled server-side — clients stay thin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Metadata and admin endpoints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List topics, partitions, consumer groups, broker info</a:t>
            </a:r>
          </a:p>
        </p:txBody>
      </p:sp>
    </p:spTree>
    <p:extLst>
      <p:ext uri="{BB962C8B-B14F-4D97-AF65-F5344CB8AC3E}">
        <p14:creationId xmlns:p14="http://schemas.microsoft.com/office/powerpoint/2010/main" val="2123038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Integration with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Microservices — event-driven boundaries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Services publish domain events instead of synchronous RPC chains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Decouples producers and consumers — independent deploys and scaling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Bridging external APIs and webhooks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Inbound: convert webhook payloads to Kafka records via REST Proxy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Outbound: HTTP Sink Connector calls third-party APIs from a topic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Real-time streaming patterns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CQRS read models, audit logs, fan-out notifications, materialized views</a:t>
            </a:r>
          </a:p>
        </p:txBody>
      </p:sp>
    </p:spTree>
    <p:extLst>
      <p:ext uri="{BB962C8B-B14F-4D97-AF65-F5344CB8AC3E}">
        <p14:creationId xmlns:p14="http://schemas.microsoft.com/office/powerpoint/2010/main" val="2790574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2959-35FB-338D-719A-BB356BB65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Proxy - API Integration Topology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CBDCB1-7199-4FE2-8F79-E3C1BE7BCF87}"/>
              </a:ext>
            </a:extLst>
          </p:cNvPr>
          <p:cNvSpPr txBox="1"/>
          <p:nvPr/>
        </p:nvSpPr>
        <p:spPr>
          <a:xfrm>
            <a:off x="508000" y="2222500"/>
            <a:ext cx="2032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22D3EE"/>
                </a:solidFill>
              </a:rPr>
              <a:t>NON-JAVA CLIENTS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8A15E9-3393-45BA-8C38-340009151BAF}"/>
              </a:ext>
            </a:extLst>
          </p:cNvPr>
          <p:cNvSpPr/>
          <p:nvPr/>
        </p:nvSpPr>
        <p:spPr>
          <a:xfrm>
            <a:off x="508000" y="2540000"/>
            <a:ext cx="2032000" cy="5080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Python app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362D81-C4AD-4271-9AC6-CD2E202CF008}"/>
              </a:ext>
            </a:extLst>
          </p:cNvPr>
          <p:cNvSpPr/>
          <p:nvPr/>
        </p:nvSpPr>
        <p:spPr>
          <a:xfrm>
            <a:off x="508000" y="3111500"/>
            <a:ext cx="2032000" cy="5080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Node.js / JS app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F258AB-F6DE-4400-876B-0E86BB992D31}"/>
              </a:ext>
            </a:extLst>
          </p:cNvPr>
          <p:cNvSpPr/>
          <p:nvPr/>
        </p:nvSpPr>
        <p:spPr>
          <a:xfrm>
            <a:off x="508000" y="3683000"/>
            <a:ext cx="2032000" cy="508000"/>
          </a:xfrm>
          <a:prstGeom prst="roundRect">
            <a:avLst/>
          </a:prstGeom>
          <a:solidFill>
            <a:srgbClr val="A3E63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Mobile app / cURL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B96063-87D7-4C57-AF2E-AFE86AB748F0}"/>
              </a:ext>
            </a:extLst>
          </p:cNvPr>
          <p:cNvSpPr/>
          <p:nvPr/>
        </p:nvSpPr>
        <p:spPr>
          <a:xfrm>
            <a:off x="508000" y="4254500"/>
            <a:ext cx="2032000" cy="5080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Webhook / 3rd-party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BE316B2-AAC8-4C57-90E6-6C3C3EA566C5}"/>
              </a:ext>
            </a:extLst>
          </p:cNvPr>
          <p:cNvSpPr/>
          <p:nvPr/>
        </p:nvSpPr>
        <p:spPr>
          <a:xfrm>
            <a:off x="2603500" y="3429000"/>
            <a:ext cx="635000" cy="2794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FA7A57-284D-41CB-9ED6-FEBD7D8B1114}"/>
              </a:ext>
            </a:extLst>
          </p:cNvPr>
          <p:cNvSpPr txBox="1"/>
          <p:nvPr/>
        </p:nvSpPr>
        <p:spPr>
          <a:xfrm>
            <a:off x="2540000" y="3111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900" i="1">
                <a:solidFill>
                  <a:srgbClr val="CBD5E1"/>
                </a:solidFill>
              </a:rPr>
              <a:t>HTTP/JSON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595FCC-61F1-4BA4-85B0-70DABE52B16F}"/>
              </a:ext>
            </a:extLst>
          </p:cNvPr>
          <p:cNvSpPr/>
          <p:nvPr/>
        </p:nvSpPr>
        <p:spPr>
          <a:xfrm>
            <a:off x="3365500" y="2730500"/>
            <a:ext cx="2222500" cy="2794000"/>
          </a:xfrm>
          <a:prstGeom prst="roundRect">
            <a:avLst/>
          </a:prstGeom>
          <a:solidFill>
            <a:srgbClr val="1F293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F8DAEB-D644-46B8-AC7B-544DF3E14268}"/>
              </a:ext>
            </a:extLst>
          </p:cNvPr>
          <p:cNvSpPr txBox="1"/>
          <p:nvPr/>
        </p:nvSpPr>
        <p:spPr>
          <a:xfrm>
            <a:off x="3365500" y="2794000"/>
            <a:ext cx="22225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KAFKA REST PROXY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8C45F9-E553-4185-AD28-DFE0F88751B4}"/>
              </a:ext>
            </a:extLst>
          </p:cNvPr>
          <p:cNvSpPr/>
          <p:nvPr/>
        </p:nvSpPr>
        <p:spPr>
          <a:xfrm>
            <a:off x="3556000" y="3175000"/>
            <a:ext cx="1841500" cy="4445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POST /topics/{t}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99093D1-20F2-44E0-8403-70CD3AF6F7DD}"/>
              </a:ext>
            </a:extLst>
          </p:cNvPr>
          <p:cNvSpPr/>
          <p:nvPr/>
        </p:nvSpPr>
        <p:spPr>
          <a:xfrm>
            <a:off x="3556000" y="3683000"/>
            <a:ext cx="1841500" cy="4445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GET /topics/{t}/...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73E615D-91FE-4B01-A4B9-734B80C54C74}"/>
              </a:ext>
            </a:extLst>
          </p:cNvPr>
          <p:cNvSpPr/>
          <p:nvPr/>
        </p:nvSpPr>
        <p:spPr>
          <a:xfrm>
            <a:off x="3556000" y="4191000"/>
            <a:ext cx="1841500" cy="444500"/>
          </a:xfrm>
          <a:prstGeom prst="roundRect">
            <a:avLst/>
          </a:prstGeom>
          <a:solidFill>
            <a:srgbClr val="A3E63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GET /consumers/...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4716123-F23B-4B4C-82EE-DA5E4EFE47A1}"/>
              </a:ext>
            </a:extLst>
          </p:cNvPr>
          <p:cNvSpPr/>
          <p:nvPr/>
        </p:nvSpPr>
        <p:spPr>
          <a:xfrm>
            <a:off x="3556000" y="4699000"/>
            <a:ext cx="1841500" cy="444500"/>
          </a:xfrm>
          <a:prstGeom prst="roundRect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Auth + Schema Reg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AF9A65A-ACB8-4A3D-BE2F-9D6FFFB1A2AB}"/>
              </a:ext>
            </a:extLst>
          </p:cNvPr>
          <p:cNvSpPr/>
          <p:nvPr/>
        </p:nvSpPr>
        <p:spPr>
          <a:xfrm>
            <a:off x="5651500" y="3429000"/>
            <a:ext cx="635000" cy="2794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94927E-6BCB-427B-9A85-D3F398BA94B5}"/>
              </a:ext>
            </a:extLst>
          </p:cNvPr>
          <p:cNvSpPr txBox="1"/>
          <p:nvPr/>
        </p:nvSpPr>
        <p:spPr>
          <a:xfrm>
            <a:off x="5588000" y="3111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900" i="1">
                <a:solidFill>
                  <a:srgbClr val="CBD5E1"/>
                </a:solidFill>
              </a:rPr>
              <a:t>Kafka proto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6D4869-C78C-41E5-8A36-195942815107}"/>
              </a:ext>
            </a:extLst>
          </p:cNvPr>
          <p:cNvSpPr txBox="1"/>
          <p:nvPr/>
        </p:nvSpPr>
        <p:spPr>
          <a:xfrm>
            <a:off x="6350000" y="22225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60A5FA"/>
                </a:solidFill>
              </a:rPr>
              <a:t>KAFKA CLUSTER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E7BF8FD-C6DC-44B4-9582-943A31E191F8}"/>
              </a:ext>
            </a:extLst>
          </p:cNvPr>
          <p:cNvSpPr/>
          <p:nvPr/>
        </p:nvSpPr>
        <p:spPr>
          <a:xfrm>
            <a:off x="6350000" y="2540000"/>
            <a:ext cx="2286000" cy="6350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Broker 1
+ Topics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F79DD98-983E-4C39-94B3-0CA8CA15D4D3}"/>
              </a:ext>
            </a:extLst>
          </p:cNvPr>
          <p:cNvSpPr/>
          <p:nvPr/>
        </p:nvSpPr>
        <p:spPr>
          <a:xfrm>
            <a:off x="6350000" y="3238500"/>
            <a:ext cx="2286000" cy="6350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Broker 2
+ Topics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6A69EC1-1889-414C-A2C6-1C3E4D747CC6}"/>
              </a:ext>
            </a:extLst>
          </p:cNvPr>
          <p:cNvSpPr/>
          <p:nvPr/>
        </p:nvSpPr>
        <p:spPr>
          <a:xfrm>
            <a:off x="6350000" y="3937000"/>
            <a:ext cx="2286000" cy="6350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Broker 3
+ Topics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821E6B2-426E-4A01-87A5-ED357BC30A5D}"/>
              </a:ext>
            </a:extLst>
          </p:cNvPr>
          <p:cNvSpPr/>
          <p:nvPr/>
        </p:nvSpPr>
        <p:spPr>
          <a:xfrm>
            <a:off x="6350000" y="4635500"/>
            <a:ext cx="2286000" cy="635000"/>
          </a:xfrm>
          <a:prstGeom prst="roundRect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Schema Registry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7AFBCA-D5FC-4C00-9436-75828E8C65CE}"/>
              </a:ext>
            </a:extLst>
          </p:cNvPr>
          <p:cNvSpPr txBox="1"/>
          <p:nvPr/>
        </p:nvSpPr>
        <p:spPr>
          <a:xfrm>
            <a:off x="508000" y="54864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CBD5E1"/>
                </a:solidFill>
              </a:rPr>
              <a:t>Why it matters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B13B06-FF23-4612-8EA7-C591F88F1830}"/>
              </a:ext>
            </a:extLst>
          </p:cNvPr>
          <p:cNvSpPr txBox="1"/>
          <p:nvPr/>
        </p:nvSpPr>
        <p:spPr>
          <a:xfrm>
            <a:off x="508000" y="5740400"/>
            <a:ext cx="8128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i="1">
                <a:solidFill>
                  <a:srgbClr val="CBD5E1"/>
                </a:solidFill>
              </a:rPr>
              <a:t>REST Proxy is the language-agnostic bridge: any HTTP client can produce/consume Kafka records without a native client library.</a:t>
            </a:r>
            <a:endParaRPr lang="en-IN" sz="1000" i="1">
              <a:solidFill>
                <a:srgbClr val="CBD5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59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Message Transforms (SMTs)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SMTs run inline on every record — no separate stream job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Lightweight Java classes chained via transforms=t1,t2,t3 in connector config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Apply on source side (before topic) or sink side (after read)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Common built-in transforms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ReplaceField — drop or rename fields (mask sensitive columns)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InsertField — add static or dynamic metadata (timestamp, topic, hostname)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ExtractField, RegexRouter, MaskField, TimestampConverter, ValueToKey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Use SMTs for plumbing — not business logic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Joins, aggregations, lookups belong in Kafka Streams or ksqlDB</a:t>
            </a:r>
          </a:p>
        </p:txBody>
      </p:sp>
    </p:spTree>
    <p:extLst>
      <p:ext uri="{BB962C8B-B14F-4D97-AF65-F5344CB8AC3E}">
        <p14:creationId xmlns:p14="http://schemas.microsoft.com/office/powerpoint/2010/main" val="765709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1B05-F75B-0F11-0D30-468E8A3D2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/>
              <a:t>Lab - Build an SMT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2C92B-D268-AD0F-D52D-6CC135013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1700" b="1" dirty="0">
                <a:solidFill>
                  <a:srgbClr val="22D3EE"/>
                </a:solidFill>
              </a:rPr>
              <a:t>Scenario</a:t>
            </a:r>
          </a:p>
          <a:p>
            <a:pPr>
              <a:buNone/>
            </a:pPr>
            <a:r>
              <a:rPr lang="en-US" sz="1400" i="1" dirty="0">
                <a:solidFill>
                  <a:srgbClr val="CBD5E1"/>
                </a:solidFill>
              </a:rPr>
              <a:t>Source records arrive with snake_case keys and an unnecessary _meta field. Transform them before they hit the sink — without writing custom code.</a:t>
            </a:r>
          </a:p>
          <a:p>
            <a:pPr>
              <a:buNone/>
            </a:pPr>
            <a:r>
              <a:rPr lang="en-US" sz="1500" b="1" dirty="0">
                <a:solidFill>
                  <a:srgbClr val="22D3EE"/>
                </a:solidFill>
              </a:rPr>
              <a:t>Transforms config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transforms=RenameKey,DropMeta,AddTimestamp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transforms.RenameKey.type=org.apache.kafka.connect.transforms.ReplaceField$Value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transforms.RenameKey.renames=customer_id:customerId,order_total:orderTotal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transforms.DropMeta.type=org.apache.kafka.connect.transforms.ReplaceField$Value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transforms.DropMeta.exclude=_meta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transforms.AddTimestamp.type=org.apache.kafka.connect.transforms.InsertField$Value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transforms.AddTimestamp.timestamp.field=ingested_at</a:t>
            </a:r>
          </a:p>
          <a:p>
            <a:pPr>
              <a:buNone/>
            </a:pPr>
            <a:r>
              <a:rPr lang="en-US" sz="1500" b="1" dirty="0">
                <a:solidFill>
                  <a:srgbClr val="22D3EE"/>
                </a:solidFill>
              </a:rPr>
              <a:t>Discuss</a:t>
            </a:r>
          </a:p>
          <a:p>
            <a:pPr marL="285750" indent="-285750">
              <a:buFont typeface="Arial"/>
              <a:buChar char="•"/>
            </a:pPr>
            <a:r>
              <a:rPr lang="en-US" sz="1300" dirty="0"/>
              <a:t>Order matters — what happens if AddTimestamp runs before DropMeta?</a:t>
            </a:r>
          </a:p>
          <a:p>
            <a:pPr marL="285750" indent="-285750">
              <a:buFont typeface="Arial"/>
              <a:buChar char="•"/>
            </a:pPr>
            <a:r>
              <a:rPr lang="en-US" sz="1300" dirty="0"/>
              <a:t>When is an SMT the wrong tool? Where would you reach for ksqlDB or a stream processor instead?</a:t>
            </a:r>
          </a:p>
        </p:txBody>
      </p:sp>
    </p:spTree>
    <p:extLst>
      <p:ext uri="{BB962C8B-B14F-4D97-AF65-F5344CB8AC3E}">
        <p14:creationId xmlns:p14="http://schemas.microsoft.com/office/powerpoint/2010/main" val="919461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Connect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External System → Source Connector → Kafka topic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Connector polls the source and writes serialized records via the producer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Offsets are tracked in connect-offsets topic for exactly-once resumability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Kafka topic → optional stream processing layer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Kafka Streams, ksqlDB, or Flink enrich, join, or aggregate in-flight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Result lands on a downstream topic ready for sinking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Sink Connector → External System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Consumer group reads, deserializes, and writes batches to the target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Failures route to a dead-letter queue topic for inspection</a:t>
            </a:r>
          </a:p>
        </p:txBody>
      </p:sp>
    </p:spTree>
    <p:extLst>
      <p:ext uri="{BB962C8B-B14F-4D97-AF65-F5344CB8AC3E}">
        <p14:creationId xmlns:p14="http://schemas.microsoft.com/office/powerpoint/2010/main" val="2253193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Connect REST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GET /connectors</a:t>
            </a:r>
          </a:p>
          <a:p>
            <a:pPr>
              <a:defRPr sz="2000"/>
            </a:pPr>
            <a:r>
              <a:t>POST /connectors</a:t>
            </a:r>
          </a:p>
          <a:p>
            <a:pPr>
              <a:defRPr sz="2000"/>
            </a:pPr>
            <a:r>
              <a:t>GET /connectors/{name}/status</a:t>
            </a:r>
          </a:p>
          <a:p>
            <a:pPr>
              <a:defRPr sz="2000"/>
            </a:pPr>
            <a:r>
              <a:t>DELETE /connectors/{name}</a:t>
            </a:r>
          </a:p>
          <a:p>
            <a:pPr>
              <a:defRPr sz="2000"/>
            </a:pPr>
            <a:r>
              <a:t>Manage connectors dynamically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9A3A-12A9-14E6-F111-534E1426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Kafka Connect — Record Data Flow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A32E98-A977-4B52-B063-0082B97C0A14}"/>
              </a:ext>
            </a:extLst>
          </p:cNvPr>
          <p:cNvSpPr txBox="1"/>
          <p:nvPr/>
        </p:nvSpPr>
        <p:spPr>
          <a:xfrm>
            <a:off x="508000" y="22225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22D3EE"/>
                </a:solidFill>
              </a:rPr>
              <a:t>SOURCE PATH: External → Kafka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A4B845-334C-4ADC-902E-66F8D90EA125}"/>
              </a:ext>
            </a:extLst>
          </p:cNvPr>
          <p:cNvSpPr/>
          <p:nvPr/>
        </p:nvSpPr>
        <p:spPr>
          <a:xfrm>
            <a:off x="508000" y="2730500"/>
            <a:ext cx="1206500" cy="6985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Source
System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FB9207-C334-49CC-B0B1-EF490EFEF17E}"/>
              </a:ext>
            </a:extLst>
          </p:cNvPr>
          <p:cNvSpPr/>
          <p:nvPr/>
        </p:nvSpPr>
        <p:spPr>
          <a:xfrm>
            <a:off x="1841500" y="2730500"/>
            <a:ext cx="1206500" cy="6985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Source
Task poll()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8BF6F7-16ED-49BE-B03F-F0D7D0623399}"/>
              </a:ext>
            </a:extLst>
          </p:cNvPr>
          <p:cNvSpPr/>
          <p:nvPr/>
        </p:nvSpPr>
        <p:spPr>
          <a:xfrm>
            <a:off x="3175000" y="2730500"/>
            <a:ext cx="1206500" cy="698500"/>
          </a:xfrm>
          <a:prstGeom prst="roundRect">
            <a:avLst/>
          </a:prstGeom>
          <a:solidFill>
            <a:srgbClr val="A3E63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SMT
chain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855E1D-3CC5-4B7A-821F-7A607D20330F}"/>
              </a:ext>
            </a:extLst>
          </p:cNvPr>
          <p:cNvSpPr/>
          <p:nvPr/>
        </p:nvSpPr>
        <p:spPr>
          <a:xfrm>
            <a:off x="4508500" y="2730500"/>
            <a:ext cx="1206500" cy="698500"/>
          </a:xfrm>
          <a:prstGeom prst="roundRect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Key/Value
Converter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512E49-1251-4F49-B8F3-868BBD51F17B}"/>
              </a:ext>
            </a:extLst>
          </p:cNvPr>
          <p:cNvSpPr/>
          <p:nvPr/>
        </p:nvSpPr>
        <p:spPr>
          <a:xfrm>
            <a:off x="5842000" y="2730500"/>
            <a:ext cx="1206500" cy="6985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Worker
Producer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95CA31-E5B9-487D-9EE9-2710126B5BD3}"/>
              </a:ext>
            </a:extLst>
          </p:cNvPr>
          <p:cNvSpPr/>
          <p:nvPr/>
        </p:nvSpPr>
        <p:spPr>
          <a:xfrm>
            <a:off x="7175500" y="2730500"/>
            <a:ext cx="1460500" cy="698500"/>
          </a:xfrm>
          <a:prstGeom prst="roundRect">
            <a:avLst/>
          </a:prstGeom>
          <a:solidFill>
            <a:srgbClr val="CBD5E1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FFFFF"/>
                </a:solidFill>
              </a:rPr>
              <a:t>Kafka Topic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B25BDCE-87D5-448F-A112-8F755659D6DB}"/>
              </a:ext>
            </a:extLst>
          </p:cNvPr>
          <p:cNvSpPr/>
          <p:nvPr/>
        </p:nvSpPr>
        <p:spPr>
          <a:xfrm>
            <a:off x="1714500" y="2946400"/>
            <a:ext cx="152400" cy="2540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31AD7E8-4188-4DF0-8514-47003C36F31E}"/>
              </a:ext>
            </a:extLst>
          </p:cNvPr>
          <p:cNvSpPr/>
          <p:nvPr/>
        </p:nvSpPr>
        <p:spPr>
          <a:xfrm>
            <a:off x="3048000" y="2946400"/>
            <a:ext cx="152400" cy="2540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AC32DE4-D697-4AB7-832B-06417AA00D7D}"/>
              </a:ext>
            </a:extLst>
          </p:cNvPr>
          <p:cNvSpPr/>
          <p:nvPr/>
        </p:nvSpPr>
        <p:spPr>
          <a:xfrm>
            <a:off x="4381500" y="2946400"/>
            <a:ext cx="152400" cy="2540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894B864-E18E-455F-9F37-1087FC27D6BA}"/>
              </a:ext>
            </a:extLst>
          </p:cNvPr>
          <p:cNvSpPr/>
          <p:nvPr/>
        </p:nvSpPr>
        <p:spPr>
          <a:xfrm>
            <a:off x="5715000" y="2946400"/>
            <a:ext cx="152400" cy="2540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4F2A2F0-FDD6-4EAA-BA57-5EA671DA36AB}"/>
              </a:ext>
            </a:extLst>
          </p:cNvPr>
          <p:cNvSpPr/>
          <p:nvPr/>
        </p:nvSpPr>
        <p:spPr>
          <a:xfrm>
            <a:off x="7048500" y="2946400"/>
            <a:ext cx="152400" cy="2540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041FDE-EE36-4500-B433-03208F1014E2}"/>
              </a:ext>
            </a:extLst>
          </p:cNvPr>
          <p:cNvSpPr txBox="1"/>
          <p:nvPr/>
        </p:nvSpPr>
        <p:spPr>
          <a:xfrm>
            <a:off x="508000" y="37465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60A5FA"/>
                </a:solidFill>
              </a:rPr>
              <a:t>SINK PATH: Kafka → External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EDD7D9B-5023-432C-86E7-0E3EBF0450CC}"/>
              </a:ext>
            </a:extLst>
          </p:cNvPr>
          <p:cNvSpPr/>
          <p:nvPr/>
        </p:nvSpPr>
        <p:spPr>
          <a:xfrm>
            <a:off x="508000" y="4254500"/>
            <a:ext cx="1460500" cy="698500"/>
          </a:xfrm>
          <a:prstGeom prst="roundRect">
            <a:avLst/>
          </a:prstGeom>
          <a:solidFill>
            <a:srgbClr val="CBD5E1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FFFFF"/>
                </a:solidFill>
              </a:rPr>
              <a:t>Kafka Topic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87E4AEC-75C2-443A-9FB2-6EEE61D8C5AF}"/>
              </a:ext>
            </a:extLst>
          </p:cNvPr>
          <p:cNvSpPr/>
          <p:nvPr/>
        </p:nvSpPr>
        <p:spPr>
          <a:xfrm>
            <a:off x="2032000" y="4254500"/>
            <a:ext cx="1206500" cy="6985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Worker
Consumer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7E8D9B-7719-4303-A180-E06A1BA9FA44}"/>
              </a:ext>
            </a:extLst>
          </p:cNvPr>
          <p:cNvSpPr/>
          <p:nvPr/>
        </p:nvSpPr>
        <p:spPr>
          <a:xfrm>
            <a:off x="3365500" y="4254500"/>
            <a:ext cx="1206500" cy="698500"/>
          </a:xfrm>
          <a:prstGeom prst="roundRect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Key/Value
Converter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7A8F2F4-7AC2-40FD-81C5-320686FEEE6B}"/>
              </a:ext>
            </a:extLst>
          </p:cNvPr>
          <p:cNvSpPr/>
          <p:nvPr/>
        </p:nvSpPr>
        <p:spPr>
          <a:xfrm>
            <a:off x="4699000" y="4254500"/>
            <a:ext cx="1206500" cy="698500"/>
          </a:xfrm>
          <a:prstGeom prst="roundRect">
            <a:avLst/>
          </a:prstGeom>
          <a:solidFill>
            <a:srgbClr val="A3E63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SMT
chain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64C2F87-73F0-43CB-BD0D-091E4775B3EA}"/>
              </a:ext>
            </a:extLst>
          </p:cNvPr>
          <p:cNvSpPr/>
          <p:nvPr/>
        </p:nvSpPr>
        <p:spPr>
          <a:xfrm>
            <a:off x="6032500" y="4254500"/>
            <a:ext cx="1206500" cy="6985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Sink Task
put()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ECBE3E9-2396-40F7-A25A-6A2FFECD940B}"/>
              </a:ext>
            </a:extLst>
          </p:cNvPr>
          <p:cNvSpPr/>
          <p:nvPr/>
        </p:nvSpPr>
        <p:spPr>
          <a:xfrm>
            <a:off x="7429500" y="4254500"/>
            <a:ext cx="1206500" cy="6985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Target
System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1A4C9D7-91EC-4AA6-A3FD-32D2613EFB85}"/>
              </a:ext>
            </a:extLst>
          </p:cNvPr>
          <p:cNvSpPr/>
          <p:nvPr/>
        </p:nvSpPr>
        <p:spPr>
          <a:xfrm>
            <a:off x="1905000" y="4470400"/>
            <a:ext cx="152400" cy="2540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B462CA1-A213-481D-A640-91216FD367A7}"/>
              </a:ext>
            </a:extLst>
          </p:cNvPr>
          <p:cNvSpPr/>
          <p:nvPr/>
        </p:nvSpPr>
        <p:spPr>
          <a:xfrm>
            <a:off x="3238500" y="4470400"/>
            <a:ext cx="152400" cy="2540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4EDAB63-C5C7-40BC-9F62-5511AC867F9A}"/>
              </a:ext>
            </a:extLst>
          </p:cNvPr>
          <p:cNvSpPr/>
          <p:nvPr/>
        </p:nvSpPr>
        <p:spPr>
          <a:xfrm>
            <a:off x="4572000" y="4470400"/>
            <a:ext cx="152400" cy="2540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4B17138-2DDD-465B-9029-6A41504056F8}"/>
              </a:ext>
            </a:extLst>
          </p:cNvPr>
          <p:cNvSpPr/>
          <p:nvPr/>
        </p:nvSpPr>
        <p:spPr>
          <a:xfrm>
            <a:off x="5905500" y="4470400"/>
            <a:ext cx="152400" cy="2540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5BC2182-53B0-455A-BEB0-8A47B9E94106}"/>
              </a:ext>
            </a:extLst>
          </p:cNvPr>
          <p:cNvSpPr/>
          <p:nvPr/>
        </p:nvSpPr>
        <p:spPr>
          <a:xfrm>
            <a:off x="7302500" y="4470400"/>
            <a:ext cx="152400" cy="2540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8B22B6F-1363-4433-A09A-E15B87D4A40E}"/>
              </a:ext>
            </a:extLst>
          </p:cNvPr>
          <p:cNvSpPr/>
          <p:nvPr/>
        </p:nvSpPr>
        <p:spPr>
          <a:xfrm>
            <a:off x="2286000" y="5207000"/>
            <a:ext cx="4572000" cy="508000"/>
          </a:xfrm>
          <a:prstGeom prst="roundRect">
            <a:avLst/>
          </a:prstGeom>
          <a:solidFill>
            <a:srgbClr val="1F293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On conversion / put() failure  →  Dead Letter Queue (errors.deadletterqueue.topic.name)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AE59BE74-1E43-4004-B9D6-A6FA343EC159}"/>
              </a:ext>
            </a:extLst>
          </p:cNvPr>
          <p:cNvSpPr/>
          <p:nvPr/>
        </p:nvSpPr>
        <p:spPr>
          <a:xfrm>
            <a:off x="4445000" y="4991100"/>
            <a:ext cx="254000" cy="215900"/>
          </a:xfrm>
          <a:prstGeom prst="downArrow">
            <a:avLst/>
          </a:prstGeom>
          <a:solidFill>
            <a:srgbClr val="E94B4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9D02FE-45EA-4E2E-9496-682E9F6FAFD2}"/>
              </a:ext>
            </a:extLst>
          </p:cNvPr>
          <p:cNvSpPr txBox="1"/>
          <p:nvPr/>
        </p:nvSpPr>
        <p:spPr>
          <a:xfrm>
            <a:off x="508000" y="60960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i="1">
                <a:solidFill>
                  <a:srgbClr val="CBD5E1"/>
                </a:solidFill>
              </a:rPr>
              <a:t>Each record passes through converters and SMTs in order; failures route to a DLQ topic when configured.</a:t>
            </a:r>
            <a:endParaRPr lang="en-IN" sz="1000" i="1">
              <a:solidFill>
                <a:srgbClr val="CBD5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036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CDC (Change Data Capture)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Capture database changes continuously</a:t>
            </a:r>
          </a:p>
          <a:p>
            <a:pPr>
              <a:defRPr sz="2000"/>
            </a:pPr>
            <a:r>
              <a:t>Stream inserts/updates/deletes</a:t>
            </a:r>
          </a:p>
          <a:p>
            <a:pPr>
              <a:defRPr sz="2000"/>
            </a:pPr>
            <a:r>
              <a:t>Avoid full table reloads</a:t>
            </a:r>
          </a:p>
          <a:p>
            <a:pPr>
              <a:defRPr sz="2000"/>
            </a:pPr>
            <a:r>
              <a:t>Enable real-time synchronization</a:t>
            </a:r>
          </a:p>
          <a:p>
            <a:pPr>
              <a:defRPr sz="2000"/>
            </a:pPr>
            <a:r>
              <a:t>Often implemented using Debezium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F8427-BBE5-A55C-FA9C-36A830A5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CDC with Debezium — Log-Based Capture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0F0D2-7600-4FFE-9942-C71609F6FE27}"/>
              </a:ext>
            </a:extLst>
          </p:cNvPr>
          <p:cNvSpPr txBox="1"/>
          <p:nvPr/>
        </p:nvSpPr>
        <p:spPr>
          <a:xfrm>
            <a:off x="508000" y="22225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22D3EE"/>
                </a:solidFill>
              </a:rPr>
              <a:t>SOURCE DATABASE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25E264-55C7-4575-A628-EF2F48EB3782}"/>
              </a:ext>
            </a:extLst>
          </p:cNvPr>
          <p:cNvSpPr/>
          <p:nvPr/>
        </p:nvSpPr>
        <p:spPr>
          <a:xfrm>
            <a:off x="508000" y="2540000"/>
            <a:ext cx="2540000" cy="6350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PostgreSQL / MySQL
/ MongoDB / Oracle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FC603F5-1126-436C-8BED-D7B91B8D07B4}"/>
              </a:ext>
            </a:extLst>
          </p:cNvPr>
          <p:cNvSpPr/>
          <p:nvPr/>
        </p:nvSpPr>
        <p:spPr>
          <a:xfrm>
            <a:off x="508000" y="3238500"/>
            <a:ext cx="2540000" cy="6350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nl-NL" sz="1000" b="1">
                <a:solidFill>
                  <a:srgbClr val="F4F4F5"/>
                </a:solidFill>
              </a:rPr>
              <a:t>Transaction Log
(WAL / binlog / oplog)</a:t>
            </a:r>
            <a:endParaRPr lang="en-IN" sz="1000" b="1">
              <a:solidFill>
                <a:srgbClr val="F4F4F5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EE8DB1-4939-43AA-B193-1322CC3E3A7B}"/>
              </a:ext>
            </a:extLst>
          </p:cNvPr>
          <p:cNvSpPr/>
          <p:nvPr/>
        </p:nvSpPr>
        <p:spPr>
          <a:xfrm>
            <a:off x="508000" y="4064000"/>
            <a:ext cx="2540000" cy="1016000"/>
          </a:xfrm>
          <a:prstGeom prst="roundRect">
            <a:avLst/>
          </a:prstGeom>
          <a:solidFill>
            <a:srgbClr val="1F293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INSERT users (...) ...
UPDATE orders SET ...
DELETE FROM events 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44EB3-6D58-47E1-802A-1F3CD5D86594}"/>
              </a:ext>
            </a:extLst>
          </p:cNvPr>
          <p:cNvSpPr txBox="1"/>
          <p:nvPr/>
        </p:nvSpPr>
        <p:spPr>
          <a:xfrm>
            <a:off x="508000" y="51435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900" i="1">
                <a:solidFill>
                  <a:srgbClr val="CBD5E1"/>
                </a:solidFill>
              </a:rPr>
              <a:t>(application writes)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70A9A34-CD52-4FC8-AB7F-8A30748E0710}"/>
              </a:ext>
            </a:extLst>
          </p:cNvPr>
          <p:cNvSpPr/>
          <p:nvPr/>
        </p:nvSpPr>
        <p:spPr>
          <a:xfrm>
            <a:off x="3111500" y="3365500"/>
            <a:ext cx="381000" cy="3302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0E22E9-553B-4177-8698-5F1449BA892E}"/>
              </a:ext>
            </a:extLst>
          </p:cNvPr>
          <p:cNvSpPr txBox="1"/>
          <p:nvPr/>
        </p:nvSpPr>
        <p:spPr>
          <a:xfrm>
            <a:off x="3556000" y="22225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A3E635"/>
                </a:solidFill>
              </a:rPr>
              <a:t>DEBEZIUM CONNECTOR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CFA41C-77DB-4250-B53C-82F0D494D308}"/>
              </a:ext>
            </a:extLst>
          </p:cNvPr>
          <p:cNvSpPr/>
          <p:nvPr/>
        </p:nvSpPr>
        <p:spPr>
          <a:xfrm>
            <a:off x="3556000" y="2540000"/>
            <a:ext cx="2286000" cy="2540000"/>
          </a:xfrm>
          <a:prstGeom prst="roundRect">
            <a:avLst/>
          </a:prstGeom>
          <a:solidFill>
            <a:srgbClr val="A3E63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6BE7A1-10F3-47AE-BBB7-8ABCC1D93F02}"/>
              </a:ext>
            </a:extLst>
          </p:cNvPr>
          <p:cNvSpPr txBox="1"/>
          <p:nvPr/>
        </p:nvSpPr>
        <p:spPr>
          <a:xfrm>
            <a:off x="3556000" y="26035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FFFFF"/>
                </a:solidFill>
              </a:rPr>
              <a:t>Source Connector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0764A2-D635-4BF5-8D0D-09294C311397}"/>
              </a:ext>
            </a:extLst>
          </p:cNvPr>
          <p:cNvSpPr/>
          <p:nvPr/>
        </p:nvSpPr>
        <p:spPr>
          <a:xfrm>
            <a:off x="3746500" y="2921000"/>
            <a:ext cx="1905000" cy="444500"/>
          </a:xfrm>
          <a:prstGeom prst="roundRect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Reads log positions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CC4008-8383-407C-B8A5-D5626474F914}"/>
              </a:ext>
            </a:extLst>
          </p:cNvPr>
          <p:cNvSpPr/>
          <p:nvPr/>
        </p:nvSpPr>
        <p:spPr>
          <a:xfrm>
            <a:off x="3746500" y="3429000"/>
            <a:ext cx="1905000" cy="444500"/>
          </a:xfrm>
          <a:prstGeom prst="roundRect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Decodes row changes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C3D94E-6D71-4208-9FDC-CA1A98613D4C}"/>
              </a:ext>
            </a:extLst>
          </p:cNvPr>
          <p:cNvSpPr/>
          <p:nvPr/>
        </p:nvSpPr>
        <p:spPr>
          <a:xfrm>
            <a:off x="3746500" y="3937000"/>
            <a:ext cx="1905000" cy="444500"/>
          </a:xfrm>
          <a:prstGeom prst="roundRect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Emits before/after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4A7BB3-6A50-4C8F-B872-4885E1D8446E}"/>
              </a:ext>
            </a:extLst>
          </p:cNvPr>
          <p:cNvSpPr/>
          <p:nvPr/>
        </p:nvSpPr>
        <p:spPr>
          <a:xfrm>
            <a:off x="3746500" y="4445000"/>
            <a:ext cx="1905000" cy="444500"/>
          </a:xfrm>
          <a:prstGeom prst="roundRect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Tracks LSN / offset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5C923567-E290-4610-ADF4-1436A90C7ADF}"/>
              </a:ext>
            </a:extLst>
          </p:cNvPr>
          <p:cNvSpPr/>
          <p:nvPr/>
        </p:nvSpPr>
        <p:spPr>
          <a:xfrm>
            <a:off x="5905500" y="3365500"/>
            <a:ext cx="381000" cy="3302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680AA6-77BC-42CB-9DF1-E9979868CE52}"/>
              </a:ext>
            </a:extLst>
          </p:cNvPr>
          <p:cNvSpPr txBox="1"/>
          <p:nvPr/>
        </p:nvSpPr>
        <p:spPr>
          <a:xfrm>
            <a:off x="6350000" y="22225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60A5FA"/>
                </a:solidFill>
              </a:rPr>
              <a:t>KAFKA — TABLE TOPICS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A3B15CB-07DD-4840-BAD6-FEA1FAE1F68E}"/>
              </a:ext>
            </a:extLst>
          </p:cNvPr>
          <p:cNvSpPr/>
          <p:nvPr/>
        </p:nvSpPr>
        <p:spPr>
          <a:xfrm>
            <a:off x="6350000" y="2540000"/>
            <a:ext cx="2286000" cy="6350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dbserver1.public.users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4175F5D-C78E-4B22-94B5-32A5A57258E4}"/>
              </a:ext>
            </a:extLst>
          </p:cNvPr>
          <p:cNvSpPr/>
          <p:nvPr/>
        </p:nvSpPr>
        <p:spPr>
          <a:xfrm>
            <a:off x="6350000" y="3238500"/>
            <a:ext cx="2286000" cy="6350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dbserver1.public.orders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DA37BC4-8774-4A15-9359-A8191AD0E56D}"/>
              </a:ext>
            </a:extLst>
          </p:cNvPr>
          <p:cNvSpPr/>
          <p:nvPr/>
        </p:nvSpPr>
        <p:spPr>
          <a:xfrm>
            <a:off x="6350000" y="3937000"/>
            <a:ext cx="2286000" cy="6350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4F4F5"/>
                </a:solidFill>
              </a:rPr>
              <a:t>dbserver1.public.events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4D713F2-84C0-44D1-8E50-3F6CDC478F39}"/>
              </a:ext>
            </a:extLst>
          </p:cNvPr>
          <p:cNvSpPr/>
          <p:nvPr/>
        </p:nvSpPr>
        <p:spPr>
          <a:xfrm>
            <a:off x="6350000" y="4635500"/>
            <a:ext cx="2286000" cy="444500"/>
          </a:xfrm>
          <a:prstGeom prst="roundRect">
            <a:avLst/>
          </a:prstGeom>
          <a:solidFill>
            <a:srgbClr val="1F293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FFFFF"/>
                </a:solidFill>
              </a:rPr>
              <a:t>...one topic per table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2E90DA-D535-411B-8545-DA9314D53F74}"/>
              </a:ext>
            </a:extLst>
          </p:cNvPr>
          <p:cNvSpPr txBox="1"/>
          <p:nvPr/>
        </p:nvSpPr>
        <p:spPr>
          <a:xfrm>
            <a:off x="508000" y="54864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CBD5E1"/>
                </a:solidFill>
              </a:rPr>
              <a:t>Why CDC matters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6C19C6-8E13-4942-836E-030C6AF971AC}"/>
              </a:ext>
            </a:extLst>
          </p:cNvPr>
          <p:cNvSpPr txBox="1"/>
          <p:nvPr/>
        </p:nvSpPr>
        <p:spPr>
          <a:xfrm>
            <a:off x="508000" y="5740400"/>
            <a:ext cx="8128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i="1">
                <a:solidFill>
                  <a:srgbClr val="CBD5E1"/>
                </a:solidFill>
              </a:rPr>
              <a:t>Debezium tails the database transaction log — capturing every INSERT/UPDATE/DELETE without polling, without dual writes, and without impacting application latency.</a:t>
            </a:r>
            <a:endParaRPr lang="en-IN" sz="1000" i="1">
              <a:solidFill>
                <a:srgbClr val="CBD5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413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Lab</a:t>
            </a:r>
            <a:r>
              <a:rPr lang="en-US" dirty="0"/>
              <a:t> - </a:t>
            </a:r>
            <a:r>
              <a:rPr dirty="0"/>
              <a:t>Stream DB Changes into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Generate load — INSERT rows into PostgreSQL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Run a script that inserts 100 orders/sec for a few minutes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Observe records flowing into the Kafka topic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kafka-console-consumer --topic postgres-orders --from-beginning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Verify offset progress on the connector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GET /connectors/pg-source/status — expect RUNNING with no failed tasks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Inspect connect-offsets to confirm the high-water mark advances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Validate end-to-end</a:t>
            </a:r>
          </a:p>
          <a:p>
            <a:pPr marL="571500" lvl="1" indent="-228600">
              <a:buFont typeface="Arial"/>
              <a:buChar char="◦"/>
            </a:pPr>
            <a:r>
              <a:rPr lang="en-US" sz="1400" dirty="0"/>
              <a:t>Tail Connect worker logs for warnings; check lag in JMX metrics</a:t>
            </a:r>
          </a:p>
        </p:txBody>
      </p:sp>
    </p:spTree>
    <p:extLst>
      <p:ext uri="{BB962C8B-B14F-4D97-AF65-F5344CB8AC3E}">
        <p14:creationId xmlns:p14="http://schemas.microsoft.com/office/powerpoint/2010/main" val="564518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Kafka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 REST API for status checks</a:t>
            </a:r>
          </a:p>
          <a:p>
            <a:pPr>
              <a:defRPr sz="2000"/>
            </a:pPr>
            <a:r>
              <a:t>Monitor connector tasks</a:t>
            </a:r>
          </a:p>
          <a:p>
            <a:pPr>
              <a:defRPr sz="2000"/>
            </a:pPr>
            <a:r>
              <a:t>Track failures and retries</a:t>
            </a:r>
          </a:p>
          <a:p>
            <a:pPr>
              <a:defRPr sz="2000"/>
            </a:pPr>
            <a:r>
              <a:t>Check consumer lag</a:t>
            </a:r>
          </a:p>
          <a:p>
            <a:pPr>
              <a:defRPr sz="2000"/>
            </a:pPr>
            <a:r>
              <a:t>Enable centralized logging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16D2-424D-AAF4-6D40-D5639C01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/>
              <a:t>Lab - Drive Connect with curl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F8538-5E64-BCF3-AA6C-C42695934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1700" b="1" dirty="0">
                <a:solidFill>
                  <a:srgbClr val="22D3EE"/>
                </a:solidFill>
              </a:rPr>
              <a:t>Scenario</a:t>
            </a:r>
          </a:p>
          <a:p>
            <a:pPr>
              <a:buNone/>
            </a:pPr>
            <a:r>
              <a:rPr lang="en-US" sz="1400" i="1" dirty="0">
                <a:solidFill>
                  <a:srgbClr val="CBD5E1"/>
                </a:solidFill>
              </a:rPr>
              <a:t>Operate a running Connect cluster from the command line: list, deploy, inspect, restart, delete.</a:t>
            </a:r>
          </a:p>
          <a:p>
            <a:pPr>
              <a:buNone/>
            </a:pPr>
            <a:r>
              <a:rPr lang="en-US" sz="1500" b="1" dirty="0">
                <a:solidFill>
                  <a:srgbClr val="22D3EE"/>
                </a:solidFill>
              </a:rPr>
              <a:t>Commands</a:t>
            </a:r>
          </a:p>
          <a:p>
            <a:pPr>
              <a:buNone/>
            </a:pPr>
            <a:r>
              <a:rPr lang="en-US" sz="1200" dirty="0">
                <a:solidFill>
                  <a:srgbClr val="A3E635"/>
                </a:solidFill>
                <a:latin typeface="Consolas"/>
              </a:rPr>
              <a:t># list connectors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curl -s http://connect:8083/connectors | jq</a:t>
            </a:r>
          </a:p>
          <a:p>
            <a:pPr>
              <a:buNone/>
            </a:pPr>
            <a:r>
              <a:rPr lang="en-US" sz="1200" dirty="0">
                <a:solidFill>
                  <a:srgbClr val="A3E635"/>
                </a:solidFill>
                <a:latin typeface="Consolas"/>
              </a:rPr>
              <a:t># deploy from a file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curl -X POST -H "Content-Type: application/json" --data @orders-sink.json http://connect:8083/connectors</a:t>
            </a:r>
          </a:p>
          <a:p>
            <a:pPr>
              <a:buNone/>
            </a:pPr>
            <a:r>
              <a:rPr lang="en-US" sz="1200" dirty="0">
                <a:solidFill>
                  <a:srgbClr val="A3E635"/>
                </a:solidFill>
                <a:latin typeface="Consolas"/>
              </a:rPr>
              <a:t># inspect status (look for RUNNING / FAILED)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curl -s http://connect:8083/connectors/orders-sink/status | jq</a:t>
            </a:r>
          </a:p>
          <a:p>
            <a:pPr>
              <a:buNone/>
            </a:pPr>
            <a:r>
              <a:rPr lang="en-US" sz="1200" dirty="0">
                <a:solidFill>
                  <a:srgbClr val="A3E635"/>
                </a:solidFill>
                <a:latin typeface="Consolas"/>
              </a:rPr>
              <a:t># restart a failed task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curl -X POST http://connect:8083/connectors/orders-sink/tasks/0/restart</a:t>
            </a:r>
          </a:p>
          <a:p>
            <a:pPr>
              <a:buNone/>
            </a:pPr>
            <a:r>
              <a:rPr lang="en-US" sz="1500" b="1" dirty="0">
                <a:solidFill>
                  <a:srgbClr val="22D3EE"/>
                </a:solidFill>
              </a:rPr>
              <a:t>Discuss</a:t>
            </a:r>
          </a:p>
          <a:p>
            <a:pPr marL="285750" indent="-285750">
              <a:buFont typeface="Arial"/>
              <a:buChar char="•"/>
            </a:pPr>
            <a:r>
              <a:rPr lang="en-US" sz="1300" dirty="0"/>
              <a:t>Which calls are safe to script for CI/CD, and which need an approval gate?</a:t>
            </a:r>
          </a:p>
          <a:p>
            <a:pPr marL="285750" indent="-285750">
              <a:buFont typeface="Arial"/>
              <a:buChar char="•"/>
            </a:pPr>
            <a:r>
              <a:rPr lang="en-US" sz="1300" dirty="0"/>
              <a:t>How would you detect a partial failure (connector RUNNING but one task FAILED)?</a:t>
            </a:r>
          </a:p>
        </p:txBody>
      </p:sp>
    </p:spTree>
    <p:extLst>
      <p:ext uri="{BB962C8B-B14F-4D97-AF65-F5344CB8AC3E}">
        <p14:creationId xmlns:p14="http://schemas.microsoft.com/office/powerpoint/2010/main" val="35503289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in Kafka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Retry failed records</a:t>
            </a:r>
          </a:p>
          <a:p>
            <a:pPr>
              <a:defRPr sz="2000"/>
            </a:pPr>
            <a:r>
              <a:t>Dead Letter Queue (DLQ) support</a:t>
            </a:r>
          </a:p>
          <a:p>
            <a:pPr>
              <a:defRPr sz="2000"/>
            </a:pPr>
            <a:r>
              <a:t>Log transformation failures</a:t>
            </a:r>
          </a:p>
          <a:p>
            <a:pPr>
              <a:defRPr sz="2000"/>
            </a:pPr>
            <a:r>
              <a:t>Handle schema incompatibilities</a:t>
            </a:r>
          </a:p>
          <a:p>
            <a:pPr>
              <a:defRPr sz="2000"/>
            </a:pPr>
            <a:r>
              <a:t>Prevent pipeline crashes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Advanced Topic - Custom Connector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Develop custom source/sink connectors</a:t>
            </a:r>
          </a:p>
          <a:p>
            <a:pPr>
              <a:defRPr sz="2000"/>
            </a:pPr>
            <a:r>
              <a:t>Implement Connector and Task classes</a:t>
            </a:r>
          </a:p>
          <a:p>
            <a:pPr>
              <a:defRPr sz="2000"/>
            </a:pPr>
            <a:r>
              <a:t>Use Kafka Connect API</a:t>
            </a:r>
          </a:p>
          <a:p>
            <a:pPr>
              <a:defRPr sz="2000"/>
            </a:pPr>
            <a:r>
              <a:t>Package connector as plugin</a:t>
            </a:r>
          </a:p>
          <a:p>
            <a:pPr>
              <a:defRPr sz="2000"/>
            </a:pPr>
            <a:r>
              <a:t>Deploy into Kafka Connect cluster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Connector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Connector Class</a:t>
            </a:r>
          </a:p>
          <a:p>
            <a:pPr>
              <a:defRPr sz="2000"/>
            </a:pPr>
            <a:r>
              <a:t>Task Class</a:t>
            </a:r>
          </a:p>
          <a:p>
            <a:pPr>
              <a:defRPr sz="2000"/>
            </a:pPr>
            <a:r>
              <a:t>Configuration Definition</a:t>
            </a:r>
          </a:p>
          <a:p>
            <a:pPr>
              <a:defRPr sz="2000"/>
            </a:pPr>
            <a:r>
              <a:t>Offset Management</a:t>
            </a:r>
          </a:p>
          <a:p>
            <a:pPr>
              <a:defRPr sz="2000"/>
            </a:pPr>
            <a:r>
              <a:t>Transformation Logic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48233E-C362-4D1D-83D5-AE2A36BB4BF6}"/>
              </a:ext>
            </a:extLst>
          </p:cNvPr>
          <p:cNvSpPr/>
          <p:nvPr/>
        </p:nvSpPr>
        <p:spPr>
          <a:xfrm>
            <a:off x="508000" y="2222500"/>
            <a:ext cx="2540000" cy="3810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Connector  (extends SourceConnector)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131E9E-EFED-43BB-AB27-02444894E4A1}"/>
              </a:ext>
            </a:extLst>
          </p:cNvPr>
          <p:cNvSpPr/>
          <p:nvPr/>
        </p:nvSpPr>
        <p:spPr>
          <a:xfrm>
            <a:off x="508000" y="2628900"/>
            <a:ext cx="2540000" cy="2222500"/>
          </a:xfrm>
          <a:prstGeom prst="roundRect">
            <a:avLst/>
          </a:prstGeom>
          <a:solidFill>
            <a:srgbClr val="1F293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endParaRPr lang="en-IN" sz="11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1845DA-94E7-49F5-ABE4-395A0BFC6892}"/>
              </a:ext>
            </a:extLst>
          </p:cNvPr>
          <p:cNvSpPr txBox="1"/>
          <p:nvPr/>
        </p:nvSpPr>
        <p:spPr>
          <a:xfrm>
            <a:off x="635000" y="2730500"/>
            <a:ext cx="2286000" cy="2095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000">
                <a:solidFill>
                  <a:srgbClr val="CBD5E1"/>
                </a:solidFill>
              </a:rPr>
              <a:t>Lifecycle &amp; coordination
• start(props) — read config
• taskClass() — Task type
• taskConfigs(maxTasks) — partition work
• config() — ConfigDef schema
• stop() — release resources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F4ECB4-C26A-4129-A587-B79698355544}"/>
              </a:ext>
            </a:extLst>
          </p:cNvPr>
          <p:cNvSpPr/>
          <p:nvPr/>
        </p:nvSpPr>
        <p:spPr>
          <a:xfrm>
            <a:off x="3302000" y="2222500"/>
            <a:ext cx="2540000" cy="381000"/>
          </a:xfrm>
          <a:prstGeom prst="roundRect">
            <a:avLst/>
          </a:prstGeom>
          <a:solidFill>
            <a:srgbClr val="A3E63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Task  (extends SourceTask)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850963-2240-4D71-AF94-D758DCFE6BCD}"/>
              </a:ext>
            </a:extLst>
          </p:cNvPr>
          <p:cNvSpPr/>
          <p:nvPr/>
        </p:nvSpPr>
        <p:spPr>
          <a:xfrm>
            <a:off x="3302000" y="2628900"/>
            <a:ext cx="2540000" cy="2222500"/>
          </a:xfrm>
          <a:prstGeom prst="roundRect">
            <a:avLst/>
          </a:prstGeom>
          <a:solidFill>
            <a:srgbClr val="1F293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endParaRPr lang="en-IN" sz="1100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C7DE9E-79A5-4D5C-9600-5D9B5A7D412C}"/>
              </a:ext>
            </a:extLst>
          </p:cNvPr>
          <p:cNvSpPr txBox="1"/>
          <p:nvPr/>
        </p:nvSpPr>
        <p:spPr>
          <a:xfrm>
            <a:off x="3429000" y="2730500"/>
            <a:ext cx="2286000" cy="2095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CBD5E1"/>
                </a:solidFill>
              </a:rPr>
              <a:t>Per-task data pull
• start(props) — open connection
• poll() — return List&lt;SourceRecord&gt;
• commit() — checkpoint offsets
• stop() — close connection
• version() — connector version</a:t>
            </a:r>
            <a:endParaRPr lang="en-IN" sz="1000">
              <a:solidFill>
                <a:srgbClr val="CBD5E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1EC57B-51B1-4303-AD04-2747A99F3CD0}"/>
              </a:ext>
            </a:extLst>
          </p:cNvPr>
          <p:cNvSpPr/>
          <p:nvPr/>
        </p:nvSpPr>
        <p:spPr>
          <a:xfrm>
            <a:off x="6096000" y="2222500"/>
            <a:ext cx="2540000" cy="381000"/>
          </a:xfrm>
          <a:prstGeom prst="roundRect">
            <a:avLst/>
          </a:prstGeom>
          <a:solidFill>
            <a:srgbClr val="60A5F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4F4F5"/>
                </a:solidFill>
              </a:rPr>
              <a:t>Converter &amp; Schema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D3D8BF-6C08-4864-9484-C0321BF0ABFE}"/>
              </a:ext>
            </a:extLst>
          </p:cNvPr>
          <p:cNvSpPr/>
          <p:nvPr/>
        </p:nvSpPr>
        <p:spPr>
          <a:xfrm>
            <a:off x="6096000" y="2628900"/>
            <a:ext cx="2540000" cy="2222500"/>
          </a:xfrm>
          <a:prstGeom prst="roundRect">
            <a:avLst/>
          </a:prstGeom>
          <a:solidFill>
            <a:srgbClr val="1F293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endParaRPr lang="en-IN" sz="1100" b="1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25FB2B-A6B4-43C1-9A6E-07A1EC4BCE7A}"/>
              </a:ext>
            </a:extLst>
          </p:cNvPr>
          <p:cNvSpPr txBox="1"/>
          <p:nvPr/>
        </p:nvSpPr>
        <p:spPr>
          <a:xfrm>
            <a:off x="6223000" y="2730500"/>
            <a:ext cx="2286000" cy="2095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000">
                <a:solidFill>
                  <a:srgbClr val="CBD5E1"/>
                </a:solidFill>
              </a:rPr>
              <a:t>Serialize records to Kafka
• Built-in converters:
  – AvroConverter
  – JsonConverter
  – ProtobufConverter
  – StringConverter
• Schema describes record fields
• Per-key &amp; per-value setting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168647C-803C-4613-9FCD-836D09972E56}"/>
              </a:ext>
            </a:extLst>
          </p:cNvPr>
          <p:cNvSpPr/>
          <p:nvPr/>
        </p:nvSpPr>
        <p:spPr>
          <a:xfrm>
            <a:off x="3048000" y="3556000"/>
            <a:ext cx="279400" cy="2794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486F130-AAF6-41EF-AF55-1F584A04DE17}"/>
              </a:ext>
            </a:extLst>
          </p:cNvPr>
          <p:cNvSpPr/>
          <p:nvPr/>
        </p:nvSpPr>
        <p:spPr>
          <a:xfrm>
            <a:off x="5842000" y="3556000"/>
            <a:ext cx="279400" cy="279400"/>
          </a:xfrm>
          <a:prstGeom prst="rightArrow">
            <a:avLst/>
          </a:prstGeom>
          <a:solidFill>
            <a:srgbClr val="64748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F81347-6F58-4DE0-A1BB-69EB9AFEE620}"/>
              </a:ext>
            </a:extLst>
          </p:cNvPr>
          <p:cNvSpPr/>
          <p:nvPr/>
        </p:nvSpPr>
        <p:spPr>
          <a:xfrm>
            <a:off x="508000" y="5080000"/>
            <a:ext cx="8128000" cy="381000"/>
          </a:xfrm>
          <a:prstGeom prst="roundRect">
            <a:avLst/>
          </a:prstGeom>
          <a:solidFill>
            <a:srgbClr val="22D3E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4F4F5"/>
                </a:solidFill>
              </a:rPr>
              <a:t>Worker JVM hosts:  1 Connector instance  +  N Task instances  +  Converters per record</a:t>
            </a:r>
            <a:endParaRPr lang="en-IN" sz="1100" b="1">
              <a:solidFill>
                <a:srgbClr val="F4F4F5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6964BD-7762-4D91-BE12-AC8C4B86C083}"/>
              </a:ext>
            </a:extLst>
          </p:cNvPr>
          <p:cNvSpPr txBox="1"/>
          <p:nvPr/>
        </p:nvSpPr>
        <p:spPr>
          <a:xfrm>
            <a:off x="508000" y="54864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CBD5E1"/>
                </a:solidFill>
              </a:rPr>
              <a:t>Implementation tip:
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0168D6-230F-4B50-A8A1-BB480E669270}"/>
              </a:ext>
            </a:extLst>
          </p:cNvPr>
          <p:cNvSpPr txBox="1"/>
          <p:nvPr/>
        </p:nvSpPr>
        <p:spPr>
          <a:xfrm>
            <a:off x="508000" y="5740400"/>
            <a:ext cx="8128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CBD5E1"/>
                </a:solidFill>
              </a:rPr>
              <a:t>Most of your logic lives in the Task class — Connector handles config and partitioning, Converter is pluggable via worker config.</a:t>
            </a:r>
            <a:endParaRPr lang="en-IN" sz="1000" i="1">
              <a:solidFill>
                <a:srgbClr val="CBD5E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A04E6A-C6D5-46FB-8E19-A6A985A4EEB3}"/>
              </a:ext>
            </a:extLst>
          </p:cNvPr>
          <p:cNvSpPr txBox="1"/>
          <p:nvPr/>
        </p:nvSpPr>
        <p:spPr>
          <a:xfrm>
            <a:off x="762000" y="584200"/>
            <a:ext cx="7289800" cy="149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endParaRPr lang="en-IN" sz="3200" b="1" dirty="0">
              <a:solidFill>
                <a:srgbClr val="F4F4F5"/>
              </a:solidFill>
            </a:endParaRPr>
          </a:p>
          <a:p>
            <a:pPr algn="l"/>
            <a:r>
              <a:rPr lang="en-IN" sz="3200" b="1" dirty="0">
                <a:solidFill>
                  <a:srgbClr val="F4F4F5"/>
                </a:solidFill>
              </a:rPr>
              <a:t>Custom Connector - Class Components</a:t>
            </a:r>
          </a:p>
        </p:txBody>
      </p:sp>
    </p:spTree>
    <p:extLst>
      <p:ext uri="{BB962C8B-B14F-4D97-AF65-F5344CB8AC3E}">
        <p14:creationId xmlns:p14="http://schemas.microsoft.com/office/powerpoint/2010/main" val="9225217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ts val="1800"/>
              </a:lnSpc>
              <a:spcBef>
                <a:spcPts val="200"/>
              </a:spcBef>
              <a:buFont typeface="Arial"/>
              <a:buChar char="•"/>
            </a:pPr>
            <a:r>
              <a:rPr lang="en-US" sz="1600" b="1" dirty="0"/>
              <a:t>Encryption in transit</a:t>
            </a:r>
          </a:p>
          <a:p>
            <a:pPr marL="571500" lvl="1" indent="-228600">
              <a:lnSpc>
                <a:spcPts val="1600"/>
              </a:lnSpc>
              <a:buFont typeface="Arial"/>
              <a:buChar char="◦"/>
            </a:pPr>
            <a:r>
              <a:rPr lang="en-US" sz="1400" dirty="0"/>
              <a:t>TLS to brokers (security.protocol=SSL) and to source/sink endpoints</a:t>
            </a:r>
          </a:p>
          <a:p>
            <a:pPr marL="28575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Authentication</a:t>
            </a:r>
          </a:p>
          <a:p>
            <a:pPr marL="571500" lvl="1" indent="-228600">
              <a:lnSpc>
                <a:spcPts val="1600"/>
              </a:lnSpc>
              <a:buFont typeface="Arial"/>
              <a:buChar char="◦"/>
            </a:pPr>
            <a:r>
              <a:rPr lang="en-US" sz="1400" dirty="0"/>
              <a:t>SASL/PLAIN, SASL/SCRAM, or mTLS — separate principals per connector</a:t>
            </a:r>
          </a:p>
          <a:p>
            <a:pPr marL="28575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Authorization (ACLs / RBAC)</a:t>
            </a:r>
          </a:p>
          <a:p>
            <a:pPr marL="571500" lvl="1" indent="-228600">
              <a:lnSpc>
                <a:spcPts val="1600"/>
              </a:lnSpc>
              <a:buFont typeface="Arial"/>
              <a:buChar char="◦"/>
            </a:pPr>
            <a:r>
              <a:rPr lang="en-US" sz="1400" dirty="0"/>
              <a:t>Least-privilege topic ACLs; protect REST endpoints behind a reverse proxy</a:t>
            </a:r>
          </a:p>
          <a:p>
            <a:pPr marL="28575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Secret management</a:t>
            </a:r>
          </a:p>
          <a:p>
            <a:pPr marL="571500" lvl="1" indent="-228600">
              <a:lnSpc>
                <a:spcPts val="1600"/>
              </a:lnSpc>
              <a:buFont typeface="Arial"/>
              <a:buChar char="◦"/>
            </a:pPr>
            <a:r>
              <a:rPr lang="en-US" sz="1400" dirty="0"/>
              <a:t>Externalize via ConfigProvider — never inline passwords in connector JSON</a:t>
            </a:r>
          </a:p>
        </p:txBody>
      </p:sp>
    </p:spTree>
    <p:extLst>
      <p:ext uri="{BB962C8B-B14F-4D97-AF65-F5344CB8AC3E}">
        <p14:creationId xmlns:p14="http://schemas.microsoft.com/office/powerpoint/2010/main" val="8324571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Performance</a:t>
            </a:r>
            <a:r>
              <a:rPr lang="en-US" dirty="0"/>
              <a:t> </a:t>
            </a:r>
            <a:r>
              <a:rPr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ts val="1800"/>
              </a:lnSpc>
              <a:spcBef>
                <a:spcPts val="200"/>
              </a:spcBef>
              <a:buFont typeface="Arial"/>
              <a:buChar char="•"/>
            </a:pPr>
            <a:r>
              <a:rPr lang="en-US" sz="1600" b="1" dirty="0"/>
              <a:t>Scale horizontally with tasks</a:t>
            </a:r>
          </a:p>
          <a:p>
            <a:pPr marL="571500" lvl="1" indent="-228600">
              <a:lnSpc>
                <a:spcPts val="1600"/>
              </a:lnSpc>
              <a:buFont typeface="Arial"/>
              <a:buChar char="◦"/>
            </a:pPr>
            <a:r>
              <a:rPr lang="en-US" sz="1400" dirty="0"/>
              <a:t>Raise tasks.max up to source partitionable units (tables, shards, partitions)</a:t>
            </a:r>
          </a:p>
          <a:p>
            <a:pPr marL="28575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Tune batch and buffer sizes</a:t>
            </a:r>
          </a:p>
          <a:p>
            <a:pPr marL="571500" lvl="1" indent="-228600">
              <a:lnSpc>
                <a:spcPts val="1600"/>
              </a:lnSpc>
              <a:buFont typeface="Arial"/>
              <a:buChar char="◦"/>
            </a:pPr>
            <a:r>
              <a:rPr lang="en-US" sz="1400" dirty="0"/>
              <a:t>batch.max.rows, producer linger.ms / batch.size, consumer fetch.min.bytes</a:t>
            </a:r>
          </a:p>
          <a:p>
            <a:pPr marL="28575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Right-size workers</a:t>
            </a:r>
          </a:p>
          <a:p>
            <a:pPr marL="571500" lvl="1" indent="-228600">
              <a:lnSpc>
                <a:spcPts val="1600"/>
              </a:lnSpc>
              <a:buFont typeface="Arial"/>
              <a:buChar char="◦"/>
            </a:pPr>
            <a:r>
              <a:rPr lang="en-US" sz="1400" dirty="0"/>
              <a:t>Heap sized for converter + buffer load; add workers for CPU-bound transforms</a:t>
            </a:r>
          </a:p>
          <a:p>
            <a:pPr marL="28575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Watch the right metrics</a:t>
            </a:r>
          </a:p>
          <a:p>
            <a:pPr marL="571500" lvl="1" indent="-228600">
              <a:lnSpc>
                <a:spcPts val="1600"/>
              </a:lnSpc>
              <a:buFont typeface="Arial"/>
              <a:buChar char="◦"/>
            </a:pPr>
            <a:r>
              <a:rPr lang="en-US" sz="1400" dirty="0"/>
              <a:t>source-record-poll-rate, sink-record-send-rate, offset commit lag</a:t>
            </a:r>
          </a:p>
        </p:txBody>
      </p:sp>
    </p:spTree>
    <p:extLst>
      <p:ext uri="{BB962C8B-B14F-4D97-AF65-F5344CB8AC3E}">
        <p14:creationId xmlns:p14="http://schemas.microsoft.com/office/powerpoint/2010/main" val="15745952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3923-A20A-F7A9-545E-C9CFBD993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/>
              <a:t>Lab - Tune a Slow Connector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2DD59-2DF3-3C57-EC83-EB6349022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1700" b="1" dirty="0">
                <a:solidFill>
                  <a:srgbClr val="22D3EE"/>
                </a:solidFill>
              </a:rPr>
              <a:t>Scenario</a:t>
            </a:r>
          </a:p>
          <a:p>
            <a:pPr>
              <a:buNone/>
            </a:pPr>
            <a:r>
              <a:rPr lang="en-US" sz="1400" i="1" dirty="0">
                <a:solidFill>
                  <a:srgbClr val="CBD5E1"/>
                </a:solidFill>
              </a:rPr>
              <a:t>A JDBC source connector reading 200 GB/day is lagging by hours. tasks.max=1, default batch sizes, all on one worker. Tune it.</a:t>
            </a:r>
          </a:p>
          <a:p>
            <a:pPr>
              <a:buNone/>
            </a:pPr>
            <a:r>
              <a:rPr lang="en-US" sz="1500" b="1" dirty="0">
                <a:solidFill>
                  <a:srgbClr val="22D3EE"/>
                </a:solidFill>
              </a:rPr>
              <a:t>Knobs to try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tasks.max=8                          # parallelism cap — match to source partitions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batch.max.rows=2000                  # rows per JDBC poll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poll.interval.ms=2000                # how often source polls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producer.override.batch.size=65536   # bigger Kafka producer batches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producer.override.linger.ms=20       # let batches fill before sending</a:t>
            </a:r>
          </a:p>
          <a:p>
            <a:pPr>
              <a:buNone/>
            </a:pPr>
            <a:r>
              <a:rPr lang="en-US" sz="1200" dirty="0">
                <a:solidFill>
                  <a:srgbClr val="CBD5E1"/>
                </a:solidFill>
                <a:latin typeface="Consolas"/>
              </a:rPr>
              <a:t>producer.override.compression.type=lz4</a:t>
            </a:r>
          </a:p>
          <a:p>
            <a:pPr>
              <a:buNone/>
            </a:pPr>
            <a:r>
              <a:rPr lang="en-US" sz="1500" b="1" dirty="0">
                <a:solidFill>
                  <a:srgbClr val="22D3EE"/>
                </a:solidFill>
              </a:rPr>
              <a:t>Discuss</a:t>
            </a:r>
          </a:p>
          <a:p>
            <a:pPr marL="285750" indent="-285750">
              <a:buFont typeface="Arial"/>
              <a:buChar char="•"/>
            </a:pPr>
            <a:r>
              <a:rPr lang="en-US" sz="1300" dirty="0"/>
              <a:t>Which knob would you change FIRST, and how do you measure the impact?</a:t>
            </a:r>
          </a:p>
          <a:p>
            <a:pPr marL="285750" indent="-285750">
              <a:buFont typeface="Arial"/>
              <a:buChar char="•"/>
            </a:pPr>
            <a:r>
              <a:rPr lang="en-US" sz="1300" dirty="0"/>
              <a:t>At what point do you add a second worker vs. keep tuning the existing one?</a:t>
            </a:r>
          </a:p>
          <a:p>
            <a:pPr marL="285750" indent="-285750">
              <a:buFont typeface="Arial"/>
              <a:buChar char="•"/>
            </a:pPr>
            <a:r>
              <a:rPr lang="en-US" sz="1300" dirty="0"/>
              <a:t>How does compression.type interact with broker disk and consumer CPU?</a:t>
            </a:r>
          </a:p>
        </p:txBody>
      </p:sp>
    </p:spTree>
    <p:extLst>
      <p:ext uri="{BB962C8B-B14F-4D97-AF65-F5344CB8AC3E}">
        <p14:creationId xmlns:p14="http://schemas.microsoft.com/office/powerpoint/2010/main" val="17470568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ts val="1800"/>
              </a:lnSpc>
              <a:spcBef>
                <a:spcPts val="200"/>
              </a:spcBef>
              <a:buFont typeface="Arial"/>
              <a:buChar char="•"/>
            </a:pPr>
            <a:r>
              <a:rPr lang="en-US" sz="1600" b="1" dirty="0"/>
              <a:t>Run distributed in production</a:t>
            </a:r>
          </a:p>
          <a:p>
            <a:pPr marL="571500" lvl="1" indent="-228600">
              <a:lnSpc>
                <a:spcPts val="1600"/>
              </a:lnSpc>
              <a:buFont typeface="Arial"/>
              <a:buChar char="◦"/>
            </a:pPr>
            <a:r>
              <a:rPr lang="en-US" sz="1400" dirty="0"/>
              <a:t>Replicated config / offset / status topics, rolling worker upgrades, rebalance on failure</a:t>
            </a:r>
          </a:p>
          <a:p>
            <a:pPr marL="28575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Govern schemas with Schema Registry</a:t>
            </a:r>
          </a:p>
          <a:p>
            <a:pPr marL="571500" lvl="1" indent="-228600">
              <a:lnSpc>
                <a:spcPts val="1600"/>
              </a:lnSpc>
              <a:buFont typeface="Arial"/>
              <a:buChar char="◦"/>
            </a:pPr>
            <a:r>
              <a:rPr lang="en-US" sz="1400" dirty="0"/>
              <a:t>Avro/Protobuf with BACKWARD compatibility — catch breaking changes before deploy</a:t>
            </a:r>
          </a:p>
          <a:p>
            <a:pPr marL="28575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Always configure a DLQ</a:t>
            </a:r>
          </a:p>
          <a:p>
            <a:pPr marL="571500" lvl="1" indent="-228600">
              <a:lnSpc>
                <a:spcPts val="1600"/>
              </a:lnSpc>
              <a:buFont typeface="Arial"/>
              <a:buChar char="◦"/>
            </a:pPr>
            <a:r>
              <a:rPr lang="en-US" sz="1400" dirty="0"/>
              <a:t>errors.tolerance=all + DLQ topic + headers — never drop or block on bad records</a:t>
            </a:r>
          </a:p>
          <a:p>
            <a:pPr marL="28575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Version-control connector configs</a:t>
            </a:r>
          </a:p>
          <a:p>
            <a:pPr marL="571500" lvl="1" indent="-228600">
              <a:lnSpc>
                <a:spcPts val="1600"/>
              </a:lnSpc>
              <a:buFont typeface="Arial"/>
              <a:buChar char="◦"/>
            </a:pPr>
            <a:r>
              <a:rPr lang="en-US" sz="1400" dirty="0"/>
              <a:t>JSON in git; deploy via CI/CD with REST API, not ad-hoc curl from laptops</a:t>
            </a:r>
          </a:p>
        </p:txBody>
      </p:sp>
    </p:spTree>
    <p:extLst>
      <p:ext uri="{BB962C8B-B14F-4D97-AF65-F5344CB8AC3E}">
        <p14:creationId xmlns:p14="http://schemas.microsoft.com/office/powerpoint/2010/main" val="13286743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ts val="1800"/>
              </a:lnSpc>
              <a:spcBef>
                <a:spcPts val="200"/>
              </a:spcBef>
              <a:buFont typeface="Arial"/>
              <a:buChar char="•"/>
            </a:pPr>
            <a:r>
              <a:rPr lang="en-US" sz="1600" b="1" dirty="0"/>
              <a:t>When would you choose Kafka Connect over a custom producer/consumer?</a:t>
            </a:r>
          </a:p>
          <a:p>
            <a:pPr marL="28575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How does Connect achieve exactly-once for source vs. sink connectors?</a:t>
            </a:r>
          </a:p>
          <a:p>
            <a:pPr marL="28575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What is the rebalance protocol, and what triggers a rebalance?</a:t>
            </a:r>
          </a:p>
          <a:p>
            <a:pPr marL="28575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Walk through routing a bad record to a DLQ with full headers.</a:t>
            </a:r>
          </a:p>
          <a:p>
            <a:pPr marL="28575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Compare incrementing, timestamp, and bulk modes for the JDBC Source connector.</a:t>
            </a:r>
          </a:p>
          <a:p>
            <a:pPr marL="28575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How does Debezium differ from polling-based CDC, and what are its trade-offs?</a:t>
            </a:r>
          </a:p>
        </p:txBody>
      </p:sp>
    </p:spTree>
    <p:extLst>
      <p:ext uri="{BB962C8B-B14F-4D97-AF65-F5344CB8AC3E}">
        <p14:creationId xmlns:p14="http://schemas.microsoft.com/office/powerpoint/2010/main" val="33166255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Kafka Connect is a pluggable integration framework</a:t>
            </a:r>
          </a:p>
          <a:p>
            <a:pPr marL="571500" lvl="1" indent="-228600">
              <a:lnSpc>
                <a:spcPts val="1600"/>
              </a:lnSpc>
              <a:spcBef>
                <a:spcPts val="200"/>
              </a:spcBef>
              <a:buFont typeface="Arial"/>
              <a:buChar char="◦"/>
            </a:pPr>
            <a:r>
              <a:rPr lang="en-US" sz="1400" dirty="0"/>
              <a:t>Streams data in and out of Kafka with config, not custom code</a:t>
            </a:r>
          </a:p>
          <a:p>
            <a:pPr marL="285750" lvl="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Source vs Sink — two halves of every pipeline</a:t>
            </a:r>
          </a:p>
          <a:p>
            <a:pPr marL="571500" lvl="1" indent="-228600">
              <a:lnSpc>
                <a:spcPts val="1600"/>
              </a:lnSpc>
              <a:spcBef>
                <a:spcPts val="200"/>
              </a:spcBef>
              <a:buFont typeface="Arial"/>
              <a:buChar char="◦"/>
            </a:pPr>
            <a:r>
              <a:rPr lang="en-US" sz="1400" dirty="0"/>
              <a:t>JDBC, Debezium CDC, file, Elasticsearch, S3, REST proxy, custom</a:t>
            </a:r>
          </a:p>
          <a:p>
            <a:pPr marL="285750" lvl="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Distributed mode gives production resilience</a:t>
            </a:r>
          </a:p>
          <a:p>
            <a:pPr marL="571500" lvl="1" indent="-228600">
              <a:lnSpc>
                <a:spcPts val="1600"/>
              </a:lnSpc>
              <a:spcBef>
                <a:spcPts val="200"/>
              </a:spcBef>
              <a:buFont typeface="Arial"/>
              <a:buChar char="◦"/>
            </a:pPr>
            <a:r>
              <a:rPr lang="en-US" sz="1400" dirty="0"/>
              <a:t>Workers, rebalancing, internal topics — manage via the REST API</a:t>
            </a:r>
          </a:p>
          <a:p>
            <a:pPr marL="285750" lvl="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SMTs, converters, and DLQs shape the data in flight</a:t>
            </a:r>
          </a:p>
          <a:p>
            <a:pPr marL="571500" lvl="1" indent="-228600">
              <a:lnSpc>
                <a:spcPts val="1600"/>
              </a:lnSpc>
              <a:spcBef>
                <a:spcPts val="200"/>
              </a:spcBef>
              <a:buFont typeface="Arial"/>
              <a:buChar char="◦"/>
            </a:pPr>
            <a:r>
              <a:rPr lang="en-US" sz="1400" dirty="0"/>
              <a:t>Schema Registry + Avro/Protobuf keep producers and consumers in sync</a:t>
            </a:r>
          </a:p>
          <a:p>
            <a:pPr marL="285750" lvl="0" indent="-285750">
              <a:lnSpc>
                <a:spcPts val="1800"/>
              </a:lnSpc>
              <a:spcBef>
                <a:spcPts val="400"/>
              </a:spcBef>
              <a:buFont typeface="Arial"/>
              <a:buChar char="•"/>
            </a:pPr>
            <a:r>
              <a:rPr lang="en-US" sz="1600" b="1" dirty="0"/>
              <a:t>Operate it like any other distributed service</a:t>
            </a:r>
          </a:p>
          <a:p>
            <a:pPr marL="571500" lvl="1" indent="-228600">
              <a:lnSpc>
                <a:spcPts val="1600"/>
              </a:lnSpc>
              <a:spcBef>
                <a:spcPts val="200"/>
              </a:spcBef>
              <a:buFont typeface="Arial"/>
              <a:buChar char="◦"/>
            </a:pPr>
            <a:r>
              <a:rPr lang="en-US" sz="1400" dirty="0"/>
              <a:t>Monitor JMX metrics, tune tasks.max and batch size, secure with SSL/SASL</a:t>
            </a:r>
          </a:p>
        </p:txBody>
      </p:sp>
    </p:spTree>
    <p:extLst>
      <p:ext uri="{BB962C8B-B14F-4D97-AF65-F5344CB8AC3E}">
        <p14:creationId xmlns:p14="http://schemas.microsoft.com/office/powerpoint/2010/main" val="3169460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 [1779643740374]">
  <a:themeElements>
    <a:clrScheme name="Integral">
      <a:dk1>
        <a:srgbClr val="F4F4F5"/>
      </a:dk1>
      <a:lt1>
        <a:srgbClr val="0E1116"/>
      </a:lt1>
      <a:dk2>
        <a:srgbClr val="E4E4E7"/>
      </a:dk2>
      <a:lt2>
        <a:srgbClr val="1F2937"/>
      </a:lt2>
      <a:accent1>
        <a:srgbClr val="E94B4B"/>
      </a:accent1>
      <a:accent2>
        <a:srgbClr val="22D3EE"/>
      </a:accent2>
      <a:accent3>
        <a:srgbClr val="A78BFA"/>
      </a:accent3>
      <a:accent4>
        <a:srgbClr val="A3E635"/>
      </a:accent4>
      <a:accent5>
        <a:srgbClr val="FBBF24"/>
      </a:accent5>
      <a:accent6>
        <a:srgbClr val="64748B"/>
      </a:accent6>
      <a:hlink>
        <a:srgbClr val="6B9F25"/>
      </a:hlink>
      <a:folHlink>
        <a:srgbClr val="B26B02"/>
      </a:folHlink>
    </a:clrScheme>
    <a:fontScheme name="Integral">
      <a:majorFont>
        <a:latin typeface="Inter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Inter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10AE13-963D-4DCE-8BD5-789562AEEC5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290e073-4092-41a8-973b-25fa443a12f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76</TotalTime>
  <Words>4090</Words>
  <Application>Microsoft Office PowerPoint</Application>
  <PresentationFormat>On-screen Show (4:3)</PresentationFormat>
  <Paragraphs>481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Consolas</vt:lpstr>
      <vt:lpstr>Inter</vt:lpstr>
      <vt:lpstr>Tw Cen MT</vt:lpstr>
      <vt:lpstr>Wingdings 3</vt:lpstr>
      <vt:lpstr>Integral [1779643740374]</vt:lpstr>
      <vt:lpstr>Kafka Connect &amp; API Integration</vt:lpstr>
      <vt:lpstr>Learning Objectives</vt:lpstr>
      <vt:lpstr>Introduction to Kafka Connect</vt:lpstr>
      <vt:lpstr>Why Kafka Connect?</vt:lpstr>
      <vt:lpstr>Kafka Connect Architecture</vt:lpstr>
      <vt:lpstr>Kafka Connect Architecture</vt:lpstr>
      <vt:lpstr>Kafka Connect Components</vt:lpstr>
      <vt:lpstr>Lab - Identify Connect Components</vt:lpstr>
      <vt:lpstr>Standalone vs Distributed Mode</vt:lpstr>
      <vt:lpstr>Standalone vs Distributed Mode</vt:lpstr>
      <vt:lpstr>Source Connectors</vt:lpstr>
      <vt:lpstr>Sink Connectors</vt:lpstr>
      <vt:lpstr>Source vs Sink - Data Flow</vt:lpstr>
      <vt:lpstr>JDBC Source Connector</vt:lpstr>
      <vt:lpstr>JDBC Source Connector Workflow</vt:lpstr>
      <vt:lpstr>Lab-Configure PostgreSQL Source Connector</vt:lpstr>
      <vt:lpstr>Sample PostgreSQL Connector Configuration</vt:lpstr>
      <vt:lpstr>JDBC Sink Connector</vt:lpstr>
      <vt:lpstr>Lab - Design a JDBC Sink Pipeline</vt:lpstr>
      <vt:lpstr>Elasticsearch Connector</vt:lpstr>
      <vt:lpstr>Elasticsearch Connector Workflow</vt:lpstr>
      <vt:lpstr>JDBC → Kafka → Elasticsearch Pipeline</vt:lpstr>
      <vt:lpstr>Lab 3 - Push Kafka Data to Elasticsearch</vt:lpstr>
      <vt:lpstr>Sample Elasticsearch Connector Config</vt:lpstr>
      <vt:lpstr>Kafka REST Proxy</vt:lpstr>
      <vt:lpstr>REST Proxy Features</vt:lpstr>
      <vt:lpstr>API Integration with Kafka</vt:lpstr>
      <vt:lpstr>REST Proxy - API Integration Topology</vt:lpstr>
      <vt:lpstr>Single Message Transforms (SMTs)</vt:lpstr>
      <vt:lpstr>Lab - Build an SMT Chain</vt:lpstr>
      <vt:lpstr>Kafka Connect Data Flow</vt:lpstr>
      <vt:lpstr>Kafka Connect REST API</vt:lpstr>
      <vt:lpstr>Kafka Connect — Record Data Flow</vt:lpstr>
      <vt:lpstr>CDC (Change Data Capture) Concept</vt:lpstr>
      <vt:lpstr>CDC with Debezium — Log-Based Capture</vt:lpstr>
      <vt:lpstr>Lab - Stream DB Changes into Kafka</vt:lpstr>
      <vt:lpstr>Monitoring Kafka Connect</vt:lpstr>
      <vt:lpstr>Lab - Drive Connect with curl</vt:lpstr>
      <vt:lpstr>Error Handling in Kafka Connect</vt:lpstr>
      <vt:lpstr>Advanced Topic - Custom Connector Overview</vt:lpstr>
      <vt:lpstr>Custom Connector Components</vt:lpstr>
      <vt:lpstr>PowerPoint Presentation</vt:lpstr>
      <vt:lpstr>Security Considerations</vt:lpstr>
      <vt:lpstr>Performance Optimization</vt:lpstr>
      <vt:lpstr>Lab - Tune a Slow Connector</vt:lpstr>
      <vt:lpstr>Best Practices</vt:lpstr>
      <vt:lpstr>Common Interview Questions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17</cp:revision>
  <dcterms:created xsi:type="dcterms:W3CDTF">2013-01-27T09:14:16Z</dcterms:created>
  <dcterms:modified xsi:type="dcterms:W3CDTF">2026-05-24T18:03:56Z</dcterms:modified>
  <cp:category/>
</cp:coreProperties>
</file>