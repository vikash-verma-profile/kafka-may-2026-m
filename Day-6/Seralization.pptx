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sldIdLst>
    <p:sldId id="356" r:id="rId2"/>
    <p:sldId id="285" r:id="rId3"/>
    <p:sldId id="286" r:id="rId4"/>
    <p:sldId id="287" r:id="rId5"/>
    <p:sldId id="367" r:id="rId6"/>
    <p:sldId id="290" r:id="rId7"/>
    <p:sldId id="293" r:id="rId8"/>
    <p:sldId id="295" r:id="rId9"/>
    <p:sldId id="296" r:id="rId10"/>
    <p:sldId id="297" r:id="rId11"/>
    <p:sldId id="371" r:id="rId12"/>
    <p:sldId id="299" r:id="rId13"/>
    <p:sldId id="292" r:id="rId14"/>
    <p:sldId id="301" r:id="rId15"/>
    <p:sldId id="302" r:id="rId16"/>
    <p:sldId id="372" r:id="rId17"/>
    <p:sldId id="306" r:id="rId18"/>
    <p:sldId id="307" r:id="rId19"/>
    <p:sldId id="308" r:id="rId20"/>
    <p:sldId id="309" r:id="rId21"/>
    <p:sldId id="310" r:id="rId22"/>
    <p:sldId id="315" r:id="rId23"/>
    <p:sldId id="332" r:id="rId24"/>
    <p:sldId id="311" r:id="rId25"/>
    <p:sldId id="312" r:id="rId26"/>
    <p:sldId id="313" r:id="rId27"/>
    <p:sldId id="373" r:id="rId28"/>
    <p:sldId id="319" r:id="rId29"/>
    <p:sldId id="318" r:id="rId30"/>
    <p:sldId id="322" r:id="rId31"/>
    <p:sldId id="321" r:id="rId32"/>
    <p:sldId id="325" r:id="rId33"/>
    <p:sldId id="374" r:id="rId34"/>
    <p:sldId id="326" r:id="rId35"/>
    <p:sldId id="324" r:id="rId36"/>
    <p:sldId id="331" r:id="rId37"/>
    <p:sldId id="32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3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286000"/>
            <a:ext cx="7620000" cy="177800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445000"/>
            <a:ext cx="7620000" cy="63500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601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84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775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685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853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725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34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697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589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46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rgbClr val="58A6FF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rgbClr val="E6EDF3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rgbClr val="E6EDF3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6EDF3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6EDF3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6EDF3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6EDF3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6EDF3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6EDF3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6EDF3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E6EDF3"/>
          </a:solidFill>
        </a:defRPr>
      </a:defPPr>
      <a:lvl1pPr marL="0" algn="l" defTabSz="914400" rtl="0" eaLnBrk="1" latinLnBrk="0" hangingPunct="1">
        <a:defRPr sz="1800" kern="1200">
          <a:solidFill>
            <a:srgbClr val="E6EDF3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E6EDF3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E6EDF3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E6EDF3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E6EDF3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E6EDF3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E6EDF3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E6EDF3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E6EDF3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540000"/>
            <a:ext cx="7620000" cy="177800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Serialization &amp; Schema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445000"/>
            <a:ext cx="7620000" cy="635000"/>
          </a:xfrm>
        </p:spPr>
        <p:txBody>
          <a:bodyPr/>
          <a:lstStyle/>
          <a:p>
            <a:r>
              <a:rPr lang="en-US" dirty="0"/>
              <a:t>Vikash Verma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06622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US" sz="1800" dirty="0"/>
              <a:t>Understand serialization &amp; deserialization in distributed systems</a:t>
            </a:r>
          </a:p>
          <a:p>
            <a:pPr>
              <a:defRPr sz="1800"/>
            </a:pPr>
            <a:r>
              <a:rPr lang="en-US" sz="1800" dirty="0"/>
              <a:t>Compare JSON, XML, Avro &amp; Protobuf — size, speed, readability</a:t>
            </a:r>
          </a:p>
          <a:p>
            <a:pPr>
              <a:defRPr sz="1800"/>
            </a:pPr>
            <a:r>
              <a:rPr lang="en-US" sz="1800" dirty="0"/>
              <a:t>Master Schema Registry architecture &amp; workflow</a:t>
            </a:r>
          </a:p>
          <a:p>
            <a:pPr>
              <a:defRPr sz="1800"/>
            </a:pPr>
            <a:r>
              <a:rPr lang="en-US" sz="1800" dirty="0"/>
              <a:t>Implement Avro serialization in Kafka producers &amp; consumers</a:t>
            </a:r>
          </a:p>
          <a:p>
            <a:pPr>
              <a:defRPr sz="1800"/>
            </a:pPr>
            <a:r>
              <a:rPr lang="en-US" sz="1800" dirty="0"/>
              <a:t>Apply schema evolution &amp; compatibility rules safely</a:t>
            </a:r>
          </a:p>
          <a:p>
            <a:pPr>
              <a:defRPr sz="1800"/>
            </a:pPr>
            <a:r>
              <a:rPr lang="en-US" sz="1800" dirty="0"/>
              <a:t>Complete 6 hands-on labs with checkpoint verification</a:t>
            </a:r>
          </a:p>
          <a:p>
            <a:pPr>
              <a:defRPr sz="1800"/>
            </a:pPr>
            <a:r>
              <a:rPr lang="en-US" sz="1800" b="1" dirty="0"/>
              <a:t>Outcome: </a:t>
            </a:r>
            <a:r>
              <a:rPr lang="en-US" sz="1800" dirty="0"/>
              <a:t>Confidently design &amp; ship schema-governed Kafka pipelines</a:t>
            </a:r>
          </a:p>
        </p:txBody>
      </p:sp>
    </p:spTree>
    <p:extLst>
      <p:ext uri="{BB962C8B-B14F-4D97-AF65-F5344CB8AC3E}">
        <p14:creationId xmlns:p14="http://schemas.microsoft.com/office/powerpoint/2010/main" val="3781516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Serialization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US" sz="1800" b="1" dirty="0"/>
              <a:t>Serialization</a:t>
            </a:r>
            <a:r>
              <a:rPr lang="en-US" sz="1800" dirty="0"/>
              <a:t>: in-memory object → byte stream (so it can travel or be stored)</a:t>
            </a:r>
          </a:p>
          <a:p>
            <a:pPr>
              <a:defRPr sz="1800"/>
            </a:pPr>
            <a:r>
              <a:rPr lang="en-US" sz="1800" b="1" dirty="0"/>
              <a:t>Deserialization</a:t>
            </a:r>
            <a:r>
              <a:rPr lang="en-US" sz="1800" dirty="0"/>
              <a:t>: byte stream → reconstructed object on the other side</a:t>
            </a:r>
          </a:p>
          <a:p>
            <a:pPr>
              <a:defRPr sz="1800"/>
            </a:pPr>
            <a:r>
              <a:rPr lang="en-US" sz="1800" dirty="0"/>
              <a:t>Needed for network transport (Kafka, HTTP, RPC) &amp; persistence (disk, DB, cache)</a:t>
            </a:r>
          </a:p>
          <a:p>
            <a:pPr>
              <a:defRPr sz="1800"/>
            </a:pPr>
            <a:r>
              <a:rPr lang="en-US" sz="1800" dirty="0"/>
              <a:t>Kafka producers serialize before send; consumers deserialize after fetch</a:t>
            </a:r>
          </a:p>
          <a:p>
            <a:pPr>
              <a:defRPr sz="1800"/>
            </a:pPr>
            <a:r>
              <a:rPr lang="en-US" sz="1800" dirty="0"/>
              <a:t>Common formats: </a:t>
            </a:r>
            <a:r>
              <a:rPr lang="en-US" sz="1800" b="1" dirty="0"/>
              <a:t>JSON, XML, Avro, Protobuf</a:t>
            </a:r>
            <a:r>
              <a:rPr lang="en-US" sz="1800" dirty="0"/>
              <a:t> (we'll compare all four)</a:t>
            </a:r>
          </a:p>
          <a:p>
            <a:pPr>
              <a:defRPr sz="1800"/>
            </a:pPr>
            <a:r>
              <a:rPr lang="en-US" sz="1800" i="1" dirty="0"/>
              <a:t>Analogy: like packing a suitcase — same items, different shape for travel</a:t>
            </a:r>
          </a:p>
        </p:txBody>
      </p:sp>
    </p:spTree>
    <p:extLst>
      <p:ext uri="{BB962C8B-B14F-4D97-AF65-F5344CB8AC3E}">
        <p14:creationId xmlns:p14="http://schemas.microsoft.com/office/powerpoint/2010/main" val="1093100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Serialization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US" sz="1800" b="1" dirty="0"/>
              <a:t>Smaller payloads</a:t>
            </a:r>
            <a:r>
              <a:rPr lang="en-US" sz="1800" dirty="0"/>
              <a:t> → less bandwidth, faster throughput, lower storage cost</a:t>
            </a:r>
          </a:p>
          <a:p>
            <a:pPr>
              <a:defRPr sz="1800"/>
            </a:pPr>
            <a:r>
              <a:rPr lang="en-US" sz="1800" b="1" dirty="0"/>
              <a:t>Faster ser/de</a:t>
            </a:r>
            <a:r>
              <a:rPr lang="en-US" sz="1800" dirty="0"/>
              <a:t> → critical at millions of messages/sec</a:t>
            </a:r>
          </a:p>
          <a:p>
            <a:pPr>
              <a:defRPr sz="1800"/>
            </a:pPr>
            <a:r>
              <a:rPr lang="en-US" sz="1800" b="1" dirty="0"/>
              <a:t>Strong typing</a:t>
            </a:r>
            <a:r>
              <a:rPr lang="en-US" sz="1800" dirty="0"/>
              <a:t> → contract between producer &amp; consumer, fewer runtime surprises</a:t>
            </a:r>
          </a:p>
          <a:p>
            <a:pPr>
              <a:defRPr sz="1800"/>
            </a:pPr>
            <a:r>
              <a:rPr lang="en-US" sz="1800" b="1" dirty="0"/>
              <a:t>Cross-language interop</a:t>
            </a:r>
            <a:r>
              <a:rPr lang="en-US" sz="1800" dirty="0"/>
              <a:t> → Java producer ↔ Python consumer ↔ Go service</a:t>
            </a:r>
          </a:p>
          <a:p>
            <a:pPr>
              <a:defRPr sz="1800"/>
            </a:pPr>
            <a:r>
              <a:rPr lang="en-US" sz="1800" b="1" dirty="0"/>
              <a:t>Schema evolution</a:t>
            </a:r>
            <a:r>
              <a:rPr lang="en-US" sz="1800" dirty="0"/>
              <a:t> → add fields without breaking old consumers</a:t>
            </a:r>
          </a:p>
          <a:p>
            <a:pPr>
              <a:defRPr sz="1800"/>
            </a:pPr>
            <a:r>
              <a:rPr lang="en-US" sz="1800" dirty="0"/>
              <a:t>Real example: 1 KB JSON event → ~200 B Avro = </a:t>
            </a:r>
            <a:r>
              <a:rPr lang="en-US" sz="1800" b="1" dirty="0"/>
              <a:t>5× cheaper at scale</a:t>
            </a:r>
          </a:p>
        </p:txBody>
      </p:sp>
    </p:spTree>
    <p:extLst>
      <p:ext uri="{BB962C8B-B14F-4D97-AF65-F5344CB8AC3E}">
        <p14:creationId xmlns:p14="http://schemas.microsoft.com/office/powerpoint/2010/main" val="3741737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3B73E-C088-3A0C-9CA9-47092DA70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/>
              <a:t>Object → Bytes → Object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0AEBD30-ABCD-439D-92FA-0B4EA0A75AB6}"/>
              </a:ext>
            </a:extLst>
          </p:cNvPr>
          <p:cNvSpPr/>
          <p:nvPr/>
        </p:nvSpPr>
        <p:spPr>
          <a:xfrm>
            <a:off x="673100" y="2603500"/>
            <a:ext cx="1397000" cy="1016000"/>
          </a:xfrm>
          <a:prstGeom prst="roundRect">
            <a:avLst/>
          </a:prstGeom>
          <a:solidFill>
            <a:srgbClr val="A371F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Object</a:t>
            </a:r>
            <a:br>
              <a:rPr lang="en-US" sz="1300" b="1" dirty="0">
                <a:solidFill>
                  <a:srgbClr val="FFFFFF"/>
                </a:solidFill>
              </a:rPr>
            </a:br>
            <a:r>
              <a:rPr lang="en-US" sz="1300" b="1" dirty="0">
                <a:solidFill>
                  <a:srgbClr val="FFFFFF"/>
                </a:solidFill>
              </a:rPr>
              <a:t>(POJO)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849B90A-E858-4338-B431-B9F8814BCB9E}"/>
              </a:ext>
            </a:extLst>
          </p:cNvPr>
          <p:cNvSpPr/>
          <p:nvPr/>
        </p:nvSpPr>
        <p:spPr>
          <a:xfrm>
            <a:off x="2273300" y="2603500"/>
            <a:ext cx="1397000" cy="1016000"/>
          </a:xfrm>
          <a:prstGeom prst="roundRect">
            <a:avLst/>
          </a:prstGeom>
          <a:solidFill>
            <a:srgbClr val="58A6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Serializer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ED5CE6-4122-44F1-AC0C-1D653E48DA70}"/>
              </a:ext>
            </a:extLst>
          </p:cNvPr>
          <p:cNvSpPr/>
          <p:nvPr/>
        </p:nvSpPr>
        <p:spPr>
          <a:xfrm>
            <a:off x="3873500" y="2603500"/>
            <a:ext cx="1397000" cy="1016000"/>
          </a:xfrm>
          <a:prstGeom prst="roundRect">
            <a:avLst/>
          </a:prstGeom>
          <a:solidFill>
            <a:srgbClr val="FFA65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300" b="1" dirty="0">
                <a:solidFill>
                  <a:srgbClr val="0E1117"/>
                </a:solidFill>
              </a:rPr>
              <a:t>Byte Stream</a:t>
            </a:r>
            <a:br>
              <a:rPr lang="en-US" sz="1100" b="0" dirty="0">
                <a:solidFill>
                  <a:srgbClr val="0E1117"/>
                </a:solidFill>
              </a:rPr>
            </a:br>
            <a:r>
              <a:rPr lang="en-US" sz="1100" b="0" dirty="0">
                <a:solidFill>
                  <a:srgbClr val="0E1117"/>
                </a:solidFill>
              </a:rPr>
              <a:t>01001011…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A08D47-0675-41BE-B996-F20FBFB6A3FA}"/>
              </a:ext>
            </a:extLst>
          </p:cNvPr>
          <p:cNvSpPr/>
          <p:nvPr/>
        </p:nvSpPr>
        <p:spPr>
          <a:xfrm>
            <a:off x="5473700" y="2603500"/>
            <a:ext cx="1397000" cy="1016000"/>
          </a:xfrm>
          <a:prstGeom prst="roundRect">
            <a:avLst/>
          </a:prstGeom>
          <a:solidFill>
            <a:srgbClr val="58A6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Deserializer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4C67207-4D5A-4664-A251-3C9D7FF26755}"/>
              </a:ext>
            </a:extLst>
          </p:cNvPr>
          <p:cNvSpPr/>
          <p:nvPr/>
        </p:nvSpPr>
        <p:spPr>
          <a:xfrm>
            <a:off x="7073900" y="2603500"/>
            <a:ext cx="1397000" cy="1016000"/>
          </a:xfrm>
          <a:prstGeom prst="roundRect">
            <a:avLst/>
          </a:prstGeom>
          <a:solidFill>
            <a:srgbClr val="A371F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Object</a:t>
            </a:r>
            <a:br>
              <a:rPr lang="en-US" sz="1300" b="1" dirty="0">
                <a:solidFill>
                  <a:srgbClr val="FFFFFF"/>
                </a:solidFill>
              </a:rPr>
            </a:br>
            <a:r>
              <a:rPr lang="en-US" sz="1300" b="1" dirty="0">
                <a:solidFill>
                  <a:srgbClr val="FFFFFF"/>
                </a:solidFill>
              </a:rPr>
              <a:t>(POJO)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9EB6CEE-5F38-4D14-9B4E-1CCA78050520}"/>
              </a:ext>
            </a:extLst>
          </p:cNvPr>
          <p:cNvSpPr/>
          <p:nvPr/>
        </p:nvSpPr>
        <p:spPr>
          <a:xfrm>
            <a:off x="2070100" y="2984500"/>
            <a:ext cx="203200" cy="254000"/>
          </a:xfrm>
          <a:prstGeom prst="rightArrow">
            <a:avLst/>
          </a:prstGeom>
          <a:solidFill>
            <a:srgbClr val="58A6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5842C23-13A4-44B3-A7EC-632DAE1C26BE}"/>
              </a:ext>
            </a:extLst>
          </p:cNvPr>
          <p:cNvSpPr/>
          <p:nvPr/>
        </p:nvSpPr>
        <p:spPr>
          <a:xfrm>
            <a:off x="3670300" y="2984500"/>
            <a:ext cx="203200" cy="254000"/>
          </a:xfrm>
          <a:prstGeom prst="rightArrow">
            <a:avLst/>
          </a:prstGeom>
          <a:solidFill>
            <a:srgbClr val="58A6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C9E6DD4-6217-4629-8076-F4DE90A6206D}"/>
              </a:ext>
            </a:extLst>
          </p:cNvPr>
          <p:cNvSpPr/>
          <p:nvPr/>
        </p:nvSpPr>
        <p:spPr>
          <a:xfrm>
            <a:off x="5270500" y="2984500"/>
            <a:ext cx="203200" cy="254000"/>
          </a:xfrm>
          <a:prstGeom prst="rightArrow">
            <a:avLst/>
          </a:prstGeom>
          <a:solidFill>
            <a:srgbClr val="58A6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3CC940A-D965-4142-91CF-469DECA26346}"/>
              </a:ext>
            </a:extLst>
          </p:cNvPr>
          <p:cNvSpPr/>
          <p:nvPr/>
        </p:nvSpPr>
        <p:spPr>
          <a:xfrm>
            <a:off x="6870700" y="2984500"/>
            <a:ext cx="203200" cy="254000"/>
          </a:xfrm>
          <a:prstGeom prst="rightArrow">
            <a:avLst/>
          </a:prstGeom>
          <a:solidFill>
            <a:srgbClr val="58A6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9A7AD4-1F0E-4CDF-A678-18B7C73A12C4}"/>
              </a:ext>
            </a:extLst>
          </p:cNvPr>
          <p:cNvSpPr txBox="1"/>
          <p:nvPr/>
        </p:nvSpPr>
        <p:spPr>
          <a:xfrm>
            <a:off x="673100" y="2222500"/>
            <a:ext cx="3073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400" b="1" dirty="0">
                <a:solidFill>
                  <a:srgbClr val="79C0FF"/>
                </a:solidFill>
              </a:rPr>
              <a:t>Producer side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F3C1B7-7F2D-483D-B6D8-88F2B078B181}"/>
              </a:ext>
            </a:extLst>
          </p:cNvPr>
          <p:cNvSpPr txBox="1"/>
          <p:nvPr/>
        </p:nvSpPr>
        <p:spPr>
          <a:xfrm>
            <a:off x="3619500" y="2222500"/>
            <a:ext cx="190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400" b="1" dirty="0">
                <a:solidFill>
                  <a:srgbClr val="79C0FF"/>
                </a:solidFill>
              </a:rPr>
              <a:t>Wire / Storage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5B6D61-5537-483D-AB07-B9A3F89D2577}"/>
              </a:ext>
            </a:extLst>
          </p:cNvPr>
          <p:cNvSpPr txBox="1"/>
          <p:nvPr/>
        </p:nvSpPr>
        <p:spPr>
          <a:xfrm>
            <a:off x="5473700" y="2222500"/>
            <a:ext cx="3073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400" b="1" dirty="0">
                <a:solidFill>
                  <a:srgbClr val="79C0FF"/>
                </a:solidFill>
              </a:rPr>
              <a:t>Consumer side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07058D-DED5-45A4-A253-3726FC861FBE}"/>
              </a:ext>
            </a:extLst>
          </p:cNvPr>
          <p:cNvSpPr txBox="1"/>
          <p:nvPr/>
        </p:nvSpPr>
        <p:spPr>
          <a:xfrm>
            <a:off x="762000" y="4127500"/>
            <a:ext cx="7620000" cy="91172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2200"/>
              </a:lnSpc>
              <a:buFont typeface="Arial"/>
              <a:buChar char="•"/>
            </a:pPr>
            <a:r>
              <a:rPr lang="en-US" sz="1500" dirty="0">
                <a:solidFill>
                  <a:srgbClr val="E6EDF3"/>
                </a:solidFill>
              </a:rPr>
              <a:t>The byte stream is what travels over the network or sits on disk</a:t>
            </a:r>
          </a:p>
          <a:p>
            <a:pPr algn="l">
              <a:lnSpc>
                <a:spcPts val="2200"/>
              </a:lnSpc>
              <a:buFont typeface="Arial"/>
              <a:buChar char="•"/>
            </a:pPr>
            <a:r>
              <a:rPr lang="en-US" sz="1500" dirty="0">
                <a:solidFill>
                  <a:srgbClr val="E6EDF3"/>
                </a:solidFill>
              </a:rPr>
              <a:t>Same format must be used on both ends — that's why schemas matter</a:t>
            </a:r>
          </a:p>
          <a:p>
            <a:pPr algn="l">
              <a:lnSpc>
                <a:spcPts val="2200"/>
              </a:lnSpc>
              <a:buFont typeface="Arial"/>
              <a:buChar char="•"/>
            </a:pPr>
            <a:r>
              <a:rPr lang="en-US" sz="1500" dirty="0">
                <a:solidFill>
                  <a:srgbClr val="E6EDF3"/>
                </a:solidFill>
              </a:rPr>
              <a:t>Goal: small bytes, fast conversion, no information loss</a:t>
            </a:r>
          </a:p>
        </p:txBody>
      </p:sp>
    </p:spTree>
    <p:extLst>
      <p:ext uri="{BB962C8B-B14F-4D97-AF65-F5344CB8AC3E}">
        <p14:creationId xmlns:p14="http://schemas.microsoft.com/office/powerpoint/2010/main" val="3244248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Serialization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US" sz="1800" dirty="0"/>
              <a:t>1. Producer holds a typed object (e.g. </a:t>
            </a:r>
            <a:r>
              <a:rPr lang="en-US" sz="1800" b="1" dirty="0"/>
              <a:t>Order, Employee</a:t>
            </a:r>
            <a:r>
              <a:rPr lang="en-US" sz="1800" dirty="0"/>
              <a:t>)</a:t>
            </a:r>
          </a:p>
          <a:p>
            <a:pPr>
              <a:defRPr sz="1800"/>
            </a:pPr>
            <a:r>
              <a:rPr lang="en-US" sz="1800" dirty="0"/>
              <a:t>2. </a:t>
            </a:r>
            <a:r>
              <a:rPr lang="en-US" sz="1800" b="1" dirty="0"/>
              <a:t>Serializer</a:t>
            </a:r>
            <a:r>
              <a:rPr lang="en-US" sz="1800" dirty="0"/>
              <a:t> converts it to bytes (JSON / Avro / Protobuf)</a:t>
            </a:r>
          </a:p>
          <a:p>
            <a:pPr>
              <a:defRPr sz="1800"/>
            </a:pPr>
            <a:r>
              <a:rPr lang="en-US" sz="1800" dirty="0"/>
              <a:t>3. Bytes written to a </a:t>
            </a:r>
            <a:r>
              <a:rPr lang="en-US" sz="1800" b="1" dirty="0"/>
              <a:t>Kafka topic partition</a:t>
            </a:r>
            <a:r>
              <a:rPr lang="en-US" sz="1800" dirty="0"/>
              <a:t> (durable, replicated)</a:t>
            </a:r>
          </a:p>
          <a:p>
            <a:pPr>
              <a:defRPr sz="1800"/>
            </a:pPr>
            <a:r>
              <a:rPr lang="en-US" sz="1800" dirty="0"/>
              <a:t>4. Consumer polls the topic, gets raw bytes</a:t>
            </a:r>
          </a:p>
          <a:p>
            <a:pPr>
              <a:defRPr sz="1800"/>
            </a:pPr>
            <a:r>
              <a:rPr lang="en-US" sz="1800" dirty="0"/>
              <a:t>5. </a:t>
            </a:r>
            <a:r>
              <a:rPr lang="en-US" sz="1800" b="1" dirty="0"/>
              <a:t>Deserializer</a:t>
            </a:r>
            <a:r>
              <a:rPr lang="en-US" sz="1800" dirty="0"/>
              <a:t> reconstructs the object using the schema</a:t>
            </a:r>
          </a:p>
          <a:p>
            <a:pPr>
              <a:defRPr sz="1800"/>
            </a:pPr>
            <a:r>
              <a:rPr lang="en-US" sz="1800" dirty="0"/>
              <a:t>6. </a:t>
            </a:r>
            <a:r>
              <a:rPr lang="en-US" sz="1800" b="1" dirty="0"/>
              <a:t>Schema Registry</a:t>
            </a:r>
            <a:r>
              <a:rPr lang="en-US" sz="1800" dirty="0"/>
              <a:t> validates compatibility &amp; stores versions</a:t>
            </a:r>
          </a:p>
          <a:p>
            <a:pPr>
              <a:defRPr sz="1800"/>
            </a:pPr>
            <a:r>
              <a:rPr lang="en-US" sz="1800" i="1" dirty="0"/>
              <a:t>Kafka itself stores only bytes — it doesn't care about the format</a:t>
            </a:r>
          </a:p>
        </p:txBody>
      </p:sp>
    </p:spTree>
    <p:extLst>
      <p:ext uri="{BB962C8B-B14F-4D97-AF65-F5344CB8AC3E}">
        <p14:creationId xmlns:p14="http://schemas.microsoft.com/office/powerpoint/2010/main" val="981374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JSON Serialization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US" sz="1800" b="1" dirty="0"/>
              <a:t>Text-based</a:t>
            </a:r>
            <a:r>
              <a:rPr lang="en-US" sz="1800" dirty="0"/>
              <a:t> — key/value pairs, human readable, great for debugging</a:t>
            </a:r>
          </a:p>
          <a:p>
            <a:pPr>
              <a:defRPr sz="1800"/>
            </a:pPr>
            <a:r>
              <a:rPr lang="en-US" sz="1800" b="1" dirty="0"/>
              <a:t>Schema-less</a:t>
            </a:r>
            <a:r>
              <a:rPr lang="en-US" sz="1800" dirty="0"/>
              <a:t> by default — flexible but risky; field name typos go unnoticed</a:t>
            </a:r>
          </a:p>
          <a:p>
            <a:pPr>
              <a:defRPr sz="1800"/>
            </a:pPr>
            <a:r>
              <a:rPr lang="en-US" sz="1800" b="1" dirty="0"/>
              <a:t>Large payload</a:t>
            </a:r>
            <a:r>
              <a:rPr lang="en-US" sz="1800" dirty="0"/>
              <a:t> — repeats every field name on every record</a:t>
            </a:r>
          </a:p>
          <a:p>
            <a:pPr>
              <a:defRPr sz="1800"/>
            </a:pPr>
            <a:r>
              <a:rPr lang="en-US" sz="1800" b="1" dirty="0"/>
              <a:t>Libraries:</a:t>
            </a:r>
            <a:r>
              <a:rPr lang="en-US" sz="1800" dirty="0"/>
              <a:t> Jackson, Gson (Java); orjson (Python); encoding/json (Go)</a:t>
            </a:r>
          </a:p>
          <a:p>
            <a:pPr>
              <a:defRPr sz="1800"/>
            </a:pPr>
            <a:r>
              <a:rPr lang="en-US" sz="1800" b="1" dirty="0"/>
              <a:t>Example:</a:t>
            </a:r>
            <a:r>
              <a:rPr lang="en-US" sz="1800" dirty="0"/>
              <a:t> { "id": 101, "name": "Asha", "email": "a@x.io" }   → ~50 bytes</a:t>
            </a:r>
          </a:p>
          <a:p>
            <a:pPr>
              <a:defRPr sz="1800"/>
            </a:pPr>
            <a:r>
              <a:rPr lang="en-US" sz="1800" b="1" dirty="0"/>
              <a:t>Best for:</a:t>
            </a:r>
            <a:r>
              <a:rPr lang="en-US" sz="1800" dirty="0"/>
              <a:t> REST APIs, logs, configs, low-volume events</a:t>
            </a:r>
          </a:p>
        </p:txBody>
      </p:sp>
    </p:spTree>
    <p:extLst>
      <p:ext uri="{BB962C8B-B14F-4D97-AF65-F5344CB8AC3E}">
        <p14:creationId xmlns:p14="http://schemas.microsoft.com/office/powerpoint/2010/main" val="1934344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6A4EF-7B10-5540-EE4E-341D7903B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Serialization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E5972-FA66-CA68-662A-D425E5CAF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US" sz="1800" b="1" dirty="0"/>
              <a:t>Tag-based text format</a:t>
            </a:r>
            <a:r>
              <a:rPr lang="en-US" sz="1800" dirty="0"/>
              <a:t> — verbose, very self-descriptive, schema-driven (XSD)</a:t>
            </a:r>
          </a:p>
          <a:p>
            <a:pPr>
              <a:defRPr sz="1800"/>
            </a:pPr>
            <a:r>
              <a:rPr lang="en-US" sz="1800" b="1" dirty="0"/>
              <a:t>Strong validation</a:t>
            </a:r>
            <a:r>
              <a:rPr lang="en-US" sz="1800" dirty="0"/>
              <a:t> via XSD/DTD, namespaces, attributes &amp; nested elements</a:t>
            </a:r>
          </a:p>
          <a:p>
            <a:pPr>
              <a:defRPr sz="1800"/>
            </a:pPr>
            <a:r>
              <a:rPr lang="en-US" sz="1800" b="1" dirty="0"/>
              <a:t>Largest payload</a:t>
            </a:r>
            <a:r>
              <a:rPr lang="en-US" sz="1800" dirty="0"/>
              <a:t> of the four formats — open + close tag for each field</a:t>
            </a:r>
          </a:p>
          <a:p>
            <a:pPr>
              <a:defRPr sz="1800"/>
            </a:pPr>
            <a:r>
              <a:rPr lang="en-US" sz="1800" b="1" dirty="0"/>
              <a:t>Libraries:</a:t>
            </a:r>
            <a:r>
              <a:rPr lang="en-US" sz="1800" dirty="0"/>
              <a:t> JAXB, Jackson-XML, StAX (Java); lxml (Python)</a:t>
            </a:r>
          </a:p>
          <a:p>
            <a:pPr>
              <a:defRPr sz="1800"/>
            </a:pPr>
            <a:r>
              <a:rPr lang="en-US" sz="1800" b="1" dirty="0"/>
              <a:t>Example:</a:t>
            </a:r>
            <a:r>
              <a:rPr lang="en-US" sz="1800" dirty="0"/>
              <a:t> &lt;employee&gt;&lt;id&gt;101&lt;/id&gt;&lt;name&gt;Asha&lt;/name&gt;&lt;/employee&gt; → ~140 B</a:t>
            </a:r>
          </a:p>
          <a:p>
            <a:pPr>
              <a:defRPr sz="1800"/>
            </a:pPr>
            <a:r>
              <a:rPr lang="en-US" sz="1800" b="1" dirty="0"/>
              <a:t>Best for:</a:t>
            </a:r>
            <a:r>
              <a:rPr lang="en-US" sz="1800" dirty="0"/>
              <a:t> SOAP services, legacy enterprise integration, document-heavy domains</a:t>
            </a:r>
          </a:p>
        </p:txBody>
      </p:sp>
    </p:spTree>
    <p:extLst>
      <p:ext uri="{BB962C8B-B14F-4D97-AF65-F5344CB8AC3E}">
        <p14:creationId xmlns:p14="http://schemas.microsoft.com/office/powerpoint/2010/main" val="237117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Avro Serialization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US" sz="1800" b="1" dirty="0"/>
              <a:t>Binary format</a:t>
            </a:r>
            <a:r>
              <a:rPr lang="en-US" sz="1800" dirty="0"/>
              <a:t> developed by Apache Hadoop, now the Kafka standard</a:t>
            </a:r>
          </a:p>
          <a:p>
            <a:pPr>
              <a:defRPr sz="1800"/>
            </a:pPr>
            <a:r>
              <a:rPr lang="en-US" sz="1800" b="1" dirty="0"/>
              <a:t>Schema-driven</a:t>
            </a:r>
            <a:r>
              <a:rPr lang="en-US" sz="1800" dirty="0"/>
              <a:t> — schema written in JSON (.avsc), data encoded compactly</a:t>
            </a:r>
          </a:p>
          <a:p>
            <a:pPr>
              <a:defRPr sz="1800"/>
            </a:pPr>
            <a:r>
              <a:rPr lang="en-US" sz="1800" b="1" dirty="0"/>
              <a:t>Field names NOT in payload</a:t>
            </a:r>
            <a:r>
              <a:rPr lang="en-US" sz="1800" dirty="0"/>
              <a:t> — schema is shared separately → tiny messages</a:t>
            </a:r>
          </a:p>
          <a:p>
            <a:pPr>
              <a:defRPr sz="1800"/>
            </a:pPr>
            <a:r>
              <a:rPr lang="en-US" sz="1800" b="1" dirty="0"/>
              <a:t>First-class schema evolution</a:t>
            </a:r>
            <a:r>
              <a:rPr lang="en-US" sz="1800" dirty="0"/>
              <a:t> — built-in compatibility rules</a:t>
            </a:r>
          </a:p>
          <a:p>
            <a:pPr>
              <a:defRPr sz="1800"/>
            </a:pPr>
            <a:r>
              <a:rPr lang="en-US" sz="1800" b="1" dirty="0"/>
              <a:t>Tooling:</a:t>
            </a:r>
            <a:r>
              <a:rPr lang="en-US" sz="1800" dirty="0"/>
              <a:t> avro-tools, Confluent Schema Registry, Avro Maven plugin</a:t>
            </a:r>
          </a:p>
          <a:p>
            <a:pPr>
              <a:defRPr sz="1800"/>
            </a:pPr>
            <a:r>
              <a:rPr lang="en-US" sz="1800" b="1" dirty="0"/>
              <a:t>Example payload:</a:t>
            </a:r>
            <a:r>
              <a:rPr lang="en-US" sz="1800" dirty="0"/>
              <a:t> ~25 B for same Employee record (vs 50 JSON)</a:t>
            </a:r>
          </a:p>
          <a:p>
            <a:pPr>
              <a:defRPr sz="1800"/>
            </a:pPr>
            <a:r>
              <a:rPr lang="en-US" sz="1800" b="1" dirty="0"/>
              <a:t>Best for:</a:t>
            </a:r>
            <a:r>
              <a:rPr lang="en-US" sz="1800" dirty="0"/>
              <a:t> Kafka, data lakes, high-throughput event streams</a:t>
            </a:r>
          </a:p>
        </p:txBody>
      </p:sp>
    </p:spTree>
    <p:extLst>
      <p:ext uri="{BB962C8B-B14F-4D97-AF65-F5344CB8AC3E}">
        <p14:creationId xmlns:p14="http://schemas.microsoft.com/office/powerpoint/2010/main" val="2432212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Protobuf Serialization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US" sz="1800" b="1" dirty="0"/>
              <a:t>Binary format</a:t>
            </a:r>
            <a:r>
              <a:rPr lang="en-US" sz="1800" dirty="0"/>
              <a:t> created by Google — powers gRPC, internal RPC at scale</a:t>
            </a:r>
          </a:p>
          <a:p>
            <a:pPr>
              <a:defRPr sz="1800"/>
            </a:pPr>
            <a:r>
              <a:rPr lang="en-US" sz="1800" b="1" dirty="0"/>
              <a:t>Schema in .proto file</a:t>
            </a:r>
            <a:r>
              <a:rPr lang="en-US" sz="1800" dirty="0"/>
              <a:t> — compiles to typed code in Java, Python, Go, C++…</a:t>
            </a:r>
          </a:p>
          <a:p>
            <a:pPr>
              <a:defRPr sz="1800"/>
            </a:pPr>
            <a:r>
              <a:rPr lang="en-US" sz="1800" b="1" dirty="0"/>
              <a:t>Numeric field tags</a:t>
            </a:r>
            <a:r>
              <a:rPr lang="en-US" sz="1800" dirty="0"/>
              <a:t> instead of names → very compact wire format</a:t>
            </a:r>
          </a:p>
          <a:p>
            <a:pPr>
              <a:defRPr sz="1800"/>
            </a:pPr>
            <a:r>
              <a:rPr lang="en-US" sz="1800" b="1" dirty="0"/>
              <a:t>Backward/forward compatible</a:t>
            </a:r>
            <a:r>
              <a:rPr lang="en-US" sz="1800" dirty="0"/>
              <a:t> when you follow the tag-number rules</a:t>
            </a:r>
          </a:p>
          <a:p>
            <a:pPr>
              <a:defRPr sz="1800"/>
            </a:pPr>
            <a:r>
              <a:rPr lang="en-US" sz="1800" b="1" dirty="0"/>
              <a:t>Tooling:</a:t>
            </a:r>
            <a:r>
              <a:rPr lang="en-US" sz="1800" dirty="0"/>
              <a:t> protoc compiler, protobuf-java, Confluent Protobuf Serdes</a:t>
            </a:r>
          </a:p>
          <a:p>
            <a:pPr>
              <a:defRPr sz="1800"/>
            </a:pPr>
            <a:r>
              <a:rPr lang="en-US" sz="1800" b="1" dirty="0"/>
              <a:t>Example payload:</a:t>
            </a:r>
            <a:r>
              <a:rPr lang="en-US" sz="1800" dirty="0"/>
              <a:t> ~22 B — smallest of the four</a:t>
            </a:r>
          </a:p>
          <a:p>
            <a:pPr>
              <a:defRPr sz="1800"/>
            </a:pPr>
            <a:r>
              <a:rPr lang="en-US" sz="1800" b="1" dirty="0"/>
              <a:t>Best for:</a:t>
            </a:r>
            <a:r>
              <a:rPr lang="en-US" sz="1800" dirty="0"/>
              <a:t> gRPC microservices, mobile APIs, polyglot stacks</a:t>
            </a:r>
          </a:p>
        </p:txBody>
      </p:sp>
    </p:spTree>
    <p:extLst>
      <p:ext uri="{BB962C8B-B14F-4D97-AF65-F5344CB8AC3E}">
        <p14:creationId xmlns:p14="http://schemas.microsoft.com/office/powerpoint/2010/main" val="3769863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199AD-3323-254B-C5BF-94AF53F9A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Format Comparison at a Glance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3BEA0A-46FB-4E0D-B6D1-917475111AD5}"/>
              </a:ext>
            </a:extLst>
          </p:cNvPr>
          <p:cNvSpPr/>
          <p:nvPr/>
        </p:nvSpPr>
        <p:spPr>
          <a:xfrm>
            <a:off x="1587500" y="2286000"/>
            <a:ext cx="1587500" cy="508000"/>
          </a:xfrm>
          <a:prstGeom prst="rect">
            <a:avLst/>
          </a:prstGeom>
          <a:solidFill>
            <a:srgbClr val="39D353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0E1117"/>
                </a:solidFill>
              </a:rPr>
              <a:t>JSON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7A7692-9699-446E-9765-6B1869ED6351}"/>
              </a:ext>
            </a:extLst>
          </p:cNvPr>
          <p:cNvSpPr/>
          <p:nvPr/>
        </p:nvSpPr>
        <p:spPr>
          <a:xfrm>
            <a:off x="3492500" y="2286000"/>
            <a:ext cx="1587500" cy="508000"/>
          </a:xfrm>
          <a:prstGeom prst="rect">
            <a:avLst/>
          </a:prstGeom>
          <a:solidFill>
            <a:srgbClr val="FFA65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0E1117"/>
                </a:solidFill>
              </a:rPr>
              <a:t>XML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6D7AB0-445B-45A3-97EF-6B02B34A20C4}"/>
              </a:ext>
            </a:extLst>
          </p:cNvPr>
          <p:cNvSpPr/>
          <p:nvPr/>
        </p:nvSpPr>
        <p:spPr>
          <a:xfrm>
            <a:off x="5397500" y="2286000"/>
            <a:ext cx="1587500" cy="508000"/>
          </a:xfrm>
          <a:prstGeom prst="rect">
            <a:avLst/>
          </a:prstGeom>
          <a:solidFill>
            <a:srgbClr val="58A6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0E1117"/>
                </a:solidFill>
              </a:rPr>
              <a:t>Avro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18B45D-C8B5-41E2-B840-CE417DADF703}"/>
              </a:ext>
            </a:extLst>
          </p:cNvPr>
          <p:cNvSpPr/>
          <p:nvPr/>
        </p:nvSpPr>
        <p:spPr>
          <a:xfrm>
            <a:off x="7302500" y="2286000"/>
            <a:ext cx="1587500" cy="508000"/>
          </a:xfrm>
          <a:prstGeom prst="rect">
            <a:avLst/>
          </a:prstGeom>
          <a:solidFill>
            <a:srgbClr val="A371F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0E1117"/>
                </a:solidFill>
              </a:rPr>
              <a:t>Protobuf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E82D9-C7DB-423A-9896-498CF97F0D00}"/>
              </a:ext>
            </a:extLst>
          </p:cNvPr>
          <p:cNvSpPr txBox="1"/>
          <p:nvPr/>
        </p:nvSpPr>
        <p:spPr>
          <a:xfrm>
            <a:off x="381000" y="2857500"/>
            <a:ext cx="1079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1100" b="1">
                <a:solidFill>
                  <a:srgbClr val="335B74"/>
                </a:solidFill>
              </a:rPr>
              <a:t>Size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EAFCF4-9D17-432A-B690-B5F2FA3C39C2}"/>
              </a:ext>
            </a:extLst>
          </p:cNvPr>
          <p:cNvSpPr/>
          <p:nvPr/>
        </p:nvSpPr>
        <p:spPr>
          <a:xfrm>
            <a:off x="1587500" y="2857500"/>
            <a:ext cx="1587500" cy="508000"/>
          </a:xfrm>
          <a:prstGeom prst="rect">
            <a:avLst/>
          </a:prstGeom>
          <a:solidFill>
            <a:srgbClr val="F4F7FA"/>
          </a:solidFill>
          <a:ln w="9525" cap="flat" cmpd="sng" algn="ctr">
            <a:solidFill>
              <a:srgbClr val="D6E0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500" b="1">
                <a:solidFill>
                  <a:srgbClr val="335B74"/>
                </a:solidFill>
              </a:rPr>
              <a:t>~50 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51535E-287A-4907-A543-C0A74B80019F}"/>
              </a:ext>
            </a:extLst>
          </p:cNvPr>
          <p:cNvSpPr/>
          <p:nvPr/>
        </p:nvSpPr>
        <p:spPr>
          <a:xfrm>
            <a:off x="3492500" y="2857500"/>
            <a:ext cx="1587500" cy="508000"/>
          </a:xfrm>
          <a:prstGeom prst="rect">
            <a:avLst/>
          </a:prstGeom>
          <a:solidFill>
            <a:srgbClr val="F4F7FA"/>
          </a:solidFill>
          <a:ln w="9525" cap="flat" cmpd="sng" algn="ctr">
            <a:solidFill>
              <a:srgbClr val="D6E0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500" b="1">
                <a:solidFill>
                  <a:srgbClr val="335B74"/>
                </a:solidFill>
              </a:rPr>
              <a:t>~120 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480F0C-EBAC-4C04-BA31-E1256E4012BE}"/>
              </a:ext>
            </a:extLst>
          </p:cNvPr>
          <p:cNvSpPr/>
          <p:nvPr/>
        </p:nvSpPr>
        <p:spPr>
          <a:xfrm>
            <a:off x="5397500" y="2857500"/>
            <a:ext cx="1587500" cy="508000"/>
          </a:xfrm>
          <a:prstGeom prst="rect">
            <a:avLst/>
          </a:prstGeom>
          <a:solidFill>
            <a:srgbClr val="F4F7FA"/>
          </a:solidFill>
          <a:ln w="9525" cap="flat" cmpd="sng" algn="ctr">
            <a:solidFill>
              <a:srgbClr val="D6E0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500" b="1">
                <a:solidFill>
                  <a:srgbClr val="335B74"/>
                </a:solidFill>
              </a:rPr>
              <a:t>~25 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3CDF73-C8AD-46D1-9D63-56ED1D661787}"/>
              </a:ext>
            </a:extLst>
          </p:cNvPr>
          <p:cNvSpPr/>
          <p:nvPr/>
        </p:nvSpPr>
        <p:spPr>
          <a:xfrm>
            <a:off x="7302500" y="2857500"/>
            <a:ext cx="1587500" cy="508000"/>
          </a:xfrm>
          <a:prstGeom prst="rect">
            <a:avLst/>
          </a:prstGeom>
          <a:solidFill>
            <a:srgbClr val="F4F7FA"/>
          </a:solidFill>
          <a:ln w="9525" cap="flat" cmpd="sng" algn="ctr">
            <a:solidFill>
              <a:srgbClr val="D6E0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500" b="1">
                <a:solidFill>
                  <a:srgbClr val="335B74"/>
                </a:solidFill>
              </a:rPr>
              <a:t>~22 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559C9D-1AC4-4138-BB07-414D7BEA5014}"/>
              </a:ext>
            </a:extLst>
          </p:cNvPr>
          <p:cNvSpPr txBox="1"/>
          <p:nvPr/>
        </p:nvSpPr>
        <p:spPr>
          <a:xfrm>
            <a:off x="381000" y="3429000"/>
            <a:ext cx="1079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1100" b="1">
                <a:solidFill>
                  <a:srgbClr val="335B74"/>
                </a:solidFill>
              </a:rPr>
              <a:t>Speed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7FFC46-D0EA-473C-B4CD-188A73921730}"/>
              </a:ext>
            </a:extLst>
          </p:cNvPr>
          <p:cNvSpPr/>
          <p:nvPr/>
        </p:nvSpPr>
        <p:spPr>
          <a:xfrm>
            <a:off x="1587500" y="3429000"/>
            <a:ext cx="1587500" cy="508000"/>
          </a:xfrm>
          <a:prstGeom prst="rect">
            <a:avLst/>
          </a:prstGeom>
          <a:solidFill>
            <a:srgbClr val="F4F7FA"/>
          </a:solidFill>
          <a:ln w="9525" cap="flat" cmpd="sng" algn="ctr">
            <a:solidFill>
              <a:srgbClr val="D6E0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500">
                <a:solidFill>
                  <a:srgbClr val="335B74"/>
                </a:solidFill>
              </a:rPr>
              <a:t>Medium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31D7C8-DF8D-4E1A-BAD3-F11471592BC0}"/>
              </a:ext>
            </a:extLst>
          </p:cNvPr>
          <p:cNvSpPr/>
          <p:nvPr/>
        </p:nvSpPr>
        <p:spPr>
          <a:xfrm>
            <a:off x="3492500" y="3429000"/>
            <a:ext cx="1587500" cy="508000"/>
          </a:xfrm>
          <a:prstGeom prst="rect">
            <a:avLst/>
          </a:prstGeom>
          <a:solidFill>
            <a:srgbClr val="F4F7FA"/>
          </a:solidFill>
          <a:ln w="9525" cap="flat" cmpd="sng" algn="ctr">
            <a:solidFill>
              <a:srgbClr val="D6E0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500">
                <a:solidFill>
                  <a:srgbClr val="335B74"/>
                </a:solidFill>
              </a:rPr>
              <a:t>Slow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378F81-AB87-4BB7-8506-55644AEBDA4E}"/>
              </a:ext>
            </a:extLst>
          </p:cNvPr>
          <p:cNvSpPr/>
          <p:nvPr/>
        </p:nvSpPr>
        <p:spPr>
          <a:xfrm>
            <a:off x="5397500" y="3429000"/>
            <a:ext cx="1587500" cy="508000"/>
          </a:xfrm>
          <a:prstGeom prst="rect">
            <a:avLst/>
          </a:prstGeom>
          <a:solidFill>
            <a:srgbClr val="F4F7FA"/>
          </a:solidFill>
          <a:ln w="9525" cap="flat" cmpd="sng" algn="ctr">
            <a:solidFill>
              <a:srgbClr val="D6E0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500">
                <a:solidFill>
                  <a:srgbClr val="335B74"/>
                </a:solidFill>
              </a:rPr>
              <a:t>Fast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F379CF-B823-4ECE-8EC1-18943F5CE103}"/>
              </a:ext>
            </a:extLst>
          </p:cNvPr>
          <p:cNvSpPr/>
          <p:nvPr/>
        </p:nvSpPr>
        <p:spPr>
          <a:xfrm>
            <a:off x="7302500" y="3429000"/>
            <a:ext cx="1587500" cy="508000"/>
          </a:xfrm>
          <a:prstGeom prst="rect">
            <a:avLst/>
          </a:prstGeom>
          <a:solidFill>
            <a:srgbClr val="F4F7FA"/>
          </a:solidFill>
          <a:ln w="9525" cap="flat" cmpd="sng" algn="ctr">
            <a:solidFill>
              <a:srgbClr val="D6E0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500">
                <a:solidFill>
                  <a:srgbClr val="335B74"/>
                </a:solidFill>
              </a:rPr>
              <a:t>Fastest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1599F6-9AF8-4E42-A5E7-446D050FD6EE}"/>
              </a:ext>
            </a:extLst>
          </p:cNvPr>
          <p:cNvSpPr txBox="1"/>
          <p:nvPr/>
        </p:nvSpPr>
        <p:spPr>
          <a:xfrm>
            <a:off x="381000" y="4000500"/>
            <a:ext cx="1079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1100" b="1">
                <a:solidFill>
                  <a:srgbClr val="335B74"/>
                </a:solidFill>
              </a:rPr>
              <a:t>Readable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C72F0D-7563-4092-B7C4-3C36C393390F}"/>
              </a:ext>
            </a:extLst>
          </p:cNvPr>
          <p:cNvSpPr/>
          <p:nvPr/>
        </p:nvSpPr>
        <p:spPr>
          <a:xfrm>
            <a:off x="1587500" y="4000500"/>
            <a:ext cx="1587500" cy="508000"/>
          </a:xfrm>
          <a:prstGeom prst="rect">
            <a:avLst/>
          </a:prstGeom>
          <a:solidFill>
            <a:srgbClr val="F4F7FA"/>
          </a:solidFill>
          <a:ln w="9525" cap="flat" cmpd="sng" algn="ctr">
            <a:solidFill>
              <a:srgbClr val="D6E0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500">
                <a:solidFill>
                  <a:srgbClr val="335B74"/>
                </a:solidFill>
              </a:rPr>
              <a:t>Yes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C5ECBA-E94B-48FF-94F3-9757C014AC24}"/>
              </a:ext>
            </a:extLst>
          </p:cNvPr>
          <p:cNvSpPr/>
          <p:nvPr/>
        </p:nvSpPr>
        <p:spPr>
          <a:xfrm>
            <a:off x="3492500" y="4000500"/>
            <a:ext cx="1587500" cy="508000"/>
          </a:xfrm>
          <a:prstGeom prst="rect">
            <a:avLst/>
          </a:prstGeom>
          <a:solidFill>
            <a:srgbClr val="F4F7FA"/>
          </a:solidFill>
          <a:ln w="9525" cap="flat" cmpd="sng" algn="ctr">
            <a:solidFill>
              <a:srgbClr val="D6E0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500">
                <a:solidFill>
                  <a:srgbClr val="335B74"/>
                </a:solidFill>
              </a:rPr>
              <a:t>Yes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E725CF-1EBE-41DF-ACDE-DB1831D1B509}"/>
              </a:ext>
            </a:extLst>
          </p:cNvPr>
          <p:cNvSpPr/>
          <p:nvPr/>
        </p:nvSpPr>
        <p:spPr>
          <a:xfrm>
            <a:off x="5397500" y="4000500"/>
            <a:ext cx="1587500" cy="508000"/>
          </a:xfrm>
          <a:prstGeom prst="rect">
            <a:avLst/>
          </a:prstGeom>
          <a:solidFill>
            <a:srgbClr val="F4F7FA"/>
          </a:solidFill>
          <a:ln w="9525" cap="flat" cmpd="sng" algn="ctr">
            <a:solidFill>
              <a:srgbClr val="D6E0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500">
                <a:solidFill>
                  <a:srgbClr val="335B74"/>
                </a:solidFill>
              </a:rPr>
              <a:t>No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FACE01-0EDE-4CE6-A628-06C81EA06572}"/>
              </a:ext>
            </a:extLst>
          </p:cNvPr>
          <p:cNvSpPr/>
          <p:nvPr/>
        </p:nvSpPr>
        <p:spPr>
          <a:xfrm>
            <a:off x="7302500" y="4000500"/>
            <a:ext cx="1587500" cy="508000"/>
          </a:xfrm>
          <a:prstGeom prst="rect">
            <a:avLst/>
          </a:prstGeom>
          <a:solidFill>
            <a:srgbClr val="F4F7FA"/>
          </a:solidFill>
          <a:ln w="9525" cap="flat" cmpd="sng" algn="ctr">
            <a:solidFill>
              <a:srgbClr val="D6E0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500">
                <a:solidFill>
                  <a:srgbClr val="335B74"/>
                </a:solidFill>
              </a:rPr>
              <a:t>No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AD2C42-8C7A-4FAF-93D5-6BF4D28E3C89}"/>
              </a:ext>
            </a:extLst>
          </p:cNvPr>
          <p:cNvSpPr txBox="1"/>
          <p:nvPr/>
        </p:nvSpPr>
        <p:spPr>
          <a:xfrm>
            <a:off x="381000" y="4572000"/>
            <a:ext cx="1079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1100" b="1">
                <a:solidFill>
                  <a:srgbClr val="335B74"/>
                </a:solidFill>
              </a:rPr>
              <a:t>Evolution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253795-198B-4D51-AAEF-3ED4934D6106}"/>
              </a:ext>
            </a:extLst>
          </p:cNvPr>
          <p:cNvSpPr/>
          <p:nvPr/>
        </p:nvSpPr>
        <p:spPr>
          <a:xfrm>
            <a:off x="1587500" y="4572000"/>
            <a:ext cx="1587500" cy="508000"/>
          </a:xfrm>
          <a:prstGeom prst="rect">
            <a:avLst/>
          </a:prstGeom>
          <a:solidFill>
            <a:srgbClr val="F4F7FA"/>
          </a:solidFill>
          <a:ln w="9525" cap="flat" cmpd="sng" algn="ctr">
            <a:solidFill>
              <a:srgbClr val="D6E0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500">
                <a:solidFill>
                  <a:srgbClr val="335B74"/>
                </a:solidFill>
              </a:rPr>
              <a:t>Manual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159BBFD-AE1C-4B26-B147-EF5E086D8FDE}"/>
              </a:ext>
            </a:extLst>
          </p:cNvPr>
          <p:cNvSpPr/>
          <p:nvPr/>
        </p:nvSpPr>
        <p:spPr>
          <a:xfrm>
            <a:off x="3492500" y="4572000"/>
            <a:ext cx="1587500" cy="508000"/>
          </a:xfrm>
          <a:prstGeom prst="rect">
            <a:avLst/>
          </a:prstGeom>
          <a:solidFill>
            <a:srgbClr val="F4F7FA"/>
          </a:solidFill>
          <a:ln w="9525" cap="flat" cmpd="sng" algn="ctr">
            <a:solidFill>
              <a:srgbClr val="D6E0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500">
                <a:solidFill>
                  <a:srgbClr val="335B74"/>
                </a:solidFill>
              </a:rPr>
              <a:t>Schema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01B2E6-2D51-4318-A7FF-92C46CB2137C}"/>
              </a:ext>
            </a:extLst>
          </p:cNvPr>
          <p:cNvSpPr/>
          <p:nvPr/>
        </p:nvSpPr>
        <p:spPr>
          <a:xfrm>
            <a:off x="5397500" y="4572000"/>
            <a:ext cx="1587500" cy="508000"/>
          </a:xfrm>
          <a:prstGeom prst="rect">
            <a:avLst/>
          </a:prstGeom>
          <a:solidFill>
            <a:srgbClr val="F4F7FA"/>
          </a:solidFill>
          <a:ln w="9525" cap="flat" cmpd="sng" algn="ctr">
            <a:solidFill>
              <a:srgbClr val="D6E0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500">
                <a:solidFill>
                  <a:srgbClr val="335B74"/>
                </a:solidFill>
              </a:rPr>
              <a:t>Native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0706C6-5126-4AA4-B184-5C864FB00955}"/>
              </a:ext>
            </a:extLst>
          </p:cNvPr>
          <p:cNvSpPr/>
          <p:nvPr/>
        </p:nvSpPr>
        <p:spPr>
          <a:xfrm>
            <a:off x="7302500" y="4572000"/>
            <a:ext cx="1587500" cy="508000"/>
          </a:xfrm>
          <a:prstGeom prst="rect">
            <a:avLst/>
          </a:prstGeom>
          <a:solidFill>
            <a:srgbClr val="F4F7FA"/>
          </a:solidFill>
          <a:ln w="9525" cap="flat" cmpd="sng" algn="ctr">
            <a:solidFill>
              <a:srgbClr val="D6E0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500">
                <a:solidFill>
                  <a:srgbClr val="335B74"/>
                </a:solidFill>
              </a:rPr>
              <a:t>Native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8F49A4-2726-447E-9E79-B7D4014D7584}"/>
              </a:ext>
            </a:extLst>
          </p:cNvPr>
          <p:cNvSpPr txBox="1"/>
          <p:nvPr/>
        </p:nvSpPr>
        <p:spPr>
          <a:xfrm>
            <a:off x="381000" y="5334000"/>
            <a:ext cx="838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335B74"/>
                </a:solidFill>
              </a:rPr>
              <a:t>Rule of thumb: text formats for humans &amp; logs, binary formats for Kafka &amp; high throughput.</a:t>
            </a:r>
            <a:endParaRPr lang="en-IN" sz="1400" i="1">
              <a:solidFill>
                <a:srgbClr val="335B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9826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JSON vs Avro vs Protobuf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1800"/>
            </a:pPr>
            <a:r>
              <a:rPr lang="en-US" sz="1800" b="1" dirty="0"/>
              <a:t>Payload size:</a:t>
            </a:r>
            <a:r>
              <a:rPr lang="en-US" sz="1800" dirty="0"/>
              <a:t> Protobuf ≈ Avro &lt; JSON &lt;&lt; XML — binary wins by 2-5×</a:t>
            </a:r>
          </a:p>
          <a:p>
            <a:pPr>
              <a:defRPr sz="1800"/>
            </a:pPr>
            <a:r>
              <a:rPr lang="en-US" sz="1800" b="1" dirty="0"/>
              <a:t>CPU cost:</a:t>
            </a:r>
            <a:r>
              <a:rPr lang="en-US" sz="1800" dirty="0"/>
              <a:t> Protobuf fastest; Avro close behind; JSON slower; XML slowest</a:t>
            </a:r>
          </a:p>
          <a:p>
            <a:pPr>
              <a:defRPr sz="1800"/>
            </a:pPr>
            <a:r>
              <a:rPr lang="en-US" sz="1800" b="1" dirty="0"/>
              <a:t>Human-readable?</a:t>
            </a:r>
            <a:r>
              <a:rPr lang="en-US" sz="1800" dirty="0"/>
              <a:t> JSON &amp; XML yes; Avro &amp; Protobuf are bytes — need tooling to inspect</a:t>
            </a:r>
          </a:p>
          <a:p>
            <a:pPr>
              <a:defRPr sz="1800"/>
            </a:pPr>
            <a:r>
              <a:rPr lang="en-US" sz="1800" b="1" dirty="0"/>
              <a:t>Schema enforcement:</a:t>
            </a:r>
            <a:r>
              <a:rPr lang="en-US" sz="1800" dirty="0"/>
              <a:t> Avro &amp; Protobuf require schema; JSON optional; XML via XSD</a:t>
            </a:r>
          </a:p>
          <a:p>
            <a:pPr>
              <a:defRPr sz="1800"/>
            </a:pPr>
            <a:r>
              <a:rPr lang="en-US" sz="1800" b="1" dirty="0"/>
              <a:t>Evolution support:</a:t>
            </a:r>
            <a:r>
              <a:rPr lang="en-US" sz="1800" dirty="0"/>
              <a:t> Avro &amp; Protobuf built-in; JSON/XML rely on app-level discipline</a:t>
            </a:r>
          </a:p>
          <a:p>
            <a:pPr>
              <a:defRPr sz="1800"/>
            </a:pPr>
            <a:r>
              <a:rPr lang="en-US" sz="1800" b="1" dirty="0"/>
              <a:t>Ecosystem fit:</a:t>
            </a:r>
            <a:r>
              <a:rPr lang="en-US" sz="1800" dirty="0"/>
              <a:t> Kafka → Avro; gRPC → Protobuf; REST APIs → JSON; legacy/enterprise → XML</a:t>
            </a:r>
          </a:p>
          <a:p>
            <a:pPr>
              <a:defRPr sz="1800"/>
            </a:pPr>
            <a:r>
              <a:rPr lang="en-US" sz="1800" b="1" dirty="0"/>
              <a:t>Pick by use case</a:t>
            </a:r>
            <a:r>
              <a:rPr lang="en-US" sz="1800" dirty="0"/>
              <a:t> — no single winner; throughput &amp; tooling decide</a:t>
            </a:r>
          </a:p>
        </p:txBody>
      </p:sp>
    </p:spTree>
    <p:extLst>
      <p:ext uri="{BB962C8B-B14F-4D97-AF65-F5344CB8AC3E}">
        <p14:creationId xmlns:p14="http://schemas.microsoft.com/office/powerpoint/2010/main" val="2821814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5C762-CD00-44DB-1AB5-DBAE0EB95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1 - Serialize a POJO in 4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1D2B2-4802-CC61-4270-EE7DDD08F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lang="en-US" sz="1600" b="1" dirty="0"/>
              <a:t>Task: </a:t>
            </a:r>
            <a:r>
              <a:rPr lang="en-US" sz="1600" dirty="0"/>
              <a:t>Serialize the same Employee object (id, name, email) using JSON, XML, Avro &amp; Protobuf.</a:t>
            </a:r>
          </a:p>
          <a:p>
            <a:pPr>
              <a:defRPr sz="1600"/>
            </a:pPr>
            <a:r>
              <a:rPr lang="en-US" sz="1600" b="1" dirty="0"/>
              <a:t>Tools: </a:t>
            </a:r>
            <a:r>
              <a:rPr lang="en-US" sz="1600" dirty="0"/>
              <a:t>Jackson (JSON), JAXB (XML), Apache Avro 1.11, protobuf-java 3.x</a:t>
            </a:r>
          </a:p>
          <a:p>
            <a:pPr>
              <a:defRPr sz="1600"/>
            </a:pPr>
            <a:r>
              <a:rPr lang="en-US" sz="1600" b="1" dirty="0"/>
              <a:t>Steps:</a:t>
            </a:r>
          </a:p>
          <a:p>
            <a:pPr lvl="1">
              <a:defRPr sz="1500"/>
            </a:pPr>
            <a:r>
              <a:rPr lang="en-US" sz="1500" dirty="0"/>
              <a:t>Define Employee class + matching .avsc and .proto schemas</a:t>
            </a:r>
          </a:p>
          <a:p>
            <a:pPr lvl="1">
              <a:defRPr sz="1500"/>
            </a:pPr>
            <a:r>
              <a:rPr lang="en-US" sz="1500" dirty="0"/>
              <a:t>Write byte[] to file for each format, print byte length</a:t>
            </a:r>
          </a:p>
          <a:p>
            <a:pPr lvl="1">
              <a:defRPr sz="1500"/>
            </a:pPr>
            <a:r>
              <a:rPr lang="en-US" sz="1500" dirty="0"/>
              <a:t>Deserialize back &amp; assert object equality</a:t>
            </a:r>
          </a:p>
          <a:p>
            <a:pPr>
              <a:defRPr sz="1600"/>
            </a:pPr>
            <a:r>
              <a:rPr lang="en-US" sz="1600" b="1" dirty="0"/>
              <a:t> Checkpoint: </a:t>
            </a:r>
            <a:r>
              <a:rPr lang="en-US" sz="1600" dirty="0"/>
              <a:t>JSON ≈ 80 B, XML ≈ 140 B, Avro ≈ 25 B, Protobuf ≈ 22 B</a:t>
            </a:r>
          </a:p>
          <a:p>
            <a:pPr>
              <a:defRPr sz="1600"/>
            </a:pPr>
            <a:r>
              <a:rPr lang="en-US" sz="1600" b="1" dirty="0"/>
              <a:t>⏱ Time: </a:t>
            </a:r>
            <a:r>
              <a:rPr lang="en-US" sz="1600" dirty="0"/>
              <a:t>20 min   •   </a:t>
            </a:r>
            <a:r>
              <a:rPr lang="en-US" sz="1600" b="1" dirty="0"/>
              <a:t>💡 Hint: </a:t>
            </a:r>
            <a:r>
              <a:rPr lang="en-US" sz="1600" dirty="0"/>
              <a:t>Inspect the byte stream in a hex viewer — Avro/Protobuf will be unreadable, JSON/XML won't</a:t>
            </a:r>
          </a:p>
        </p:txBody>
      </p:sp>
    </p:spTree>
    <p:extLst>
      <p:ext uri="{BB962C8B-B14F-4D97-AF65-F5344CB8AC3E}">
        <p14:creationId xmlns:p14="http://schemas.microsoft.com/office/powerpoint/2010/main" val="3785661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6465C-D677-8758-DB5C-E42D05269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2: Benchmark the Four Formats</a:t>
            </a:r>
            <a:endParaRPr lang="en-IN" dirty="0"/>
          </a:p>
        </p:txBody>
      </p:sp>
      <p:sp>
        <p:nvSpPr>
          <p:cNvPr id="4" name="Lab2Content">
            <a:extLst>
              <a:ext uri="{FF2B5EF4-FFF2-40B4-BE49-F238E27FC236}">
                <a16:creationId xmlns:a16="http://schemas.microsoft.com/office/drawing/2014/main" id="{499045E3-ADA8-4BAC-BFEE-66227AE289AA}"/>
              </a:ext>
            </a:extLst>
          </p:cNvPr>
          <p:cNvSpPr txBox="1"/>
          <p:nvPr/>
        </p:nvSpPr>
        <p:spPr>
          <a:xfrm>
            <a:off x="381000" y="2159000"/>
            <a:ext cx="8382000" cy="438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335B74"/>
                </a:solidFill>
              </a:rPr>
              <a:t>Goal: </a:t>
            </a:r>
            <a:r>
              <a:rPr lang="en-US" sz="1700" dirty="0"/>
              <a:t>Measure size + serialization time for the same Employee record across 4 formats.</a:t>
            </a:r>
          </a:p>
          <a:p>
            <a:pPr>
              <a:buNone/>
            </a:pPr>
            <a:r>
              <a:rPr lang="en-US" sz="1500" dirty="0"/>
              <a:t> </a:t>
            </a:r>
          </a:p>
          <a:p>
            <a:pPr>
              <a:defRPr sz="1600"/>
            </a:pPr>
            <a:r>
              <a:rPr lang="en-US" sz="1600" b="1" dirty="0"/>
              <a:t>Setup: </a:t>
            </a:r>
            <a:r>
              <a:rPr lang="en-US" sz="1600" dirty="0"/>
              <a:t>Reuse the POJO + serializers from Lab 1</a:t>
            </a:r>
          </a:p>
          <a:p>
            <a:pPr>
              <a:defRPr sz="1600"/>
            </a:pPr>
            <a:r>
              <a:rPr lang="en-US" sz="1600" b="1" dirty="0"/>
              <a:t>Task 1: </a:t>
            </a:r>
            <a:r>
              <a:rPr lang="en-US" sz="1600" dirty="0"/>
              <a:t>Serialize the record once in each format → print the byte length</a:t>
            </a:r>
          </a:p>
          <a:p>
            <a:pPr>
              <a:defRPr sz="1600"/>
            </a:pPr>
            <a:r>
              <a:rPr lang="en-US" sz="1600" b="1" dirty="0"/>
              <a:t>Task 2: </a:t>
            </a:r>
            <a:r>
              <a:rPr lang="en-US" sz="1600" dirty="0"/>
              <a:t>Serialize 100,000 times in a loop → measure System.nanoTime() per format</a:t>
            </a:r>
          </a:p>
          <a:p>
            <a:pPr>
              <a:defRPr sz="1600"/>
            </a:pPr>
            <a:r>
              <a:rPr lang="en-US" sz="1600" b="1" dirty="0"/>
              <a:t>Task 3: </a:t>
            </a:r>
            <a:r>
              <a:rPr lang="en-US" sz="1600" dirty="0"/>
              <a:t>Print a result table: Format | Size (B) | Time (ms) | Ratio vs JSON</a:t>
            </a:r>
          </a:p>
          <a:p>
            <a:pPr>
              <a:defRPr sz="1500"/>
            </a:pPr>
            <a:r>
              <a:rPr lang="en-US" sz="1500" dirty="0"/>
              <a:t> </a:t>
            </a:r>
          </a:p>
          <a:p>
            <a:pPr>
              <a:defRPr sz="1500"/>
            </a:pPr>
            <a:r>
              <a:rPr lang="en-US" sz="1500" b="1" dirty="0">
                <a:solidFill>
                  <a:srgbClr val="3E8853"/>
                </a:solidFill>
              </a:rPr>
              <a:t>Checkpoint: </a:t>
            </a:r>
            <a:r>
              <a:rPr lang="en-US" sz="1500" dirty="0"/>
              <a:t>Avro/Protobuf should be ~2× smaller and ~3-5× faster than JSON.</a:t>
            </a:r>
          </a:p>
          <a:p>
            <a:pPr>
              <a:defRPr sz="1500"/>
            </a:pPr>
            <a:r>
              <a:rPr lang="en-US" sz="1500" b="1" dirty="0">
                <a:solidFill>
                  <a:srgbClr val="3E8853"/>
                </a:solidFill>
              </a:rPr>
              <a:t>Stretch: </a:t>
            </a:r>
            <a:r>
              <a:rPr lang="en-US" sz="1500" dirty="0"/>
              <a:t>Try a record with 20 fields — does the gap widen?</a:t>
            </a:r>
          </a:p>
        </p:txBody>
      </p:sp>
    </p:spTree>
    <p:extLst>
      <p:ext uri="{BB962C8B-B14F-4D97-AF65-F5344CB8AC3E}">
        <p14:creationId xmlns:p14="http://schemas.microsoft.com/office/powerpoint/2010/main" val="4001538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Schema Registry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1800"/>
            </a:pPr>
            <a:r>
              <a:rPr lang="en-US" sz="1800" b="1" dirty="0"/>
              <a:t>Central HTTP service</a:t>
            </a:r>
            <a:r>
              <a:rPr lang="en-US" sz="1800" dirty="0"/>
              <a:t> that stores and serves Avro/Protobuf/JSON schemas</a:t>
            </a:r>
          </a:p>
          <a:p>
            <a:pPr>
              <a:defRPr sz="1800"/>
            </a:pPr>
            <a:r>
              <a:rPr lang="en-US" sz="1800" b="1" dirty="0"/>
              <a:t>Schemas stored in Kafka</a:t>
            </a:r>
            <a:r>
              <a:rPr lang="en-US" sz="1800" dirty="0"/>
              <a:t> itself (in the _schemas topic) — durable and replicated</a:t>
            </a:r>
          </a:p>
          <a:p>
            <a:pPr>
              <a:defRPr sz="1800"/>
            </a:pPr>
            <a:r>
              <a:rPr lang="en-US" sz="1800" b="1" dirty="0"/>
              <a:t>Producers register</a:t>
            </a:r>
            <a:r>
              <a:rPr lang="en-US" sz="1800" dirty="0"/>
              <a:t> schemas on first write, get back a unique ID</a:t>
            </a:r>
          </a:p>
          <a:p>
            <a:pPr>
              <a:defRPr sz="1800"/>
            </a:pPr>
            <a:r>
              <a:rPr lang="en-US" sz="1800" b="1" dirty="0"/>
              <a:t>Consumers fetch</a:t>
            </a:r>
            <a:r>
              <a:rPr lang="en-US" sz="1800" dirty="0"/>
              <a:t> the schema by ID (cached locally) — no schema in the message body</a:t>
            </a:r>
          </a:p>
          <a:p>
            <a:pPr>
              <a:defRPr sz="1800"/>
            </a:pPr>
            <a:r>
              <a:rPr lang="en-US" sz="1800" b="1" dirty="0"/>
              <a:t>Enforces compatibility rules</a:t>
            </a:r>
            <a:r>
              <a:rPr lang="en-US" sz="1800" dirty="0"/>
              <a:t> before accepting a new schema version</a:t>
            </a:r>
          </a:p>
          <a:p>
            <a:pPr>
              <a:defRPr sz="1800"/>
            </a:pPr>
            <a:r>
              <a:rPr lang="en-US" sz="1800" b="1" dirty="0"/>
              <a:t>REST API:</a:t>
            </a:r>
            <a:r>
              <a:rPr lang="en-US" sz="1800" dirty="0"/>
              <a:t> /subjects, /schemas, /compatibility — easy CLI &amp; curl testing</a:t>
            </a:r>
          </a:p>
          <a:p>
            <a:pPr>
              <a:defRPr sz="1800"/>
            </a:pPr>
            <a:r>
              <a:rPr lang="en-US" sz="1800" b="1" dirty="0"/>
              <a:t>Result:</a:t>
            </a:r>
            <a:r>
              <a:rPr lang="en-US" sz="1800" dirty="0"/>
              <a:t> tiny messages, safe evolution, decoupled producers and consumers</a:t>
            </a:r>
          </a:p>
        </p:txBody>
      </p:sp>
    </p:spTree>
    <p:extLst>
      <p:ext uri="{BB962C8B-B14F-4D97-AF65-F5344CB8AC3E}">
        <p14:creationId xmlns:p14="http://schemas.microsoft.com/office/powerpoint/2010/main" val="2785495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7C3AB-00ED-5DFB-5252-95DB9E7C0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 Registry - Inside the Box</a:t>
            </a:r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DCDEB67-78C8-4D36-B439-60C2230FC306}"/>
              </a:ext>
            </a:extLst>
          </p:cNvPr>
          <p:cNvSpPr/>
          <p:nvPr/>
        </p:nvSpPr>
        <p:spPr>
          <a:xfrm>
            <a:off x="3429000" y="2730500"/>
            <a:ext cx="2286000" cy="1397000"/>
          </a:xfrm>
          <a:prstGeom prst="roundRect">
            <a:avLst/>
          </a:prstGeom>
          <a:solidFill>
            <a:srgbClr val="58A6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FFFFFF"/>
                </a:solidFill>
              </a:rPr>
              <a:t>Schema Registry
(REST API)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66A216-3BC4-432D-BB99-B98FFD4D4269}"/>
              </a:ext>
            </a:extLst>
          </p:cNvPr>
          <p:cNvSpPr/>
          <p:nvPr/>
        </p:nvSpPr>
        <p:spPr>
          <a:xfrm>
            <a:off x="508000" y="2540000"/>
            <a:ext cx="1905000" cy="1016000"/>
          </a:xfrm>
          <a:prstGeom prst="rect">
            <a:avLst/>
          </a:prstGeom>
          <a:solidFill>
            <a:srgbClr val="39D353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Producer
(register schema)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51FBB9-C66F-418F-A970-6E3CE4120B22}"/>
              </a:ext>
            </a:extLst>
          </p:cNvPr>
          <p:cNvSpPr/>
          <p:nvPr/>
        </p:nvSpPr>
        <p:spPr>
          <a:xfrm>
            <a:off x="6731000" y="2540000"/>
            <a:ext cx="1905000" cy="1016000"/>
          </a:xfrm>
          <a:prstGeom prst="rect">
            <a:avLst/>
          </a:prstGeom>
          <a:solidFill>
            <a:srgbClr val="39D353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Consumer
(fetch schema)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8CC3618-293A-4AEB-A6E0-AE8C2EA3E8EF}"/>
              </a:ext>
            </a:extLst>
          </p:cNvPr>
          <p:cNvSpPr/>
          <p:nvPr/>
        </p:nvSpPr>
        <p:spPr>
          <a:xfrm>
            <a:off x="2438400" y="2946400"/>
            <a:ext cx="965200" cy="228600"/>
          </a:xfrm>
          <a:prstGeom prst="rightArrow">
            <a:avLst/>
          </a:prstGeom>
          <a:solidFill>
            <a:srgbClr val="A371F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2C70006-9D9A-4439-9E53-4100A45BDFA1}"/>
              </a:ext>
            </a:extLst>
          </p:cNvPr>
          <p:cNvSpPr/>
          <p:nvPr/>
        </p:nvSpPr>
        <p:spPr>
          <a:xfrm>
            <a:off x="5740400" y="2946400"/>
            <a:ext cx="965200" cy="228600"/>
          </a:xfrm>
          <a:prstGeom prst="rightArrow">
            <a:avLst/>
          </a:prstGeom>
          <a:solidFill>
            <a:srgbClr val="A371F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16FA28-2F0C-4ECA-9B76-90E7B1A89642}"/>
              </a:ext>
            </a:extLst>
          </p:cNvPr>
          <p:cNvSpPr/>
          <p:nvPr/>
        </p:nvSpPr>
        <p:spPr>
          <a:xfrm>
            <a:off x="3048000" y="4572000"/>
            <a:ext cx="3048000" cy="762000"/>
          </a:xfrm>
          <a:prstGeom prst="rect">
            <a:avLst/>
          </a:prstGeom>
          <a:solidFill>
            <a:srgbClr val="FFA65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Kafka _schemas topic
(durable storage)</a:t>
            </a:r>
            <a:endParaRPr lang="en-IN" sz="1300" b="1">
              <a:solidFill>
                <a:srgbClr val="FFFFFF"/>
              </a:solidFill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DC1436D-F988-4520-A43D-49B9AF8D8D2D}"/>
              </a:ext>
            </a:extLst>
          </p:cNvPr>
          <p:cNvSpPr/>
          <p:nvPr/>
        </p:nvSpPr>
        <p:spPr>
          <a:xfrm>
            <a:off x="4445000" y="4152900"/>
            <a:ext cx="254000" cy="406400"/>
          </a:xfrm>
          <a:prstGeom prst="downArrow">
            <a:avLst/>
          </a:prstGeom>
          <a:solidFill>
            <a:srgbClr val="A371F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0" name="ComponentsList">
            <a:extLst>
              <a:ext uri="{FF2B5EF4-FFF2-40B4-BE49-F238E27FC236}">
                <a16:creationId xmlns:a16="http://schemas.microsoft.com/office/drawing/2014/main" id="{52FACFA3-7769-476D-892B-CE7B28391C00}"/>
              </a:ext>
            </a:extLst>
          </p:cNvPr>
          <p:cNvSpPr txBox="1"/>
          <p:nvPr/>
        </p:nvSpPr>
        <p:spPr>
          <a:xfrm>
            <a:off x="6223000" y="4572000"/>
            <a:ext cx="2794000" cy="209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79C0FF"/>
                </a:solidFill>
              </a:rPr>
              <a:t>Components: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E6EDF3"/>
                </a:solidFill>
              </a:rPr>
              <a:t>REST API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E6EDF3"/>
                </a:solidFill>
              </a:rPr>
              <a:t>Subjects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E6EDF3"/>
                </a:solidFill>
              </a:rPr>
              <a:t>Versions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E6EDF3"/>
                </a:solidFill>
              </a:rPr>
              <a:t>Compatibility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E6EDF3"/>
                </a:solidFill>
              </a:rPr>
              <a:t>Client cache</a:t>
            </a:r>
          </a:p>
        </p:txBody>
      </p:sp>
    </p:spTree>
    <p:extLst>
      <p:ext uri="{BB962C8B-B14F-4D97-AF65-F5344CB8AC3E}">
        <p14:creationId xmlns:p14="http://schemas.microsoft.com/office/powerpoint/2010/main" val="4248024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Schema Registry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US" sz="1800" b="1" dirty="0"/>
              <a:t>Kafka Broker</a:t>
            </a:r>
            <a:r>
              <a:rPr lang="en-US" sz="1800" dirty="0"/>
              <a:t> — transports the message bytes; never inspects them</a:t>
            </a:r>
          </a:p>
          <a:p>
            <a:pPr>
              <a:defRPr sz="1800"/>
            </a:pPr>
            <a:r>
              <a:rPr lang="en-US" sz="1800" b="1" dirty="0"/>
              <a:t>Producer with serializer</a:t>
            </a:r>
            <a:r>
              <a:rPr lang="en-US" sz="1800" dirty="0"/>
              <a:t> — converts object → bytes using the registered schema</a:t>
            </a:r>
          </a:p>
          <a:p>
            <a:pPr>
              <a:defRPr sz="1800"/>
            </a:pPr>
            <a:r>
              <a:rPr lang="en-US" sz="1800" b="1" dirty="0"/>
              <a:t>Schema Registry server</a:t>
            </a:r>
            <a:r>
              <a:rPr lang="en-US" sz="1800" dirty="0"/>
              <a:t> — REST API for register, fetch, compatibility check</a:t>
            </a:r>
          </a:p>
          <a:p>
            <a:pPr>
              <a:defRPr sz="1800"/>
            </a:pPr>
            <a:r>
              <a:rPr lang="en-US" sz="1800" b="1" dirty="0"/>
              <a:t>Consumer with deserializer</a:t>
            </a:r>
            <a:r>
              <a:rPr lang="en-US" sz="1800" dirty="0"/>
              <a:t> — caches schemas locally after first fetch</a:t>
            </a:r>
          </a:p>
          <a:p>
            <a:pPr>
              <a:defRPr sz="1800"/>
            </a:pPr>
            <a:r>
              <a:rPr lang="en-US" sz="1800" b="1" dirty="0"/>
              <a:t>Internal _schemas Kafka topic</a:t>
            </a:r>
            <a:r>
              <a:rPr lang="en-US" sz="1800" dirty="0"/>
              <a:t> — compacted topic that persists all schema versions</a:t>
            </a:r>
          </a:p>
          <a:p>
            <a:pPr>
              <a:defRPr sz="1800"/>
            </a:pPr>
            <a:r>
              <a:rPr lang="en-US" sz="1800" b="1" dirty="0"/>
              <a:t>Subject</a:t>
            </a:r>
            <a:r>
              <a:rPr lang="en-US" sz="1800" dirty="0"/>
              <a:t> — versioned namespace per topic (e.g. orders-value)</a:t>
            </a:r>
          </a:p>
        </p:txBody>
      </p:sp>
    </p:spTree>
    <p:extLst>
      <p:ext uri="{BB962C8B-B14F-4D97-AF65-F5344CB8AC3E}">
        <p14:creationId xmlns:p14="http://schemas.microsoft.com/office/powerpoint/2010/main" val="1911560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Schema Registry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US" sz="1800" b="1" dirty="0"/>
              <a:t>1. Producer registers schema</a:t>
            </a:r>
            <a:r>
              <a:rPr lang="en-US" sz="1800" dirty="0"/>
              <a:t> — sends Avro schema to Registry on first send</a:t>
            </a:r>
          </a:p>
          <a:p>
            <a:pPr>
              <a:defRPr sz="1800"/>
            </a:pPr>
            <a:r>
              <a:rPr lang="en-US" sz="1800" b="1" dirty="0"/>
              <a:t>2. Registry assigns ID</a:t>
            </a:r>
            <a:r>
              <a:rPr lang="en-US" sz="1800" dirty="0"/>
              <a:t> — returns globally unique 4-byte integer (e.g. 1042)</a:t>
            </a:r>
          </a:p>
          <a:p>
            <a:pPr>
              <a:defRPr sz="1800"/>
            </a:pPr>
            <a:r>
              <a:rPr lang="en-US" sz="1800" b="1" dirty="0"/>
              <a:t>3. Producer sends ID + payload</a:t>
            </a:r>
            <a:r>
              <a:rPr lang="en-US" sz="1800" dirty="0"/>
              <a:t> — wire format: [magic byte][schema ID][Avro bytes]</a:t>
            </a:r>
          </a:p>
          <a:p>
            <a:pPr>
              <a:defRPr sz="1800"/>
            </a:pPr>
            <a:r>
              <a:rPr lang="en-US" sz="1800" b="1" dirty="0"/>
              <a:t>4. Consumer fetches schema by ID</a:t>
            </a:r>
            <a:r>
              <a:rPr lang="en-US" sz="1800" dirty="0"/>
              <a:t> — one HTTP call, then cached for the lifetime of the app</a:t>
            </a:r>
          </a:p>
          <a:p>
            <a:pPr>
              <a:defRPr sz="1800"/>
            </a:pPr>
            <a:r>
              <a:rPr lang="en-US" sz="1800" b="1" dirty="0"/>
              <a:t>5. Deserializer reconstructs object</a:t>
            </a:r>
            <a:r>
              <a:rPr lang="en-US" sz="1800" dirty="0"/>
              <a:t> — typed Java POJO ready for business logic</a:t>
            </a:r>
          </a:p>
          <a:p>
            <a:pPr>
              <a:defRPr sz="1800"/>
            </a:pPr>
            <a:r>
              <a:rPr lang="en-US" sz="1800" b="1" dirty="0"/>
              <a:t>Key insight:</a:t>
            </a:r>
            <a:r>
              <a:rPr lang="en-US" sz="1800" dirty="0"/>
              <a:t> schema travels separately from data — payload stays tiny</a:t>
            </a:r>
          </a:p>
        </p:txBody>
      </p:sp>
    </p:spTree>
    <p:extLst>
      <p:ext uri="{BB962C8B-B14F-4D97-AF65-F5344CB8AC3E}">
        <p14:creationId xmlns:p14="http://schemas.microsoft.com/office/powerpoint/2010/main" val="3469742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Avro Serialization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US" sz="1800" b="1" dirty="0"/>
              <a:t>Avro schema defined in JSON</a:t>
            </a:r>
            <a:r>
              <a:rPr lang="en-US" sz="1800" dirty="0"/>
              <a:t> (.avsc file) — declares record type, fields, and types</a:t>
            </a:r>
          </a:p>
          <a:p>
            <a:pPr>
              <a:defRPr sz="1800"/>
            </a:pPr>
            <a:r>
              <a:rPr lang="en-US" sz="1800" b="1" dirty="0"/>
              <a:t>Serializer converts records into binary</a:t>
            </a:r>
            <a:r>
              <a:rPr lang="en-US" sz="1800" dirty="0"/>
              <a:t> using schema as encoding template</a:t>
            </a:r>
          </a:p>
          <a:p>
            <a:pPr>
              <a:defRPr sz="1800"/>
            </a:pPr>
            <a:r>
              <a:rPr lang="en-US" sz="1800" b="1" dirty="0"/>
              <a:t>Schema ID embedded in Kafka message</a:t>
            </a:r>
            <a:r>
              <a:rPr lang="en-US" sz="1800" dirty="0"/>
              <a:t> — only 4 bytes overhead per message</a:t>
            </a:r>
          </a:p>
          <a:p>
            <a:pPr>
              <a:defRPr sz="1800"/>
            </a:pPr>
            <a:r>
              <a:rPr lang="en-US" sz="1800" b="1" dirty="0"/>
              <a:t>Consumers use schema to deserialize</a:t>
            </a:r>
            <a:r>
              <a:rPr lang="en-US" sz="1800" dirty="0"/>
              <a:t> — schema fetched once, then cached</a:t>
            </a:r>
          </a:p>
          <a:p>
            <a:pPr>
              <a:defRPr sz="1800"/>
            </a:pPr>
            <a:r>
              <a:rPr lang="en-US" sz="1800" b="1" dirty="0"/>
              <a:t>Compact storage</a:t>
            </a:r>
            <a:r>
              <a:rPr lang="en-US" sz="1800" dirty="0"/>
              <a:t> — no field names or delimiters in payload</a:t>
            </a:r>
          </a:p>
          <a:p>
            <a:pPr>
              <a:defRPr sz="1800"/>
            </a:pPr>
            <a:r>
              <a:rPr lang="en-US" sz="1800" b="1" dirty="0"/>
              <a:t>Code generation</a:t>
            </a:r>
            <a:r>
              <a:rPr lang="en-US" sz="1800" dirty="0"/>
              <a:t> — Avro Maven plugin produces type-safe Java classes</a:t>
            </a:r>
          </a:p>
        </p:txBody>
      </p:sp>
    </p:spTree>
    <p:extLst>
      <p:ext uri="{BB962C8B-B14F-4D97-AF65-F5344CB8AC3E}">
        <p14:creationId xmlns:p14="http://schemas.microsoft.com/office/powerpoint/2010/main" val="730744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Avro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rPr lang="en-US" sz="1500" dirty="0">
                <a:latin typeface="Consolas"/>
              </a:rPr>
              <a:t>{ "type":"record", "name":"Employee",</a:t>
            </a:r>
          </a:p>
          <a:p>
            <a:pPr>
              <a:defRPr sz="1500"/>
            </a:pPr>
            <a:r>
              <a:rPr lang="en-US" sz="1500" dirty="0">
                <a:latin typeface="Consolas"/>
              </a:rPr>
              <a:t>  "namespace":"com.training.kafka",</a:t>
            </a:r>
          </a:p>
          <a:p>
            <a:pPr>
              <a:defRPr sz="1500"/>
            </a:pPr>
            <a:r>
              <a:rPr lang="en-US" sz="1500" dirty="0">
                <a:latin typeface="Consolas"/>
              </a:rPr>
              <a:t>  "fields":[</a:t>
            </a:r>
          </a:p>
          <a:p>
            <a:pPr>
              <a:defRPr sz="1500"/>
            </a:pPr>
            <a:r>
              <a:rPr lang="en-US" sz="1500" dirty="0">
                <a:latin typeface="Consolas"/>
              </a:rPr>
              <a:t>    {"name":"id", "type":"int"},</a:t>
            </a:r>
          </a:p>
          <a:p>
            <a:pPr>
              <a:defRPr sz="1500"/>
            </a:pPr>
            <a:r>
              <a:rPr lang="en-US" sz="1500" dirty="0">
                <a:latin typeface="Consolas"/>
              </a:rPr>
              <a:t>    {"name":"name", "type":"string"},</a:t>
            </a:r>
          </a:p>
          <a:p>
            <a:pPr>
              <a:defRPr sz="1500"/>
            </a:pPr>
            <a:r>
              <a:rPr lang="en-US" sz="1500" dirty="0">
                <a:latin typeface="Consolas"/>
              </a:rPr>
              <a:t>    {"name":"email", "type":["null","string"], "default":null}</a:t>
            </a:r>
          </a:p>
          <a:p>
            <a:pPr>
              <a:defRPr sz="1500"/>
            </a:pPr>
            <a:r>
              <a:rPr lang="en-US" sz="1500" dirty="0">
                <a:latin typeface="Consolas"/>
              </a:rPr>
              <a:t>  ] }</a:t>
            </a:r>
          </a:p>
          <a:p>
            <a:pPr>
              <a:defRPr sz="1700"/>
            </a:pPr>
            <a:r>
              <a:rPr lang="en-US" sz="1700" b="1" dirty="0"/>
              <a:t>Notice:</a:t>
            </a:r>
            <a:r>
              <a:rPr lang="en-US" sz="1700" dirty="0"/>
              <a:t> typed fields, namespace, optional field with default, union type [null, string]</a:t>
            </a:r>
          </a:p>
        </p:txBody>
      </p:sp>
    </p:spTree>
    <p:extLst>
      <p:ext uri="{BB962C8B-B14F-4D97-AF65-F5344CB8AC3E}">
        <p14:creationId xmlns:p14="http://schemas.microsoft.com/office/powerpoint/2010/main" val="6591454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Schema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US" sz="1800" b="1" dirty="0"/>
              <a:t>What it is:</a:t>
            </a:r>
            <a:r>
              <a:rPr lang="en-US" sz="1800" dirty="0"/>
              <a:t> safely changing a schema over time without breaking producers or consumers</a:t>
            </a:r>
          </a:p>
          <a:p>
            <a:pPr>
              <a:defRPr sz="1800"/>
            </a:pPr>
            <a:r>
              <a:rPr lang="en-US" sz="1800" b="1" dirty="0"/>
              <a:t>Adding fields</a:t>
            </a:r>
            <a:r>
              <a:rPr lang="en-US" sz="1800" dirty="0"/>
              <a:t> — must include a default value to stay backward-compatible</a:t>
            </a:r>
          </a:p>
          <a:p>
            <a:pPr>
              <a:defRPr sz="1800"/>
            </a:pPr>
            <a:r>
              <a:rPr lang="en-US" sz="1800" b="1" dirty="0"/>
              <a:t>Removing fields</a:t>
            </a:r>
            <a:r>
              <a:rPr lang="en-US" sz="1800" dirty="0"/>
              <a:t> — only safe if the field already had a default</a:t>
            </a:r>
          </a:p>
          <a:p>
            <a:pPr>
              <a:defRPr sz="1800"/>
            </a:pPr>
            <a:r>
              <a:rPr lang="en-US" sz="1800" b="1" dirty="0"/>
              <a:t>Why it matters:</a:t>
            </a:r>
            <a:r>
              <a:rPr lang="en-US" sz="1800" dirty="0"/>
              <a:t> producers and consumers deploy independently in microservices</a:t>
            </a:r>
          </a:p>
          <a:p>
            <a:pPr>
              <a:defRPr sz="1800"/>
            </a:pPr>
            <a:r>
              <a:rPr lang="en-US" sz="1800" b="1" dirty="0"/>
              <a:t>Schema Registry enforces it</a:t>
            </a:r>
            <a:r>
              <a:rPr lang="en-US" sz="1800" dirty="0"/>
              <a:t> — rejects incompatible schemas before they reach Kafka</a:t>
            </a:r>
          </a:p>
          <a:p>
            <a:pPr>
              <a:defRPr sz="1800"/>
            </a:pPr>
            <a:r>
              <a:rPr lang="en-US" sz="1800" b="1" dirty="0"/>
              <a:t>Without it:</a:t>
            </a:r>
            <a:r>
              <a:rPr lang="en-US" sz="1800" dirty="0"/>
              <a:t> a single bad deploy can poison your topic for every downstream consumer</a:t>
            </a:r>
          </a:p>
        </p:txBody>
      </p:sp>
    </p:spTree>
    <p:extLst>
      <p:ext uri="{BB962C8B-B14F-4D97-AF65-F5344CB8AC3E}">
        <p14:creationId xmlns:p14="http://schemas.microsoft.com/office/powerpoint/2010/main" val="4113160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Lab 3 - Install Confluent Schema Registry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lang="en-US" sz="1700" b="1" dirty="0"/>
              <a:t>Goal:</a:t>
            </a:r>
            <a:r>
              <a:rPr lang="en-US" sz="1700" dirty="0"/>
              <a:t> bring up Kafka + Schema Registry locally and confirm the REST API responds</a:t>
            </a:r>
          </a:p>
          <a:p>
            <a:pPr>
              <a:defRPr sz="1700"/>
            </a:pPr>
            <a:r>
              <a:rPr lang="en-US" sz="1700" b="1" dirty="0"/>
              <a:t>1.</a:t>
            </a:r>
            <a:r>
              <a:rPr lang="en-US" sz="1700" dirty="0"/>
              <a:t> Install Confluent Platform (download tarball, set $CONFLUENT_HOME, export PATH)</a:t>
            </a:r>
          </a:p>
          <a:p>
            <a:pPr>
              <a:defRPr sz="1700"/>
            </a:pPr>
            <a:r>
              <a:rPr lang="en-US" sz="1700" b="1" dirty="0"/>
              <a:t>2.</a:t>
            </a:r>
            <a:r>
              <a:rPr lang="en-US" sz="1700" dirty="0"/>
              <a:t> Start ZooKeeper (or KRaft) and Kafka broker</a:t>
            </a:r>
          </a:p>
          <a:p>
            <a:pPr>
              <a:defRPr sz="1700"/>
            </a:pPr>
            <a:r>
              <a:rPr lang="en-US" sz="1700" b="1" dirty="0"/>
              <a:t>3.</a:t>
            </a:r>
            <a:r>
              <a:rPr lang="en-US" sz="1700" dirty="0"/>
              <a:t> Start Schema Registry on default port 8081</a:t>
            </a:r>
          </a:p>
          <a:p>
            <a:pPr>
              <a:defRPr sz="1700"/>
            </a:pPr>
            <a:r>
              <a:rPr lang="en-US" sz="1700" b="1" dirty="0"/>
              <a:t>4.</a:t>
            </a:r>
            <a:r>
              <a:rPr lang="en-US" sz="1700" dirty="0"/>
              <a:t> Verify with curl http://localhost:8081/subjects (should return [])</a:t>
            </a:r>
          </a:p>
          <a:p>
            <a:pPr>
              <a:defRPr sz="1700"/>
            </a:pPr>
            <a:r>
              <a:rPr lang="en-US" sz="1700" b="1" dirty="0"/>
              <a:t>✓ Checkpoint:</a:t>
            </a:r>
            <a:r>
              <a:rPr lang="en-US" sz="1700" dirty="0"/>
              <a:t> /subjects responds 200 and _schemas topic exists in Kafka</a:t>
            </a:r>
          </a:p>
          <a:p>
            <a:pPr>
              <a:defRPr sz="1700"/>
            </a:pPr>
            <a:r>
              <a:rPr lang="en-US" sz="1700" b="1" dirty="0"/>
              <a:t>Time:</a:t>
            </a:r>
            <a:r>
              <a:rPr lang="en-US" sz="1700" dirty="0"/>
              <a:t> ~15 min — next slide has the exact commands</a:t>
            </a:r>
          </a:p>
        </p:txBody>
      </p:sp>
    </p:spTree>
    <p:extLst>
      <p:ext uri="{BB962C8B-B14F-4D97-AF65-F5344CB8AC3E}">
        <p14:creationId xmlns:p14="http://schemas.microsoft.com/office/powerpoint/2010/main" val="29031453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3 - Commands &amp;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rPr lang="en-US" sz="1500" b="1" dirty="0"/>
              <a:t># Start everything:</a:t>
            </a:r>
          </a:p>
          <a:p>
            <a:pPr>
              <a:defRPr sz="1500"/>
            </a:pPr>
            <a:r>
              <a:rPr lang="en-US" sz="1500" dirty="0">
                <a:latin typeface="Consolas"/>
              </a:rPr>
              <a:t>$ confluent local services start</a:t>
            </a:r>
          </a:p>
          <a:p>
            <a:pPr>
              <a:defRPr sz="1500"/>
            </a:pPr>
            <a:r>
              <a:rPr lang="en-US" sz="1500" b="1" dirty="0"/>
              <a:t># Check status:</a:t>
            </a:r>
          </a:p>
          <a:p>
            <a:pPr>
              <a:defRPr sz="1500"/>
            </a:pPr>
            <a:r>
              <a:rPr lang="en-US" sz="1500" dirty="0">
                <a:latin typeface="Consolas"/>
              </a:rPr>
              <a:t>$ confluent local services status</a:t>
            </a:r>
          </a:p>
          <a:p>
            <a:pPr>
              <a:defRPr sz="1500"/>
            </a:pPr>
            <a:r>
              <a:rPr lang="en-US" sz="1500" b="1" dirty="0"/>
              <a:t># Hit the REST API:</a:t>
            </a:r>
          </a:p>
          <a:p>
            <a:pPr>
              <a:defRPr sz="1500"/>
            </a:pPr>
            <a:r>
              <a:rPr lang="en-US" sz="1500" dirty="0">
                <a:latin typeface="Consolas"/>
              </a:rPr>
              <a:t>$ curl http://localhost:8081/subjects   # → []</a:t>
            </a:r>
          </a:p>
          <a:p>
            <a:pPr>
              <a:defRPr sz="1500"/>
            </a:pPr>
            <a:r>
              <a:rPr lang="en-US" sz="1500" dirty="0">
                <a:latin typeface="Consolas"/>
              </a:rPr>
              <a:t>$ curl http://localhost:8081/config     # → {"compatibilityLevel":"BACKWARD"}</a:t>
            </a:r>
          </a:p>
          <a:p>
            <a:pPr>
              <a:defRPr sz="1500"/>
            </a:pPr>
            <a:r>
              <a:rPr lang="en-US" sz="1500" b="1" dirty="0"/>
              <a:t># Verify backing topic was created:</a:t>
            </a:r>
          </a:p>
          <a:p>
            <a:pPr>
              <a:defRPr sz="1500"/>
            </a:pPr>
            <a:r>
              <a:rPr lang="en-US" sz="1500" dirty="0">
                <a:latin typeface="Consolas"/>
              </a:rPr>
              <a:t>$ kafka-topics --bootstrap-server localhost:9092 --list | grep _schemas</a:t>
            </a:r>
          </a:p>
        </p:txBody>
      </p:sp>
    </p:spTree>
    <p:extLst>
      <p:ext uri="{BB962C8B-B14F-4D97-AF65-F5344CB8AC3E}">
        <p14:creationId xmlns:p14="http://schemas.microsoft.com/office/powerpoint/2010/main" val="39103353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Schema Evolution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US" sz="1800" b="1" dirty="0"/>
              <a:t>Version 1:</a:t>
            </a:r>
            <a:r>
              <a:rPr lang="en-US" sz="1800" dirty="0"/>
              <a:t> Employee { id: int, name: string }</a:t>
            </a:r>
          </a:p>
          <a:p>
            <a:pPr>
              <a:defRPr sz="1800"/>
            </a:pPr>
            <a:r>
              <a:rPr lang="en-US" sz="1800" b="1" dirty="0"/>
              <a:t>Version 2:</a:t>
            </a:r>
            <a:r>
              <a:rPr lang="en-US" sz="1800" dirty="0"/>
              <a:t> Employee { id, name, email: [null,string] default null }</a:t>
            </a:r>
          </a:p>
          <a:p>
            <a:pPr>
              <a:defRPr sz="1800"/>
            </a:pPr>
            <a:r>
              <a:rPr lang="en-US" sz="1800" b="1" dirty="0"/>
              <a:t>Why it works:</a:t>
            </a:r>
            <a:r>
              <a:rPr lang="en-US" sz="1800" dirty="0"/>
              <a:t> new field is optional with default → old data still decodes</a:t>
            </a:r>
          </a:p>
          <a:p>
            <a:pPr>
              <a:defRPr sz="1800"/>
            </a:pPr>
            <a:r>
              <a:rPr lang="en-US" sz="1800" b="1" dirty="0"/>
              <a:t>V2 producer + V1 consumer:</a:t>
            </a:r>
            <a:r>
              <a:rPr lang="en-US" sz="1800" dirty="0"/>
              <a:t> consumer ignores the extra email field</a:t>
            </a:r>
          </a:p>
          <a:p>
            <a:pPr>
              <a:defRPr sz="1800"/>
            </a:pPr>
            <a:r>
              <a:rPr lang="en-US" sz="1800" b="1" dirty="0"/>
              <a:t>V1 producer + V2 consumer:</a:t>
            </a:r>
            <a:r>
              <a:rPr lang="en-US" sz="1800" dirty="0"/>
              <a:t> consumer fills missing email with null</a:t>
            </a:r>
          </a:p>
          <a:p>
            <a:pPr>
              <a:defRPr sz="1800"/>
            </a:pPr>
            <a:r>
              <a:rPr lang="en-US" sz="1800" b="1" dirty="0"/>
              <a:t>Breaks if:</a:t>
            </a:r>
            <a:r>
              <a:rPr lang="en-US" sz="1800" dirty="0"/>
              <a:t> you change a field's type, rename without alias, or remove without default</a:t>
            </a:r>
          </a:p>
        </p:txBody>
      </p:sp>
    </p:spTree>
    <p:extLst>
      <p:ext uri="{BB962C8B-B14F-4D97-AF65-F5344CB8AC3E}">
        <p14:creationId xmlns:p14="http://schemas.microsoft.com/office/powerpoint/2010/main" val="1584873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Compatibility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US" sz="1800" b="1" dirty="0"/>
              <a:t>BACKWARD</a:t>
            </a:r>
            <a:r>
              <a:rPr lang="en-US" sz="1800" dirty="0"/>
              <a:t> — new consumer can read old data. Upgrade consumers first. </a:t>
            </a:r>
            <a:r>
              <a:rPr lang="en-US" sz="1800" b="1" dirty="0"/>
              <a:t>(default)</a:t>
            </a:r>
          </a:p>
          <a:p>
            <a:pPr>
              <a:defRPr sz="1800"/>
            </a:pPr>
            <a:r>
              <a:rPr lang="en-US" sz="1800" b="1" dirty="0"/>
              <a:t>FORWARD</a:t>
            </a:r>
            <a:r>
              <a:rPr lang="en-US" sz="1800" dirty="0"/>
              <a:t> — old consumer can read new data. Upgrade producers first.</a:t>
            </a:r>
          </a:p>
          <a:p>
            <a:pPr>
              <a:defRPr sz="1800"/>
            </a:pPr>
            <a:r>
              <a:rPr lang="en-US" sz="1800" b="1" dirty="0"/>
              <a:t>FULL</a:t>
            </a:r>
            <a:r>
              <a:rPr lang="en-US" sz="1800" dirty="0"/>
              <a:t> — both directions. Producers and consumers upgrade in any order.</a:t>
            </a:r>
          </a:p>
          <a:p>
            <a:pPr>
              <a:defRPr sz="1800"/>
            </a:pPr>
            <a:r>
              <a:rPr lang="en-US" sz="1800" b="1" dirty="0"/>
              <a:t>NONE</a:t>
            </a:r>
            <a:r>
              <a:rPr lang="en-US" sz="1800" dirty="0"/>
              <a:t> — no validation. Anything goes — only for throwaway data.</a:t>
            </a:r>
          </a:p>
          <a:p>
            <a:pPr>
              <a:defRPr sz="1800"/>
            </a:pPr>
            <a:r>
              <a:rPr lang="en-US" sz="1800" b="1" dirty="0"/>
              <a:t>_TRANSITIVE variants</a:t>
            </a:r>
            <a:r>
              <a:rPr lang="en-US" sz="1800" dirty="0"/>
              <a:t> check against ALL prior versions, not just the latest</a:t>
            </a:r>
          </a:p>
          <a:p>
            <a:pPr>
              <a:defRPr sz="1800"/>
            </a:pPr>
            <a:r>
              <a:rPr lang="en-US" sz="1800" b="1" dirty="0"/>
              <a:t>Set per subject:</a:t>
            </a:r>
            <a:r>
              <a:rPr lang="en-US" sz="1800" dirty="0"/>
              <a:t> PUT /config/orders-value with {"compatibility":"BACKWARD"}</a:t>
            </a:r>
          </a:p>
        </p:txBody>
      </p:sp>
    </p:spTree>
    <p:extLst>
      <p:ext uri="{BB962C8B-B14F-4D97-AF65-F5344CB8AC3E}">
        <p14:creationId xmlns:p14="http://schemas.microsoft.com/office/powerpoint/2010/main" val="41426149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Compatibility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US" sz="1800" b="1" dirty="0"/>
              <a:t>Backward → safest for consumers</a:t>
            </a:r>
            <a:r>
              <a:rPr lang="en-US" sz="1800" dirty="0"/>
              <a:t> — pick this when you can't coordinate downstream upgrades</a:t>
            </a:r>
          </a:p>
          <a:p>
            <a:pPr>
              <a:defRPr sz="1800"/>
            </a:pPr>
            <a:r>
              <a:rPr lang="en-US" sz="1800" b="1" dirty="0"/>
              <a:t>Forward → useful for rolling upgrades</a:t>
            </a:r>
            <a:r>
              <a:rPr lang="en-US" sz="1800" dirty="0"/>
              <a:t> — producers ship the new schema first</a:t>
            </a:r>
          </a:p>
          <a:p>
            <a:pPr>
              <a:defRPr sz="1800"/>
            </a:pPr>
            <a:r>
              <a:rPr lang="en-US" sz="1800" b="1" dirty="0"/>
              <a:t>Full → strongest guarantee</a:t>
            </a:r>
            <a:r>
              <a:rPr lang="en-US" sz="1800" dirty="0"/>
              <a:t> — most restrictive, but order-independent deploys</a:t>
            </a:r>
          </a:p>
          <a:p>
            <a:pPr>
              <a:defRPr sz="1800"/>
            </a:pPr>
            <a:r>
              <a:rPr lang="en-US" sz="1800" b="1" dirty="0"/>
              <a:t>None → risky but flexible</a:t>
            </a:r>
            <a:r>
              <a:rPr lang="en-US" sz="1800" dirty="0"/>
              <a:t> — use only for dev/test topics, never prod</a:t>
            </a:r>
          </a:p>
          <a:p>
            <a:pPr>
              <a:defRPr sz="1800"/>
            </a:pPr>
            <a:r>
              <a:rPr lang="en-US" sz="1800" b="1" dirty="0"/>
              <a:t>Most teams choose:</a:t>
            </a:r>
            <a:r>
              <a:rPr lang="en-US" sz="1800" dirty="0"/>
              <a:t> BACKWARD for prod topics — sensible default</a:t>
            </a:r>
          </a:p>
          <a:p>
            <a:pPr>
              <a:defRPr sz="1800"/>
            </a:pPr>
            <a:r>
              <a:rPr lang="en-US" sz="1800" b="1" dirty="0"/>
              <a:t>Tip:</a:t>
            </a:r>
            <a:r>
              <a:rPr lang="en-US" sz="1800" dirty="0"/>
              <a:t> Schema Registry rejects bad changes at registration — fail fast, not in prod</a:t>
            </a:r>
          </a:p>
        </p:txBody>
      </p:sp>
    </p:spTree>
    <p:extLst>
      <p:ext uri="{BB962C8B-B14F-4D97-AF65-F5344CB8AC3E}">
        <p14:creationId xmlns:p14="http://schemas.microsoft.com/office/powerpoint/2010/main" val="9579900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2D2D5-FC60-BAD0-1586-F237042B9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Schema Evolution: v1 → v2 In Practice</a:t>
            </a:r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F959ADF-90D7-45A9-849E-08FFCB675CF3}"/>
              </a:ext>
            </a:extLst>
          </p:cNvPr>
          <p:cNvSpPr/>
          <p:nvPr/>
        </p:nvSpPr>
        <p:spPr>
          <a:xfrm>
            <a:off x="381000" y="2095500"/>
            <a:ext cx="3302000" cy="2159000"/>
          </a:xfrm>
          <a:prstGeom prst="roundRect">
            <a:avLst/>
          </a:prstGeom>
          <a:solidFill>
            <a:srgbClr val="58A6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IN" sz="1600">
                <a:solidFill>
                  <a:srgbClr val="FFFFFF"/>
                </a:solidFill>
              </a:rPr>
              <a:t>Schema v1
{ id: int,
  name: string }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159DC33D-A0C4-4994-802A-6158982035B2}"/>
              </a:ext>
            </a:extLst>
          </p:cNvPr>
          <p:cNvSpPr/>
          <p:nvPr/>
        </p:nvSpPr>
        <p:spPr>
          <a:xfrm>
            <a:off x="3746500" y="2921000"/>
            <a:ext cx="1397000" cy="508000"/>
          </a:xfrm>
          <a:prstGeom prst="rightArrow">
            <a:avLst/>
          </a:prstGeom>
          <a:solidFill>
            <a:srgbClr val="A371F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IN" sz="1200" b="1">
                <a:solidFill>
                  <a:srgbClr val="FFFFFF"/>
                </a:solidFill>
              </a:rPr>
              <a:t>add field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2803BDB-746A-46C1-8376-1B2D9C5C028D}"/>
              </a:ext>
            </a:extLst>
          </p:cNvPr>
          <p:cNvSpPr/>
          <p:nvPr/>
        </p:nvSpPr>
        <p:spPr>
          <a:xfrm>
            <a:off x="5207000" y="2095500"/>
            <a:ext cx="3302000" cy="2159000"/>
          </a:xfrm>
          <a:prstGeom prst="roundRect">
            <a:avLst/>
          </a:prstGeom>
          <a:solidFill>
            <a:srgbClr val="39D353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IN" sz="1600">
                <a:solidFill>
                  <a:srgbClr val="FFFFFF"/>
                </a:solidFill>
              </a:rPr>
              <a:t>Schema v2
{ id: int,
  name: string,
  email: string
    default: ""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26CA0D-0078-4C13-9DAF-609BD382A91E}"/>
              </a:ext>
            </a:extLst>
          </p:cNvPr>
          <p:cNvSpPr txBox="1"/>
          <p:nvPr/>
        </p:nvSpPr>
        <p:spPr>
          <a:xfrm>
            <a:off x="381000" y="4572000"/>
            <a:ext cx="8128000" cy="830997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>
              <a:buNone/>
            </a:pPr>
            <a:r>
              <a:rPr lang="en-US" sz="1600" dirty="0">
                <a:solidFill>
                  <a:srgbClr val="39D353"/>
                </a:solidFill>
              </a:rPr>
              <a:t>✓ </a:t>
            </a:r>
            <a:r>
              <a:rPr lang="en-US" sz="1600" dirty="0">
                <a:solidFill>
                  <a:srgbClr val="E6EDF3"/>
                </a:solidFill>
              </a:rPr>
              <a:t>Old consumers still work — they ignore 'email'</a:t>
            </a:r>
          </a:p>
          <a:p>
            <a:pPr algn="l">
              <a:buNone/>
            </a:pPr>
            <a:r>
              <a:rPr lang="en-US" sz="1600" dirty="0">
                <a:solidFill>
                  <a:srgbClr val="39D353"/>
                </a:solidFill>
              </a:rPr>
              <a:t>✓ </a:t>
            </a:r>
            <a:r>
              <a:rPr lang="en-US" sz="1600" dirty="0">
                <a:solidFill>
                  <a:srgbClr val="E6EDF3"/>
                </a:solidFill>
              </a:rPr>
              <a:t>New consumers reading old messages → 'email' defaults to ""</a:t>
            </a:r>
          </a:p>
          <a:p>
            <a:pPr algn="l">
              <a:buNone/>
            </a:pPr>
            <a:r>
              <a:rPr lang="en-US" sz="1600" dirty="0">
                <a:solidFill>
                  <a:srgbClr val="F778BA"/>
                </a:solidFill>
              </a:rPr>
              <a:t>✗ </a:t>
            </a:r>
            <a:r>
              <a:rPr lang="en-US" sz="1600" dirty="0">
                <a:solidFill>
                  <a:srgbClr val="E6EDF3"/>
                </a:solidFill>
              </a:rPr>
              <a:t>Without default → BACKWARD compat fails and Registry rejects v2</a:t>
            </a:r>
          </a:p>
        </p:txBody>
      </p:sp>
    </p:spTree>
    <p:extLst>
      <p:ext uri="{BB962C8B-B14F-4D97-AF65-F5344CB8AC3E}">
        <p14:creationId xmlns:p14="http://schemas.microsoft.com/office/powerpoint/2010/main" val="16591907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Producer Configuration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rPr lang="en-US" sz="1500" b="1" dirty="0"/>
              <a:t># Required producer.properties</a:t>
            </a:r>
          </a:p>
          <a:p>
            <a:pPr>
              <a:defRPr sz="1500"/>
            </a:pPr>
            <a:r>
              <a:rPr lang="en-US" sz="1500" dirty="0">
                <a:latin typeface="Consolas"/>
              </a:rPr>
              <a:t>bootstrap.servers = localhost:9092</a:t>
            </a:r>
          </a:p>
          <a:p>
            <a:pPr>
              <a:defRPr sz="1500"/>
            </a:pPr>
            <a:r>
              <a:rPr lang="en-US" sz="1500" dirty="0">
                <a:latin typeface="Consolas"/>
              </a:rPr>
              <a:t>key.serializer   = org.apache.kafka.common.serialization.StringSerializer</a:t>
            </a:r>
          </a:p>
          <a:p>
            <a:pPr>
              <a:defRPr sz="1500"/>
            </a:pPr>
            <a:r>
              <a:rPr lang="en-US" sz="1500" dirty="0">
                <a:latin typeface="Consolas"/>
              </a:rPr>
              <a:t>value.serializer = io.confluent.kafka.serializers.KafkaAvroSerializer</a:t>
            </a:r>
          </a:p>
          <a:p>
            <a:pPr>
              <a:defRPr sz="1500"/>
            </a:pPr>
            <a:r>
              <a:rPr lang="en-US" sz="1500" dirty="0">
                <a:latin typeface="Consolas"/>
              </a:rPr>
              <a:t>schema.registry.url = http://localhost:8081</a:t>
            </a:r>
          </a:p>
          <a:p>
            <a:pPr>
              <a:defRPr sz="1500"/>
            </a:pPr>
            <a:r>
              <a:rPr lang="en-US" sz="1500" dirty="0">
                <a:latin typeface="Consolas"/>
              </a:rPr>
              <a:t>auto.register.schemas = true   # dev only — false in prod</a:t>
            </a:r>
          </a:p>
          <a:p>
            <a:pPr>
              <a:defRPr sz="1500"/>
            </a:pPr>
            <a:r>
              <a:rPr lang="en-US" sz="1500" b="1" dirty="0"/>
              <a:t>How it works:</a:t>
            </a:r>
            <a:r>
              <a:rPr lang="en-US" sz="1500" dirty="0"/>
              <a:t> the serializer registers the schema on first send, gets a schema ID, then prepends a magic byte + 4-byte schema ID to every message.</a:t>
            </a:r>
          </a:p>
          <a:p>
            <a:pPr>
              <a:defRPr sz="1500"/>
            </a:pPr>
            <a:r>
              <a:rPr lang="en-US" sz="1500" b="1" dirty="0"/>
              <a:t>Pitfall:</a:t>
            </a:r>
            <a:r>
              <a:rPr lang="en-US" sz="1500" dirty="0"/>
              <a:t> in production, register schemas via CI/CD and set auto.register.schemas=false to prevent ad-hoc evolution.</a:t>
            </a:r>
          </a:p>
        </p:txBody>
      </p:sp>
    </p:spTree>
    <p:extLst>
      <p:ext uri="{BB962C8B-B14F-4D97-AF65-F5344CB8AC3E}">
        <p14:creationId xmlns:p14="http://schemas.microsoft.com/office/powerpoint/2010/main" val="31448948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4 - Produce Avro Messages to Kafka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lang="en-US" sz="1700" b="1" dirty="0"/>
              <a:t>Goal:</a:t>
            </a:r>
            <a:r>
              <a:rPr lang="en-US" sz="1700" dirty="0"/>
              <a:t> write a Java producer that publishes Avro-encoded Employee records</a:t>
            </a:r>
          </a:p>
          <a:p>
            <a:pPr>
              <a:defRPr sz="1700"/>
            </a:pPr>
            <a:r>
              <a:rPr lang="en-US" sz="1700" b="1" dirty="0"/>
              <a:t>1.</a:t>
            </a:r>
            <a:r>
              <a:rPr lang="en-US" sz="1700" dirty="0"/>
              <a:t> Create employee.avsc (id, name, dept, salary) and generate POJO with avro-maven-plugin</a:t>
            </a:r>
          </a:p>
          <a:p>
            <a:pPr>
              <a:defRPr sz="1700"/>
            </a:pPr>
            <a:r>
              <a:rPr lang="en-US" sz="1700" b="1" dirty="0"/>
              <a:t>2.</a:t>
            </a:r>
            <a:r>
              <a:rPr lang="en-US" sz="1700" dirty="0"/>
              <a:t> Configure KafkaAvroSerializer with schema.registry.url</a:t>
            </a:r>
          </a:p>
          <a:p>
            <a:pPr>
              <a:defRPr sz="1700"/>
            </a:pPr>
            <a:r>
              <a:rPr lang="en-US" sz="1700" b="1" dirty="0"/>
              <a:t>3.</a:t>
            </a:r>
            <a:r>
              <a:rPr lang="en-US" sz="1700" dirty="0"/>
              <a:t> Send 10 Employee records to topic "employees-avro"</a:t>
            </a:r>
          </a:p>
          <a:p>
            <a:pPr>
              <a:defRPr sz="1700"/>
            </a:pPr>
            <a:r>
              <a:rPr lang="en-US" sz="1700" b="1" dirty="0"/>
              <a:t>4.</a:t>
            </a:r>
            <a:r>
              <a:rPr lang="en-US" sz="1700" dirty="0"/>
              <a:t> Watch the schema auto-register in Schema Registry</a:t>
            </a:r>
          </a:p>
          <a:p>
            <a:pPr>
              <a:defRPr sz="1700"/>
            </a:pPr>
            <a:r>
              <a:rPr lang="en-US" sz="1700" b="1" dirty="0"/>
              <a:t>✓ Checkpoint:</a:t>
            </a:r>
            <a:r>
              <a:rPr lang="en-US" sz="1700" dirty="0"/>
              <a:t> GET /subjects returns "employees-avro-value"; /subjects/.../versions returns [1]</a:t>
            </a:r>
          </a:p>
          <a:p>
            <a:pPr>
              <a:defRPr sz="1700"/>
            </a:pPr>
            <a:r>
              <a:rPr lang="en-US" sz="1700" b="1" dirty="0"/>
              <a:t>Time:</a:t>
            </a:r>
            <a:r>
              <a:rPr lang="en-US" sz="1700" dirty="0"/>
              <a:t> ~30 min — config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5303542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Consumer Configuration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 sz="1500"/>
            </a:pPr>
            <a:r>
              <a:rPr lang="en-US" sz="1500" b="1" dirty="0"/>
              <a:t># Required consumer.properties</a:t>
            </a:r>
          </a:p>
          <a:p>
            <a:pPr>
              <a:defRPr sz="1500"/>
            </a:pPr>
            <a:r>
              <a:rPr lang="en-US" sz="1500" dirty="0">
                <a:latin typeface="Consolas"/>
              </a:rPr>
              <a:t>bootstrap.servers = localhost:9092</a:t>
            </a:r>
          </a:p>
          <a:p>
            <a:pPr>
              <a:defRPr sz="1500"/>
            </a:pPr>
            <a:r>
              <a:rPr lang="en-US" sz="1500" dirty="0">
                <a:latin typeface="Consolas"/>
              </a:rPr>
              <a:t>group.id = avro-consumer-grp</a:t>
            </a:r>
          </a:p>
          <a:p>
            <a:pPr>
              <a:defRPr sz="1500"/>
            </a:pPr>
            <a:r>
              <a:rPr lang="en-US" sz="1500" dirty="0">
                <a:latin typeface="Consolas"/>
              </a:rPr>
              <a:t>key.deserializer   = org.apache.kafka.common.serialization.StringDeserializer</a:t>
            </a:r>
          </a:p>
          <a:p>
            <a:pPr>
              <a:defRPr sz="1500"/>
            </a:pPr>
            <a:r>
              <a:rPr lang="en-US" sz="1500" dirty="0">
                <a:latin typeface="Consolas"/>
              </a:rPr>
              <a:t>value.deserializer = io.confluent.kafka.serializers.KafkaAvroDeserializer</a:t>
            </a:r>
          </a:p>
          <a:p>
            <a:pPr>
              <a:defRPr sz="1500"/>
            </a:pPr>
            <a:r>
              <a:rPr lang="en-US" sz="1500" dirty="0">
                <a:latin typeface="Consolas"/>
              </a:rPr>
              <a:t>schema.registry.url = http://localhost:8081</a:t>
            </a:r>
          </a:p>
          <a:p>
            <a:pPr>
              <a:defRPr sz="1500"/>
            </a:pPr>
            <a:r>
              <a:rPr lang="en-US" sz="1500" dirty="0">
                <a:latin typeface="Consolas"/>
              </a:rPr>
              <a:t>specific.avro.reader = true     # → Employee, not GenericRecord</a:t>
            </a:r>
          </a:p>
          <a:p>
            <a:pPr>
              <a:defRPr sz="1500"/>
            </a:pPr>
            <a:r>
              <a:rPr lang="en-US" sz="1500" b="1" dirty="0"/>
              <a:t>What happens on poll():</a:t>
            </a:r>
            <a:r>
              <a:rPr lang="en-US" sz="1500" dirty="0"/>
              <a:t> deserializer reads the schema ID from the message header → fetches the writer schema from Registry (cached) → decodes binary into Java object.</a:t>
            </a:r>
          </a:p>
          <a:p>
            <a:pPr>
              <a:defRPr sz="1500"/>
            </a:pPr>
            <a:r>
              <a:rPr lang="en-US" sz="1500" b="1" dirty="0"/>
              <a:t>Tip:</a:t>
            </a:r>
            <a:r>
              <a:rPr lang="en-US" sz="1500" dirty="0"/>
              <a:t> GenericRecord (specific.avro.reader=false) is useful when you don't have the generated class.</a:t>
            </a:r>
          </a:p>
        </p:txBody>
      </p:sp>
    </p:spTree>
    <p:extLst>
      <p:ext uri="{BB962C8B-B14F-4D97-AF65-F5344CB8AC3E}">
        <p14:creationId xmlns:p14="http://schemas.microsoft.com/office/powerpoint/2010/main" val="1470496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5 - Consume Avro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lang="en-US" sz="1700" b="1" dirty="0"/>
              <a:t>Goal:</a:t>
            </a:r>
            <a:r>
              <a:rPr lang="en-US" sz="1700" dirty="0"/>
              <a:t> consume the records from Lab 4 and deserialize them back into Java objects</a:t>
            </a:r>
          </a:p>
          <a:p>
            <a:pPr>
              <a:defRPr sz="1700"/>
            </a:pPr>
            <a:r>
              <a:rPr lang="en-US" sz="1700" b="1" dirty="0"/>
              <a:t>1.</a:t>
            </a:r>
            <a:r>
              <a:rPr lang="en-US" sz="1700" dirty="0"/>
              <a:t> Configure KafkaAvroDeserializer with schema.registry.url</a:t>
            </a:r>
          </a:p>
          <a:p>
            <a:pPr>
              <a:defRPr sz="1700"/>
            </a:pPr>
            <a:r>
              <a:rPr lang="en-US" sz="1700" b="1" dirty="0"/>
              <a:t>2.</a:t>
            </a:r>
            <a:r>
              <a:rPr lang="en-US" sz="1700" dirty="0"/>
              <a:t> Set specific.avro.reader=true to deserialize into the generated Employee class (not GenericRecord)</a:t>
            </a:r>
          </a:p>
          <a:p>
            <a:pPr>
              <a:defRPr sz="1700"/>
            </a:pPr>
            <a:r>
              <a:rPr lang="en-US" sz="1700" b="1" dirty="0"/>
              <a:t>3.</a:t>
            </a:r>
            <a:r>
              <a:rPr lang="en-US" sz="1700" dirty="0"/>
              <a:t> Poll "employees-avro" and print employee.getName(), getDept(), getSalary()</a:t>
            </a:r>
          </a:p>
          <a:p>
            <a:pPr>
              <a:defRPr sz="1700"/>
            </a:pPr>
            <a:r>
              <a:rPr lang="en-US" sz="1700" b="1" dirty="0"/>
              <a:t>4.</a:t>
            </a:r>
            <a:r>
              <a:rPr lang="en-US" sz="1700" dirty="0"/>
              <a:t> Stop the consumer mid-stream; restart it and confirm it resumes from offset</a:t>
            </a:r>
          </a:p>
          <a:p>
            <a:pPr>
              <a:defRPr sz="1700"/>
            </a:pPr>
            <a:r>
              <a:rPr lang="en-US" sz="1700" b="1" dirty="0"/>
              <a:t>✓ Checkpoint:</a:t>
            </a:r>
            <a:r>
              <a:rPr lang="en-US" sz="1700" dirty="0"/>
              <a:t> all 10 Employee records print correctly as typed Java objects</a:t>
            </a:r>
          </a:p>
          <a:p>
            <a:pPr>
              <a:defRPr sz="1700"/>
            </a:pPr>
            <a:r>
              <a:rPr lang="en-US" sz="1700" b="1" dirty="0"/>
              <a:t>Time:</a:t>
            </a:r>
            <a:r>
              <a:rPr lang="en-US" sz="1700" dirty="0"/>
              <a:t> ~25 min</a:t>
            </a:r>
          </a:p>
        </p:txBody>
      </p:sp>
    </p:spTree>
    <p:extLst>
      <p:ext uri="{BB962C8B-B14F-4D97-AF65-F5344CB8AC3E}">
        <p14:creationId xmlns:p14="http://schemas.microsoft.com/office/powerpoint/2010/main" val="20343287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Assignment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1800"/>
            </a:pPr>
            <a:r>
              <a:rPr lang="en-US" sz="1800" b="1" dirty="0"/>
              <a:t>By the end of these labs you will be able to:</a:t>
            </a:r>
          </a:p>
          <a:p>
            <a:pPr>
              <a:defRPr sz="1800"/>
            </a:pPr>
            <a:r>
              <a:rPr lang="en-US" sz="1800" b="1" dirty="0"/>
              <a:t>✓</a:t>
            </a:r>
            <a:r>
              <a:rPr lang="en-US" sz="1800" dirty="0"/>
              <a:t> Compare JSON, XML, Avro, and Protobuf head-to-head on size, speed, readability</a:t>
            </a:r>
          </a:p>
          <a:p>
            <a:pPr>
              <a:defRPr sz="1800"/>
            </a:pPr>
            <a:r>
              <a:rPr lang="en-US" sz="1800" b="1" dirty="0"/>
              <a:t>✓</a:t>
            </a:r>
            <a:r>
              <a:rPr lang="en-US" sz="1800" dirty="0"/>
              <a:t> Stand up Confluent Schema Registry locally and interact with its REST API</a:t>
            </a:r>
          </a:p>
          <a:p>
            <a:pPr>
              <a:defRPr sz="1800"/>
            </a:pPr>
            <a:r>
              <a:rPr lang="en-US" sz="1800" b="1" dirty="0"/>
              <a:t>✓</a:t>
            </a:r>
            <a:r>
              <a:rPr lang="en-US" sz="1800" dirty="0"/>
              <a:t> Write Java producers and consumers that use Avro + Schema Registry end-to-end</a:t>
            </a:r>
          </a:p>
          <a:p>
            <a:pPr>
              <a:defRPr sz="1800"/>
            </a:pPr>
            <a:r>
              <a:rPr lang="en-US" sz="1800" b="1" dirty="0"/>
              <a:t>✓</a:t>
            </a:r>
            <a:r>
              <a:rPr lang="en-US" sz="1800" dirty="0"/>
              <a:t> Evolve schemas safely — predict which changes are backward/forward compatible</a:t>
            </a:r>
          </a:p>
          <a:p>
            <a:pPr>
              <a:defRPr sz="1800"/>
            </a:pPr>
            <a:r>
              <a:rPr lang="en-US" sz="1800" b="1" dirty="0"/>
              <a:t>✓</a:t>
            </a:r>
            <a:r>
              <a:rPr lang="en-US" sz="1800" dirty="0"/>
              <a:t> Debug serialization errors using Registry REST endpoints and Kafka logs</a:t>
            </a:r>
          </a:p>
          <a:p>
            <a:pPr>
              <a:defRPr sz="1800"/>
            </a:pPr>
            <a:r>
              <a:rPr lang="en-US" sz="1800" b="1" dirty="0"/>
              <a:t>✓</a:t>
            </a:r>
            <a:r>
              <a:rPr lang="en-US" sz="1800" dirty="0"/>
              <a:t> Choose the right format for a given workload — Kafka, REST API, archival, mobile</a:t>
            </a:r>
          </a:p>
        </p:txBody>
      </p:sp>
    </p:spTree>
    <p:extLst>
      <p:ext uri="{BB962C8B-B14F-4D97-AF65-F5344CB8AC3E}">
        <p14:creationId xmlns:p14="http://schemas.microsoft.com/office/powerpoint/2010/main" val="15405593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B2541-C6AA-DD39-7E67-0BA7CFB03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Which Format Should I Use?</a:t>
            </a:r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4E072D0-C118-49F7-BEC8-17B6F7B9A592}"/>
              </a:ext>
            </a:extLst>
          </p:cNvPr>
          <p:cNvSpPr/>
          <p:nvPr/>
        </p:nvSpPr>
        <p:spPr>
          <a:xfrm>
            <a:off x="2794000" y="2222500"/>
            <a:ext cx="3556000" cy="635000"/>
          </a:xfrm>
          <a:prstGeom prst="roundRect">
            <a:avLst/>
          </a:prstGeom>
          <a:solidFill>
            <a:srgbClr val="58A6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IN" sz="1500" b="1">
                <a:solidFill>
                  <a:srgbClr val="FFFFFF"/>
                </a:solidFill>
              </a:rPr>
              <a:t>Need human-readable payloads?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A90563-7078-45E1-9E56-93DC76A1BBEA}"/>
              </a:ext>
            </a:extLst>
          </p:cNvPr>
          <p:cNvSpPr/>
          <p:nvPr/>
        </p:nvSpPr>
        <p:spPr>
          <a:xfrm>
            <a:off x="381000" y="3048000"/>
            <a:ext cx="2286000" cy="1143000"/>
          </a:xfrm>
          <a:prstGeom prst="roundRect">
            <a:avLst/>
          </a:prstGeom>
          <a:solidFill>
            <a:srgbClr val="58A6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IN" sz="1400">
                <a:solidFill>
                  <a:srgbClr val="FFFFFF"/>
                </a:solidFill>
              </a:rPr>
              <a:t>YES →  JSON
Web APIs,
logs, debug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D9FE85F-621C-4431-9E8F-7FB7DE886BE4}"/>
              </a:ext>
            </a:extLst>
          </p:cNvPr>
          <p:cNvSpPr/>
          <p:nvPr/>
        </p:nvSpPr>
        <p:spPr>
          <a:xfrm>
            <a:off x="3048000" y="3048000"/>
            <a:ext cx="3048000" cy="1143000"/>
          </a:xfrm>
          <a:prstGeom prst="roundRect">
            <a:avLst/>
          </a:prstGeom>
          <a:solidFill>
            <a:srgbClr val="58A6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NO →  Polyglot consumers
+ schema evolution?</a:t>
            </a:r>
            <a:endParaRPr lang="en-IN" sz="1400" b="1">
              <a:solidFill>
                <a:srgbClr val="FFFFFF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E34B2B8-D2CD-49DC-84CC-A89F19FCCAA5}"/>
              </a:ext>
            </a:extLst>
          </p:cNvPr>
          <p:cNvSpPr/>
          <p:nvPr/>
        </p:nvSpPr>
        <p:spPr>
          <a:xfrm>
            <a:off x="6477000" y="3048000"/>
            <a:ext cx="2032000" cy="1143000"/>
          </a:xfrm>
          <a:prstGeom prst="roundRect">
            <a:avLst/>
          </a:prstGeom>
          <a:solidFill>
            <a:srgbClr val="FFA65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400" b="1" dirty="0">
                <a:solidFill>
                  <a:srgbClr val="0E1117"/>
                </a:solidFill>
              </a:rPr>
              <a:t>Legacy SOAP?</a:t>
            </a:r>
          </a:p>
          <a:p>
            <a:pPr algn="l"/>
            <a:r>
              <a:rPr lang="en-US" sz="1400" b="1" dirty="0">
                <a:solidFill>
                  <a:srgbClr val="0E1117"/>
                </a:solidFill>
              </a:rPr>
              <a:t>→  XML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82415E9-93FC-4E85-A086-CF873FD92959}"/>
              </a:ext>
            </a:extLst>
          </p:cNvPr>
          <p:cNvSpPr/>
          <p:nvPr/>
        </p:nvSpPr>
        <p:spPr>
          <a:xfrm>
            <a:off x="1016000" y="4572000"/>
            <a:ext cx="3048000" cy="1397000"/>
          </a:xfrm>
          <a:prstGeom prst="roundRect">
            <a:avLst/>
          </a:prstGeom>
          <a:solidFill>
            <a:srgbClr val="39D353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Kafka events?
→  AVRO
Schema Registry friendly,
compact, evolution-safe</a:t>
            </a:r>
            <a:endParaRPr lang="en-IN" sz="1400">
              <a:solidFill>
                <a:srgbClr val="FFFFFF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87438C-31C2-4682-AD21-1F2E8F40DD94}"/>
              </a:ext>
            </a:extLst>
          </p:cNvPr>
          <p:cNvSpPr/>
          <p:nvPr/>
        </p:nvSpPr>
        <p:spPr>
          <a:xfrm>
            <a:off x="5080000" y="4572000"/>
            <a:ext cx="3048000" cy="1397000"/>
          </a:xfrm>
          <a:prstGeom prst="roundRect">
            <a:avLst/>
          </a:prstGeom>
          <a:solidFill>
            <a:srgbClr val="A371F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gRPC / cross-service?
→  PROTOBUF
Fastest,
strong typing in code</a:t>
            </a:r>
            <a:endParaRPr lang="en-IN" sz="1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2207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1800"/>
            </a:pPr>
            <a:r>
              <a:rPr lang="en-US" sz="1800" b="1" dirty="0"/>
              <a:t>Default to BACKWARD compatibility</a:t>
            </a:r>
            <a:r>
              <a:rPr lang="en-US" sz="1800" dirty="0"/>
              <a:t> in production — safest for rolling consumer upgrades</a:t>
            </a:r>
          </a:p>
          <a:p>
            <a:pPr>
              <a:defRPr sz="1800"/>
            </a:pPr>
            <a:r>
              <a:rPr lang="en-US" sz="1800" b="1" dirty="0"/>
              <a:t>Never delete or rename required fields</a:t>
            </a:r>
            <a:r>
              <a:rPr lang="en-US" sz="1800" dirty="0"/>
              <a:t> — mark them deprecated and add a replacement instead</a:t>
            </a:r>
          </a:p>
          <a:p>
            <a:pPr>
              <a:defRPr sz="1800"/>
            </a:pPr>
            <a:r>
              <a:rPr lang="en-US" sz="1800" b="1" dirty="0"/>
              <a:t>Always provide defaults for new fields</a:t>
            </a:r>
            <a:r>
              <a:rPr lang="en-US" sz="1800" dirty="0"/>
              <a:t> so old consumers can read new messages</a:t>
            </a:r>
          </a:p>
          <a:p>
            <a:pPr>
              <a:defRPr sz="1800"/>
            </a:pPr>
            <a:r>
              <a:rPr lang="en-US" sz="1800" b="1" dirty="0"/>
              <a:t>Version schemas in Git</a:t>
            </a:r>
            <a:r>
              <a:rPr lang="en-US" sz="1800" dirty="0"/>
              <a:t> alongside producer/consumer code — review PRs like API changes</a:t>
            </a:r>
          </a:p>
          <a:p>
            <a:pPr>
              <a:defRPr sz="1800"/>
            </a:pPr>
            <a:r>
              <a:rPr lang="en-US" sz="1800" b="1" dirty="0"/>
              <a:t>Disable auto.register.schemas</a:t>
            </a:r>
            <a:r>
              <a:rPr lang="en-US" sz="1800" dirty="0"/>
              <a:t> in prod — register via CI/CD so changes are reviewed</a:t>
            </a:r>
          </a:p>
          <a:p>
            <a:pPr>
              <a:defRPr sz="1800"/>
            </a:pPr>
            <a:r>
              <a:rPr lang="en-US" sz="1800" b="1" dirty="0"/>
              <a:t>Test compatibility in CI</a:t>
            </a:r>
            <a:r>
              <a:rPr lang="en-US" sz="1800" dirty="0"/>
              <a:t> with the Registry maven plugin before merging</a:t>
            </a:r>
          </a:p>
          <a:p>
            <a:pPr>
              <a:defRPr sz="1800"/>
            </a:pPr>
            <a:r>
              <a:rPr lang="en-US" sz="1800" b="1" dirty="0"/>
              <a:t>Document each schema</a:t>
            </a:r>
            <a:r>
              <a:rPr lang="en-US" sz="1800" dirty="0"/>
              <a:t> — use Avro doc strings; future you will thank you</a:t>
            </a:r>
          </a:p>
        </p:txBody>
      </p:sp>
    </p:spTree>
    <p:extLst>
      <p:ext uri="{BB962C8B-B14F-4D97-AF65-F5344CB8AC3E}">
        <p14:creationId xmlns:p14="http://schemas.microsoft.com/office/powerpoint/2010/main" val="26374502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</a:t>
            </a:r>
            <a:r>
              <a:rPr lang="en-US"/>
              <a:t>6 - </a:t>
            </a:r>
            <a:r>
              <a:rPr lang="en-US" dirty="0"/>
              <a:t>Schema Evolution End-to-End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lang="en-US" sz="1700" b="1" dirty="0"/>
              <a:t>Goal:</a:t>
            </a:r>
            <a:r>
              <a:rPr lang="en-US" sz="1700" dirty="0"/>
              <a:t> evolve a live schema, prove backward compatibility, then break it on purpose</a:t>
            </a:r>
          </a:p>
          <a:p>
            <a:pPr>
              <a:defRPr sz="1700"/>
            </a:pPr>
            <a:r>
              <a:rPr lang="en-US" sz="1700" b="1" dirty="0"/>
              <a:t>1.</a:t>
            </a:r>
            <a:r>
              <a:rPr lang="en-US" sz="1700" dirty="0"/>
              <a:t> v1 = Employee{id,name,dept,salary} — already producing from Lab 4</a:t>
            </a:r>
          </a:p>
          <a:p>
            <a:pPr>
              <a:defRPr sz="1700"/>
            </a:pPr>
            <a:r>
              <a:rPr lang="en-US" sz="1700" b="1" dirty="0"/>
              <a:t>2.</a:t>
            </a:r>
            <a:r>
              <a:rPr lang="en-US" sz="1700" dirty="0"/>
              <a:t> Evolve to v2 = add email field with default="" → register, verify Lab 5 consumer still reads v1 messages</a:t>
            </a:r>
          </a:p>
          <a:p>
            <a:pPr>
              <a:defRPr sz="1700"/>
            </a:pPr>
            <a:r>
              <a:rPr lang="en-US" sz="1700" b="1" dirty="0"/>
              <a:t>3.</a:t>
            </a:r>
            <a:r>
              <a:rPr lang="en-US" sz="1700" dirty="0"/>
              <a:t> Try a BREAKING change: rename "dept" → "department" → confirm Registry rejects with 409 IncompatibleSchema</a:t>
            </a:r>
          </a:p>
          <a:p>
            <a:pPr>
              <a:defRPr sz="1700"/>
            </a:pPr>
            <a:r>
              <a:rPr lang="en-US" sz="1700" b="1" dirty="0"/>
              <a:t>4.</a:t>
            </a:r>
            <a:r>
              <a:rPr lang="en-US" sz="1700" dirty="0"/>
              <a:t> Fix by using "aliases" : ["dept"] — register successfully</a:t>
            </a:r>
          </a:p>
          <a:p>
            <a:pPr>
              <a:defRPr sz="1700"/>
            </a:pPr>
            <a:r>
              <a:rPr lang="en-US" sz="1700" b="1" dirty="0"/>
              <a:t>✓ Checkpoint:</a:t>
            </a:r>
            <a:r>
              <a:rPr lang="en-US" sz="1700" dirty="0"/>
              <a:t> /subjects/employees-avro-value/versions returns [1,2,3]; old consumers still work</a:t>
            </a:r>
          </a:p>
          <a:p>
            <a:pPr>
              <a:defRPr sz="1700"/>
            </a:pPr>
            <a:r>
              <a:rPr lang="en-US" sz="1700" b="1" dirty="0"/>
              <a:t>Deliverable:</a:t>
            </a:r>
            <a:r>
              <a:rPr lang="en-US" sz="1700" dirty="0"/>
              <a:t> short writeup — which changes broke compatibility, which didn't, and why</a:t>
            </a:r>
          </a:p>
        </p:txBody>
      </p:sp>
    </p:spTree>
    <p:extLst>
      <p:ext uri="{BB962C8B-B14F-4D97-AF65-F5344CB8AC3E}">
        <p14:creationId xmlns:p14="http://schemas.microsoft.com/office/powerpoint/2010/main" val="5828505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7CD26-256C-65CC-8355-94F8E813E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Common Pitfalls &amp; Gotchas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38F69-F4ED-0423-A134-26F7A2A12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 sz="1700"/>
            </a:pPr>
            <a:r>
              <a:rPr lang="en-US" sz="1700" b="1" dirty="0"/>
              <a:t>🚫 Forgetting default values</a:t>
            </a:r>
            <a:r>
              <a:rPr lang="en-US" sz="1700" dirty="0"/>
              <a:t> on new Avro fields → breaks BACKWARD compatibility instantly</a:t>
            </a:r>
          </a:p>
          <a:p>
            <a:pPr>
              <a:defRPr sz="1700"/>
            </a:pPr>
            <a:r>
              <a:rPr lang="en-US" sz="1700" b="1" dirty="0"/>
              <a:t>🚫 Using auto.register.schemas in production</a:t>
            </a:r>
            <a:r>
              <a:rPr lang="en-US" sz="1700" dirty="0"/>
              <a:t> — a buggy producer can register a bad schema in seconds</a:t>
            </a:r>
          </a:p>
          <a:p>
            <a:pPr>
              <a:defRPr sz="1700"/>
            </a:pPr>
            <a:r>
              <a:rPr lang="en-US" sz="1700" b="1" dirty="0"/>
              <a:t>🚫 Reusing the same subject for different message types</a:t>
            </a:r>
            <a:r>
              <a:rPr lang="en-US" sz="1700" dirty="0"/>
              <a:t> — use TopicRecordNameStrategy if a topic has multiple schemas</a:t>
            </a:r>
          </a:p>
          <a:p>
            <a:pPr>
              <a:defRPr sz="1700"/>
            </a:pPr>
            <a:r>
              <a:rPr lang="en-US" sz="1700" b="1" dirty="0"/>
              <a:t>🚫 Renaming a field</a:t>
            </a:r>
            <a:r>
              <a:rPr lang="en-US" sz="1700" dirty="0"/>
              <a:t> — Avro sees rename as delete+add; use aliases instead</a:t>
            </a:r>
          </a:p>
          <a:p>
            <a:pPr>
              <a:defRPr sz="1700"/>
            </a:pPr>
            <a:r>
              <a:rPr lang="en-US" sz="1700" b="1" dirty="0"/>
              <a:t>🚫 Forgetting specific.avro.reader=true</a:t>
            </a:r>
            <a:r>
              <a:rPr lang="en-US" sz="1700" dirty="0"/>
              <a:t> on the consumer → you get GenericRecord instead of your POJO</a:t>
            </a:r>
          </a:p>
          <a:p>
            <a:pPr>
              <a:defRPr sz="1700"/>
            </a:pPr>
            <a:r>
              <a:rPr lang="en-US" sz="1700" b="1" dirty="0"/>
              <a:t>🚫 Treating Schema Registry as optional</a:t>
            </a:r>
            <a:r>
              <a:rPr lang="en-US" sz="1700" dirty="0"/>
              <a:t> — if it's down, consumers can't deserialize. Run it HA in prod</a:t>
            </a:r>
          </a:p>
          <a:p>
            <a:pPr>
              <a:defRPr sz="1700"/>
            </a:pPr>
            <a:r>
              <a:rPr lang="en-US" sz="1700" b="1" dirty="0"/>
              <a:t>🚫 Picking FULL_TRANSITIVE</a:t>
            </a:r>
            <a:r>
              <a:rPr lang="en-US" sz="1700" dirty="0"/>
              <a:t> by default — it's strict; only use it when schemas truly must be lossless across all versions</a:t>
            </a:r>
          </a:p>
        </p:txBody>
      </p:sp>
    </p:spTree>
    <p:extLst>
      <p:ext uri="{BB962C8B-B14F-4D97-AF65-F5344CB8AC3E}">
        <p14:creationId xmlns:p14="http://schemas.microsoft.com/office/powerpoint/2010/main" val="37166847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1800"/>
            </a:pPr>
            <a:r>
              <a:rPr lang="en-US" sz="1800" b="1" dirty="0"/>
              <a:t>Serialization</a:t>
            </a:r>
            <a:r>
              <a:rPr lang="en-US" sz="1800" dirty="0"/>
              <a:t> turns objects into bytes for transport and storage</a:t>
            </a:r>
          </a:p>
          <a:p>
            <a:pPr>
              <a:defRPr sz="1800"/>
            </a:pPr>
            <a:r>
              <a:rPr lang="en-US" sz="1800" b="1" dirty="0"/>
              <a:t>Format choice matters:</a:t>
            </a:r>
            <a:r>
              <a:rPr lang="en-US" sz="1800" dirty="0"/>
              <a:t> JSON for debugging, Avro/Protobuf for production scale</a:t>
            </a:r>
          </a:p>
          <a:p>
            <a:pPr>
              <a:defRPr sz="1800"/>
            </a:pPr>
            <a:r>
              <a:rPr lang="en-US" sz="1800" b="1" dirty="0"/>
              <a:t>Avro</a:t>
            </a:r>
            <a:r>
              <a:rPr lang="en-US" sz="1800" dirty="0"/>
              <a:t> is the Kafka standard — compact, schema-driven, evolution-friendly</a:t>
            </a:r>
          </a:p>
          <a:p>
            <a:pPr>
              <a:defRPr sz="1800"/>
            </a:pPr>
            <a:r>
              <a:rPr lang="en-US" sz="1800" b="1" dirty="0"/>
              <a:t>Schema Registry</a:t>
            </a:r>
            <a:r>
              <a:rPr lang="en-US" sz="1800" dirty="0"/>
              <a:t> centralises schemas and enforces compatibility rules</a:t>
            </a:r>
          </a:p>
          <a:p>
            <a:pPr>
              <a:defRPr sz="1800"/>
            </a:pPr>
            <a:r>
              <a:rPr lang="en-US" sz="1800" b="1" dirty="0"/>
              <a:t>BACKWARD</a:t>
            </a:r>
            <a:r>
              <a:rPr lang="en-US" sz="1800" dirty="0"/>
              <a:t> is the default — pick it unless you have a strong reason otherwise</a:t>
            </a:r>
          </a:p>
          <a:p>
            <a:pPr>
              <a:defRPr sz="1800"/>
            </a:pPr>
            <a:r>
              <a:rPr lang="en-US" sz="1800" b="1" dirty="0"/>
              <a:t>You can now:</a:t>
            </a:r>
            <a:r>
              <a:rPr lang="en-US" sz="1800" dirty="0"/>
              <a:t> serialize across formats, run Schema Registry, and safely evolve event schemas</a:t>
            </a:r>
          </a:p>
          <a:p>
            <a:pPr>
              <a:defRPr sz="1800"/>
            </a:pPr>
            <a:r>
              <a:rPr lang="en-US" sz="1800" b="1" dirty="0"/>
              <a:t>Next:</a:t>
            </a:r>
            <a:r>
              <a:rPr lang="en-US" sz="1800" dirty="0"/>
              <a:t> apply these patterns to your own producers/consumers in the lab environment</a:t>
            </a:r>
          </a:p>
        </p:txBody>
      </p:sp>
    </p:spTree>
    <p:extLst>
      <p:ext uri="{BB962C8B-B14F-4D97-AF65-F5344CB8AC3E}">
        <p14:creationId xmlns:p14="http://schemas.microsoft.com/office/powerpoint/2010/main" val="28774964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 [1779642697176]">
  <a:themeElements>
    <a:clrScheme name="Integral">
      <a:dk1>
        <a:srgbClr val="E6EDF3"/>
      </a:dk1>
      <a:lt1>
        <a:srgbClr val="0E1117"/>
      </a:lt1>
      <a:dk2>
        <a:srgbClr val="C9D1D9"/>
      </a:dk2>
      <a:lt2>
        <a:srgbClr val="21262D"/>
      </a:lt2>
      <a:accent1>
        <a:srgbClr val="58A6FF"/>
      </a:accent1>
      <a:accent2>
        <a:srgbClr val="39D353"/>
      </a:accent2>
      <a:accent3>
        <a:srgbClr val="F778BA"/>
      </a:accent3>
      <a:accent4>
        <a:srgbClr val="FFA657"/>
      </a:accent4>
      <a:accent5>
        <a:srgbClr val="A371F7"/>
      </a:accent5>
      <a:accent6>
        <a:srgbClr val="79C0FF"/>
      </a:accent6>
      <a:hlink>
        <a:srgbClr val="6B9F25"/>
      </a:hlink>
      <a:folHlink>
        <a:srgbClr val="B26B02"/>
      </a:folHlink>
    </a:clrScheme>
    <a:fontScheme name="Integral">
      <a:majorFont>
        <a:latin typeface="Segoe UI Semibol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egoe UI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3C3AB63-499F-495A-97EC-D373E2D0DFF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ff2bf2b-a6af-4b23-af45-7343432a6c0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76</TotalTime>
  <Words>3328</Words>
  <Application>Microsoft Office PowerPoint</Application>
  <PresentationFormat>On-screen Show (4:3)</PresentationFormat>
  <Paragraphs>312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Consolas</vt:lpstr>
      <vt:lpstr>Segoe UI</vt:lpstr>
      <vt:lpstr>Segoe UI Semibold</vt:lpstr>
      <vt:lpstr>Tw Cen MT</vt:lpstr>
      <vt:lpstr>Wingdings 3</vt:lpstr>
      <vt:lpstr>Integral [1779642697176]</vt:lpstr>
      <vt:lpstr>Serialization &amp; Schema Management</vt:lpstr>
      <vt:lpstr>Learning Objectives</vt:lpstr>
      <vt:lpstr>Serialization Basics</vt:lpstr>
      <vt:lpstr>Why Serialization is Important</vt:lpstr>
      <vt:lpstr>Object → Bytes → Object</vt:lpstr>
      <vt:lpstr>Kafka Serialization Flow</vt:lpstr>
      <vt:lpstr>JSON Serialization</vt:lpstr>
      <vt:lpstr>XML Serialization</vt:lpstr>
      <vt:lpstr>Avro Serialization</vt:lpstr>
      <vt:lpstr>Protobuf Serialization</vt:lpstr>
      <vt:lpstr>Format Comparison at a Glance</vt:lpstr>
      <vt:lpstr>JSON vs Avro vs Protobuf</vt:lpstr>
      <vt:lpstr>Lab 1 - Serialize a POJO in 4 Formats</vt:lpstr>
      <vt:lpstr>Lab 2: Benchmark the Four Formats</vt:lpstr>
      <vt:lpstr>Schema Registry Architecture</vt:lpstr>
      <vt:lpstr>Schema Registry - Inside the Box</vt:lpstr>
      <vt:lpstr>Schema Registry Components</vt:lpstr>
      <vt:lpstr>Schema Registry Workflow</vt:lpstr>
      <vt:lpstr>Avro Serialization Architecture</vt:lpstr>
      <vt:lpstr>Example Avro Schema</vt:lpstr>
      <vt:lpstr>Schema Evolution</vt:lpstr>
      <vt:lpstr>Lab 3 - Install Confluent Schema Registry</vt:lpstr>
      <vt:lpstr>Lab 3 - Commands &amp; Verification</vt:lpstr>
      <vt:lpstr>Schema Evolution Example</vt:lpstr>
      <vt:lpstr>Compatibility Types</vt:lpstr>
      <vt:lpstr>Compatibility Matrix</vt:lpstr>
      <vt:lpstr>Schema Evolution: v1 → v2 In Practice</vt:lpstr>
      <vt:lpstr>Producer Configuration Example</vt:lpstr>
      <vt:lpstr>Lab 4 - Produce Avro Messages to Kafka</vt:lpstr>
      <vt:lpstr>Consumer Configuration Example</vt:lpstr>
      <vt:lpstr>Lab 5 - Consume Avro Messages</vt:lpstr>
      <vt:lpstr>Expected Assignment Outcome</vt:lpstr>
      <vt:lpstr>Which Format Should I Use?</vt:lpstr>
      <vt:lpstr>Best Practices</vt:lpstr>
      <vt:lpstr>Lab 6 - Schema Evolution End-to-End</vt:lpstr>
      <vt:lpstr>Common Pitfalls &amp; Gotchas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31</cp:revision>
  <dcterms:created xsi:type="dcterms:W3CDTF">2013-01-27T09:14:16Z</dcterms:created>
  <dcterms:modified xsi:type="dcterms:W3CDTF">2026-05-24T17:41:29Z</dcterms:modified>
  <cp:category/>
</cp:coreProperties>
</file>