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93" r:id="rId2"/>
    <p:sldId id="294" r:id="rId3"/>
    <p:sldId id="295" r:id="rId4"/>
    <p:sldId id="296" r:id="rId5"/>
    <p:sldId id="327" r:id="rId6"/>
    <p:sldId id="298" r:id="rId7"/>
    <p:sldId id="328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316" r:id="rId25"/>
    <p:sldId id="317" r:id="rId26"/>
    <p:sldId id="318" r:id="rId27"/>
    <p:sldId id="319" r:id="rId28"/>
    <p:sldId id="320" r:id="rId29"/>
    <p:sldId id="321" r:id="rId30"/>
    <p:sldId id="322" r:id="rId31"/>
    <p:sldId id="323" r:id="rId32"/>
    <p:sldId id="324" r:id="rId33"/>
    <p:sldId id="325" r:id="rId34"/>
    <p:sldId id="326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3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1" name="Hero Circle"/>
          <p:cNvSpPr/>
          <p:nvPr/>
        </p:nvSpPr>
        <p:spPr>
          <a:xfrm>
            <a:off x="6400800" y="685800"/>
            <a:ext cx="2286000" cy="2286000"/>
          </a:xfrm>
          <a:prstGeom prst="ellipse">
            <a:avLst/>
          </a:prstGeom>
          <a:solidFill>
            <a:srgbClr val="00D4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02" name="Hero Dot"/>
          <p:cNvSpPr/>
          <p:nvPr/>
        </p:nvSpPr>
        <p:spPr>
          <a:xfrm>
            <a:off x="7315200" y="3429000"/>
            <a:ext cx="685800" cy="685800"/>
          </a:xfrm>
          <a:prstGeom prst="ellipse">
            <a:avLst/>
          </a:prstGeom>
          <a:solidFill>
            <a:srgbClr val="FFB62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952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87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0324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94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764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266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807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253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5626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518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4807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01" name="Accent Bar"/>
          <p:cNvSpPr/>
          <p:nvPr/>
        </p:nvSpPr>
        <p:spPr>
          <a:xfrm>
            <a:off x="0" y="0"/>
            <a:ext cx="6858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2" name="Corner Dot"/>
          <p:cNvSpPr/>
          <p:nvPr/>
        </p:nvSpPr>
        <p:spPr>
          <a:xfrm>
            <a:off x="8686800" y="6400800"/>
            <a:ext cx="228600" cy="228600"/>
          </a:xfrm>
          <a:prstGeom prst="ellipse">
            <a:avLst/>
          </a:prstGeom>
          <a:solidFill>
            <a:srgbClr val="FFB62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509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rgbClr val="00D4FF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rgbClr val="E8EEF5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rgbClr val="E8EEF5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8EEF5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8EEF5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8EEF5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8EEF5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8EEF5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8EEF5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8EEF5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Kafka Security &amp; Monitoring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Vikash Vema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4874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00D4FF"/>
                </a:solidFill>
                <a:latin typeface="Segoe UI"/>
              </a:rP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ts val="2400"/>
              </a:lnSpc>
              <a:spcBef>
                <a:spcPts val="400"/>
              </a:spcBef>
              <a:buClr>
                <a:srgbClr val="00D4FF"/>
              </a:buClr>
              <a:buFont typeface="Arial"/>
              <a:buChar char="▶"/>
            </a:pPr>
            <a:r>
              <a:rPr lang="en-US" sz="1800" dirty="0">
                <a:solidFill>
                  <a:srgbClr val="E8EEF7"/>
                </a:solidFill>
                <a:latin typeface="Segoe UI"/>
              </a:rPr>
              <a:t>Understand Kafka's security model: authentication, authorization, encryption</a:t>
            </a:r>
          </a:p>
          <a:p>
            <a:pPr marL="285750" indent="-285750">
              <a:lnSpc>
                <a:spcPts val="2400"/>
              </a:lnSpc>
              <a:spcBef>
                <a:spcPts val="400"/>
              </a:spcBef>
              <a:buClr>
                <a:srgbClr val="00D4FF"/>
              </a:buClr>
              <a:buFont typeface="Arial"/>
              <a:buChar char="▶"/>
            </a:pPr>
            <a:r>
              <a:rPr lang="en-US" sz="1800" dirty="0">
                <a:solidFill>
                  <a:srgbClr val="E8EEF7"/>
                </a:solidFill>
                <a:latin typeface="Segoe UI"/>
              </a:rPr>
              <a:t>Configure SASL/PLAIN, SASL/SCRAM, mTLS, and Kerberos authentication</a:t>
            </a:r>
          </a:p>
          <a:p>
            <a:pPr marL="285750" indent="-285750">
              <a:lnSpc>
                <a:spcPts val="2400"/>
              </a:lnSpc>
              <a:spcBef>
                <a:spcPts val="400"/>
              </a:spcBef>
              <a:buClr>
                <a:srgbClr val="00D4FF"/>
              </a:buClr>
              <a:buFont typeface="Arial"/>
              <a:buChar char="▶"/>
            </a:pPr>
            <a:r>
              <a:rPr lang="en-US" sz="1800" dirty="0">
                <a:solidFill>
                  <a:srgbClr val="E8EEF7"/>
                </a:solidFill>
                <a:latin typeface="Segoe UI"/>
              </a:rPr>
              <a:t>Implement fine-grained access control with ACLs and RBAC</a:t>
            </a:r>
          </a:p>
          <a:p>
            <a:pPr marL="285750" indent="-285750">
              <a:lnSpc>
                <a:spcPts val="2400"/>
              </a:lnSpc>
              <a:spcBef>
                <a:spcPts val="400"/>
              </a:spcBef>
              <a:buClr>
                <a:srgbClr val="00D4FF"/>
              </a:buClr>
              <a:buFont typeface="Arial"/>
              <a:buChar char="▶"/>
            </a:pPr>
            <a:r>
              <a:rPr lang="en-US" sz="1800" dirty="0">
                <a:solidFill>
                  <a:srgbClr val="E8EEF7"/>
                </a:solidFill>
                <a:latin typeface="Segoe UI"/>
              </a:rPr>
              <a:t>Enable TLS encryption for in-flight data and at-rest protection</a:t>
            </a:r>
          </a:p>
          <a:p>
            <a:pPr marL="285750" indent="-285750">
              <a:lnSpc>
                <a:spcPts val="2400"/>
              </a:lnSpc>
              <a:spcBef>
                <a:spcPts val="400"/>
              </a:spcBef>
              <a:buClr>
                <a:srgbClr val="00D4FF"/>
              </a:buClr>
              <a:buFont typeface="Arial"/>
              <a:buChar char="▶"/>
            </a:pPr>
            <a:r>
              <a:rPr lang="en-US" sz="1800" dirty="0">
                <a:solidFill>
                  <a:srgbClr val="E8EEF7"/>
                </a:solidFill>
                <a:latin typeface="Segoe UI"/>
              </a:rPr>
              <a:t>Monitor cluster health with JMX metrics, Prometheus, and Grafana</a:t>
            </a:r>
          </a:p>
          <a:p>
            <a:pPr marL="285750" indent="-285750">
              <a:lnSpc>
                <a:spcPts val="2400"/>
              </a:lnSpc>
              <a:spcBef>
                <a:spcPts val="400"/>
              </a:spcBef>
              <a:buClr>
                <a:srgbClr val="00D4FF"/>
              </a:buClr>
              <a:buFont typeface="Arial"/>
              <a:buChar char="▶"/>
            </a:pPr>
            <a:r>
              <a:rPr lang="en-US" sz="1800" dirty="0">
                <a:solidFill>
                  <a:srgbClr val="E8EEF7"/>
                </a:solidFill>
                <a:latin typeface="Segoe UI"/>
              </a:rPr>
              <a:t>Set up alerting for broker failures, consumer lag, and ISR shrinkage</a:t>
            </a:r>
          </a:p>
          <a:p>
            <a:pPr marL="285750" indent="-285750">
              <a:lnSpc>
                <a:spcPts val="2400"/>
              </a:lnSpc>
              <a:spcBef>
                <a:spcPts val="400"/>
              </a:spcBef>
              <a:buClr>
                <a:srgbClr val="00D4FF"/>
              </a:buClr>
              <a:buFont typeface="Arial"/>
              <a:buChar char="▶"/>
            </a:pPr>
            <a:r>
              <a:rPr lang="en-US" sz="1800" dirty="0">
                <a:solidFill>
                  <a:srgbClr val="E8EEF7"/>
                </a:solidFill>
                <a:latin typeface="Segoe UI"/>
              </a:rPr>
              <a:t>Apply quotas and rate limiting to prevent noisy-neighbor issues</a:t>
            </a:r>
          </a:p>
          <a:p>
            <a:pPr marL="285750" indent="-285750">
              <a:lnSpc>
                <a:spcPts val="2400"/>
              </a:lnSpc>
              <a:spcBef>
                <a:spcPts val="400"/>
              </a:spcBef>
              <a:buClr>
                <a:srgbClr val="00D4FF"/>
              </a:buClr>
              <a:buFont typeface="Arial"/>
              <a:buChar char="▶"/>
            </a:pPr>
            <a:r>
              <a:rPr lang="en-US" sz="1800" dirty="0">
                <a:solidFill>
                  <a:srgbClr val="E8EEF7"/>
                </a:solidFill>
                <a:latin typeface="Segoe UI"/>
              </a:rPr>
              <a:t>Audit access patterns and detect anomalies with structured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306686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6B7A99"/>
                </a:solidFill>
                <a:latin typeface="Segoe UI"/>
              </a:rPr>
              <a:t>Kafka Security &amp; Monitoring  |  Learning Objectives</a:t>
            </a:r>
          </a:p>
        </p:txBody>
      </p:sp>
    </p:spTree>
    <p:extLst>
      <p:ext uri="{BB962C8B-B14F-4D97-AF65-F5344CB8AC3E}">
        <p14:creationId xmlns:p14="http://schemas.microsoft.com/office/powerpoint/2010/main" val="3274280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00D4FF"/>
                </a:solidFill>
                <a:latin typeface="Segoe UI"/>
              </a:rPr>
              <a:t>Why Kafka Security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buNone/>
            </a:pPr>
            <a:r>
              <a:rPr lang="en-US" sz="2000" b="1" dirty="0">
                <a:solidFill>
                  <a:srgbClr val="FFB627"/>
                </a:solidFill>
                <a:latin typeface="Segoe UI"/>
              </a:rPr>
              <a:t>The Stakes</a:t>
            </a:r>
          </a:p>
          <a:p>
            <a:pPr marL="285750" indent="-285750">
              <a:lnSpc>
                <a:spcPts val="2400"/>
              </a:lnSpc>
              <a:spcBef>
                <a:spcPts val="400"/>
              </a:spcBef>
              <a:buClr>
                <a:srgbClr val="00D4FF"/>
              </a:buClr>
              <a:buFont typeface="Arial"/>
              <a:buChar char="▶"/>
            </a:pPr>
            <a:r>
              <a:rPr lang="en-US" sz="1800" dirty="0">
                <a:solidFill>
                  <a:srgbClr val="E8EEF7"/>
                </a:solidFill>
                <a:latin typeface="Segoe UI"/>
              </a:rPr>
              <a:t>Kafka brokers carry order flows, PII, audit trails, and ML feature data</a:t>
            </a:r>
          </a:p>
          <a:p>
            <a:pPr marL="285750" indent="-285750">
              <a:lnSpc>
                <a:spcPts val="2400"/>
              </a:lnSpc>
              <a:spcBef>
                <a:spcPts val="400"/>
              </a:spcBef>
              <a:buClr>
                <a:srgbClr val="00D4FF"/>
              </a:buClr>
              <a:buFont typeface="Arial"/>
              <a:buChar char="▶"/>
            </a:pPr>
            <a:r>
              <a:rPr lang="en-US" sz="1800" dirty="0">
                <a:solidFill>
                  <a:srgbClr val="E8EEF7"/>
                </a:solidFill>
                <a:latin typeface="Segoe UI"/>
              </a:rPr>
              <a:t>Default install is wide open: no auth, no encryption, anyone can produce/consume</a:t>
            </a:r>
          </a:p>
          <a:p>
            <a:pPr marL="285750" indent="-285750">
              <a:lnSpc>
                <a:spcPts val="2400"/>
              </a:lnSpc>
              <a:spcBef>
                <a:spcPts val="400"/>
              </a:spcBef>
              <a:buClr>
                <a:srgbClr val="00D4FF"/>
              </a:buClr>
              <a:buFont typeface="Arial"/>
              <a:buChar char="▶"/>
            </a:pPr>
            <a:r>
              <a:rPr lang="en-US" sz="1800" dirty="0">
                <a:solidFill>
                  <a:srgbClr val="E8EEF7"/>
                </a:solidFill>
                <a:latin typeface="Segoe UI"/>
              </a:rPr>
              <a:t>A single misconfigured listener can leak the entire event backbone of a business</a:t>
            </a:r>
          </a:p>
          <a:p>
            <a:pPr>
              <a:spcBef>
                <a:spcPts val="600"/>
              </a:spcBef>
              <a:buNone/>
            </a:pPr>
            <a:r>
              <a:rPr lang="en-US" sz="2000" b="1" dirty="0">
                <a:solidFill>
                  <a:srgbClr val="FFB627"/>
                </a:solidFill>
                <a:latin typeface="Segoe UI"/>
              </a:rPr>
              <a:t>Regulatory Pressure</a:t>
            </a:r>
          </a:p>
          <a:p>
            <a:pPr marL="285750" indent="-285750">
              <a:lnSpc>
                <a:spcPts val="2400"/>
              </a:lnSpc>
              <a:spcBef>
                <a:spcPts val="400"/>
              </a:spcBef>
              <a:buClr>
                <a:srgbClr val="00D4FF"/>
              </a:buClr>
              <a:buFont typeface="Arial"/>
              <a:buChar char="▶"/>
            </a:pPr>
            <a:r>
              <a:rPr lang="en-US" sz="1800" dirty="0">
                <a:solidFill>
                  <a:srgbClr val="E8EEF7"/>
                </a:solidFill>
                <a:latin typeface="Segoe UI"/>
              </a:rPr>
              <a:t>SOC 2, PCI-DSS, HIPAA, GDPR all require encryption in transit and access controls</a:t>
            </a:r>
          </a:p>
          <a:p>
            <a:pPr marL="285750" indent="-285750">
              <a:lnSpc>
                <a:spcPts val="2400"/>
              </a:lnSpc>
              <a:spcBef>
                <a:spcPts val="400"/>
              </a:spcBef>
              <a:buClr>
                <a:srgbClr val="00D4FF"/>
              </a:buClr>
              <a:buFont typeface="Arial"/>
              <a:buChar char="▶"/>
            </a:pPr>
            <a:endParaRPr lang="en-US" sz="1800" dirty="0">
              <a:solidFill>
                <a:srgbClr val="E8EEF7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159530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1000" dirty="0">
                <a:solidFill>
                  <a:srgbClr val="6B7A99"/>
                </a:solidFill>
                <a:latin typeface="Segoe UI"/>
              </a:rPr>
              <a:t>Module 1  |  Foundations</a:t>
            </a:r>
          </a:p>
        </p:txBody>
      </p:sp>
    </p:spTree>
    <p:extLst>
      <p:ext uri="{BB962C8B-B14F-4D97-AF65-F5344CB8AC3E}">
        <p14:creationId xmlns:p14="http://schemas.microsoft.com/office/powerpoint/2010/main" val="196087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00D4FF"/>
                </a:solidFill>
                <a:latin typeface="Segoe UI"/>
              </a:rPr>
              <a:t>The Four Security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500"/>
              </a:spcBef>
              <a:buNone/>
            </a:pPr>
            <a:r>
              <a:rPr lang="en-US" sz="1900" b="1" dirty="0">
                <a:solidFill>
                  <a:srgbClr val="FFB627"/>
                </a:solidFill>
                <a:latin typeface="Segoe UI"/>
              </a:rPr>
              <a:t>1. Authentication - Who are you?</a:t>
            </a:r>
          </a:p>
          <a:p>
            <a:pPr marL="285750" indent="-285750">
              <a:lnSpc>
                <a:spcPts val="2400"/>
              </a:lnSpc>
              <a:spcBef>
                <a:spcPts val="300"/>
              </a:spcBef>
              <a:buClr>
                <a:srgbClr val="00D4FF"/>
              </a:buClr>
              <a:buFont typeface="Arial"/>
              <a:buChar char="▶"/>
            </a:pPr>
            <a:r>
              <a:rPr lang="en-US" sz="1700" dirty="0">
                <a:solidFill>
                  <a:srgbClr val="E8EEF7"/>
                </a:solidFill>
                <a:latin typeface="Segoe UI"/>
              </a:rPr>
              <a:t>SASL/PLAIN, SASL/SCRAM-SHA-256/512, mTLS (X.509 certs), Kerberos (GSSAPI), OAuth Bearer</a:t>
            </a:r>
          </a:p>
          <a:p>
            <a:pPr>
              <a:spcBef>
                <a:spcPts val="500"/>
              </a:spcBef>
              <a:buNone/>
            </a:pPr>
            <a:r>
              <a:rPr lang="en-US" sz="1900" b="1" dirty="0">
                <a:solidFill>
                  <a:srgbClr val="FFB627"/>
                </a:solidFill>
                <a:latin typeface="Segoe UI"/>
              </a:rPr>
              <a:t>2. Authorization - What can you do?</a:t>
            </a:r>
          </a:p>
          <a:p>
            <a:pPr marL="285750" indent="-285750">
              <a:lnSpc>
                <a:spcPts val="2400"/>
              </a:lnSpc>
              <a:spcBef>
                <a:spcPts val="300"/>
              </a:spcBef>
              <a:buClr>
                <a:srgbClr val="00D4FF"/>
              </a:buClr>
              <a:buFont typeface="Arial"/>
              <a:buChar char="▶"/>
            </a:pPr>
            <a:r>
              <a:rPr lang="en-US" sz="1700" dirty="0">
                <a:solidFill>
                  <a:srgbClr val="E8EEF7"/>
                </a:solidFill>
                <a:latin typeface="Segoe UI"/>
              </a:rPr>
              <a:t>ACLs per resource (Topic, Group, Cluster, TransactionalId) and operation (Read/Write/Describe/Alter)</a:t>
            </a:r>
          </a:p>
          <a:p>
            <a:pPr>
              <a:spcBef>
                <a:spcPts val="500"/>
              </a:spcBef>
              <a:buNone/>
            </a:pPr>
            <a:r>
              <a:rPr lang="en-US" sz="1900" b="1" dirty="0">
                <a:solidFill>
                  <a:srgbClr val="FFB627"/>
                </a:solidFill>
                <a:latin typeface="Segoe UI"/>
              </a:rPr>
              <a:t>3. Encryption - In transit and at rest</a:t>
            </a:r>
          </a:p>
          <a:p>
            <a:pPr marL="285750" indent="-285750">
              <a:lnSpc>
                <a:spcPts val="2400"/>
              </a:lnSpc>
              <a:spcBef>
                <a:spcPts val="300"/>
              </a:spcBef>
              <a:buClr>
                <a:srgbClr val="00D4FF"/>
              </a:buClr>
              <a:buFont typeface="Arial"/>
              <a:buChar char="▶"/>
            </a:pPr>
            <a:r>
              <a:rPr lang="en-US" sz="1700" dirty="0">
                <a:solidFill>
                  <a:srgbClr val="E8EEF7"/>
                </a:solidFill>
                <a:latin typeface="Segoe UI"/>
              </a:rPr>
              <a:t>TLS 1.2/1.3 between clients-brokers and broker-broker; volume-level encryption for log segments</a:t>
            </a:r>
          </a:p>
          <a:p>
            <a:pPr>
              <a:spcBef>
                <a:spcPts val="500"/>
              </a:spcBef>
              <a:buNone/>
            </a:pPr>
            <a:r>
              <a:rPr lang="en-US" sz="1900" b="1" dirty="0">
                <a:solidFill>
                  <a:srgbClr val="FFB627"/>
                </a:solidFill>
                <a:latin typeface="Segoe UI"/>
              </a:rPr>
              <a:t>4. Auditing - What actually happened?</a:t>
            </a:r>
          </a:p>
          <a:p>
            <a:pPr marL="285750" indent="-285750">
              <a:lnSpc>
                <a:spcPts val="2400"/>
              </a:lnSpc>
              <a:spcBef>
                <a:spcPts val="300"/>
              </a:spcBef>
              <a:buClr>
                <a:srgbClr val="00D4FF"/>
              </a:buClr>
              <a:buFont typeface="Arial"/>
              <a:buChar char="▶"/>
            </a:pPr>
            <a:r>
              <a:rPr lang="en-US" sz="1700" dirty="0">
                <a:solidFill>
                  <a:srgbClr val="E8EEF7"/>
                </a:solidFill>
                <a:latin typeface="Segoe UI"/>
              </a:rPr>
              <a:t>authorizer.class log lines, JMX request metrics, broker-side audit appender to SIEM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206819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1000" dirty="0">
                <a:solidFill>
                  <a:srgbClr val="6B7A99"/>
                </a:solidFill>
                <a:latin typeface="Segoe UI"/>
              </a:rPr>
              <a:t>Module 1  |  Security Architecture</a:t>
            </a:r>
          </a:p>
        </p:txBody>
      </p:sp>
    </p:spTree>
    <p:extLst>
      <p:ext uri="{BB962C8B-B14F-4D97-AF65-F5344CB8AC3E}">
        <p14:creationId xmlns:p14="http://schemas.microsoft.com/office/powerpoint/2010/main" val="2403911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00D4FF"/>
                </a:solidFill>
              </a:rPr>
              <a:t>SASL/PLAIN and SASL/SCRAM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</a:rPr>
              <a:t>SASL/PLAIN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Username + password sent in cleartext - </a:t>
            </a:r>
            <a:r>
              <a:rPr lang="en-US" sz="1700" b="1" dirty="0">
                <a:solidFill>
                  <a:srgbClr val="FFB627"/>
                </a:solidFill>
              </a:rPr>
              <a:t>only safe when wrapped in TLS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Credentials live in </a:t>
            </a:r>
            <a:r>
              <a:rPr lang="en-US" sz="1700" dirty="0">
                <a:solidFill>
                  <a:srgbClr val="00D4FF"/>
                </a:solidFill>
                <a:latin typeface="Consolas"/>
              </a:rPr>
              <a:t>jaas.conf</a:t>
            </a:r>
            <a:r>
              <a:rPr lang="en-US" sz="1700" dirty="0"/>
              <a:t> on every broker - rotation is painful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Use for dev / quick demos; avoid in production</a:t>
            </a:r>
          </a:p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</a:rPr>
              <a:t>SASL/SCRAM (SHA-256 / SHA-512)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Salted challenge-response - password never crosses the wire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Credentials stored in ZooKeeper / KRaft, rotated via </a:t>
            </a:r>
            <a:r>
              <a:rPr lang="en-US" sz="1700" dirty="0">
                <a:solidFill>
                  <a:srgbClr val="00D4FF"/>
                </a:solidFill>
                <a:latin typeface="Consolas"/>
              </a:rPr>
              <a:t>kafka-configs.sh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Default choice when Kerberos is too heavy and mTLS is too rigid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172675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1000" dirty="0">
                <a:solidFill>
                  <a:srgbClr val="6B7A99"/>
                </a:solidFill>
                <a:latin typeface="Segoe UI"/>
              </a:rPr>
              <a:t>Module 2  | 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3997522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00D4FF"/>
                </a:solidFill>
                <a:latin typeface="Segoe UI"/>
              </a:rPr>
              <a:t>mTLS (Mutual TLS)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500"/>
              </a:spcBef>
              <a:buNone/>
            </a:pPr>
            <a:r>
              <a:rPr lang="en-US" sz="1900" b="1" dirty="0">
                <a:solidFill>
                  <a:srgbClr val="FFB627"/>
                </a:solidFill>
                <a:latin typeface="Segoe UI"/>
              </a:rPr>
              <a:t>How it works</a:t>
            </a:r>
          </a:p>
          <a:p>
            <a:pPr marL="285750" indent="-285750">
              <a:lnSpc>
                <a:spcPts val="2400"/>
              </a:lnSpc>
              <a:spcBef>
                <a:spcPts val="300"/>
              </a:spcBef>
              <a:buClr>
                <a:srgbClr val="00D4FF"/>
              </a:buClr>
              <a:buFont typeface="Arial"/>
              <a:buChar char="▶"/>
            </a:pPr>
            <a:r>
              <a:rPr lang="en-US" sz="1700" dirty="0">
                <a:solidFill>
                  <a:srgbClr val="E8EEF7"/>
                </a:solidFill>
                <a:latin typeface="Segoe UI"/>
              </a:rPr>
              <a:t>Each client presents an X.509 certificate; broker validates against a trusted CA bundle</a:t>
            </a:r>
          </a:p>
          <a:p>
            <a:pPr marL="285750" indent="-285750">
              <a:lnSpc>
                <a:spcPts val="2400"/>
              </a:lnSpc>
              <a:spcBef>
                <a:spcPts val="300"/>
              </a:spcBef>
              <a:buClr>
                <a:srgbClr val="00D4FF"/>
              </a:buClr>
              <a:buFont typeface="Arial"/>
              <a:buChar char="▶"/>
            </a:pPr>
            <a:r>
              <a:rPr lang="en-US" sz="1700" dirty="0">
                <a:solidFill>
                  <a:srgbClr val="E8EEF7"/>
                </a:solidFill>
                <a:latin typeface="Segoe UI"/>
              </a:rPr>
              <a:t>Identity = subject DN of the cert (e.g. CN=order-service,OU=payments,O=acme)</a:t>
            </a:r>
          </a:p>
          <a:p>
            <a:pPr marL="285750" indent="-285750">
              <a:lnSpc>
                <a:spcPts val="2400"/>
              </a:lnSpc>
              <a:spcBef>
                <a:spcPts val="300"/>
              </a:spcBef>
              <a:buClr>
                <a:srgbClr val="00D4FF"/>
              </a:buClr>
              <a:buFont typeface="Arial"/>
              <a:buChar char="▶"/>
            </a:pPr>
            <a:r>
              <a:rPr lang="en-US" sz="1700" dirty="0">
                <a:solidFill>
                  <a:srgbClr val="E8EEF7"/>
                </a:solidFill>
                <a:latin typeface="Segoe UI"/>
              </a:rPr>
              <a:t>Maps to Kafka principal via ssl.principal.mapping.rules regex transforms</a:t>
            </a:r>
          </a:p>
          <a:p>
            <a:pPr>
              <a:spcBef>
                <a:spcPts val="500"/>
              </a:spcBef>
              <a:buNone/>
            </a:pPr>
            <a:r>
              <a:rPr lang="en-US" sz="1900" b="1" dirty="0">
                <a:solidFill>
                  <a:srgbClr val="FFB627"/>
                </a:solidFill>
                <a:latin typeface="Segoe UI"/>
              </a:rPr>
              <a:t>When to use it</a:t>
            </a:r>
          </a:p>
          <a:p>
            <a:pPr marL="285750" indent="-285750">
              <a:lnSpc>
                <a:spcPts val="2400"/>
              </a:lnSpc>
              <a:spcBef>
                <a:spcPts val="300"/>
              </a:spcBef>
              <a:buClr>
                <a:srgbClr val="00D4FF"/>
              </a:buClr>
              <a:buFont typeface="Arial"/>
              <a:buChar char="▶"/>
            </a:pPr>
            <a:r>
              <a:rPr lang="en-US" sz="1700" dirty="0">
                <a:solidFill>
                  <a:srgbClr val="E8EEF7"/>
                </a:solidFill>
                <a:latin typeface="Segoe UI"/>
              </a:rPr>
              <a:t>Service-to-service traffic where certs are already managed by Vault, cert-manager, or PKI</a:t>
            </a:r>
          </a:p>
          <a:p>
            <a:pPr marL="285750" indent="-285750">
              <a:lnSpc>
                <a:spcPts val="2400"/>
              </a:lnSpc>
              <a:spcBef>
                <a:spcPts val="300"/>
              </a:spcBef>
              <a:buClr>
                <a:srgbClr val="00D4FF"/>
              </a:buClr>
              <a:buFont typeface="Arial"/>
              <a:buChar char="▶"/>
            </a:pPr>
            <a:r>
              <a:rPr lang="en-US" sz="1700" dirty="0">
                <a:solidFill>
                  <a:srgbClr val="E8EEF7"/>
                </a:solidFill>
                <a:latin typeface="Segoe UI"/>
              </a:rPr>
              <a:t>Strongest auth available: no passwords, mutually authenticated, encrypted by construction</a:t>
            </a:r>
          </a:p>
          <a:p>
            <a:pPr>
              <a:spcBef>
                <a:spcPts val="500"/>
              </a:spcBef>
              <a:buNone/>
            </a:pPr>
            <a:r>
              <a:rPr lang="en-US" sz="1900" b="1" dirty="0">
                <a:solidFill>
                  <a:srgbClr val="FFB627"/>
                </a:solidFill>
                <a:latin typeface="Segoe UI"/>
              </a:rPr>
              <a:t>Operational considerations</a:t>
            </a:r>
          </a:p>
          <a:p>
            <a:pPr marL="285750" indent="-285750">
              <a:lnSpc>
                <a:spcPts val="2400"/>
              </a:lnSpc>
              <a:spcBef>
                <a:spcPts val="300"/>
              </a:spcBef>
              <a:buClr>
                <a:srgbClr val="00D4FF"/>
              </a:buClr>
              <a:buFont typeface="Arial"/>
              <a:buChar char="▶"/>
            </a:pPr>
            <a:endParaRPr lang="en-US" sz="1900" b="1" dirty="0">
              <a:solidFill>
                <a:srgbClr val="FFB627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172675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1000" dirty="0">
                <a:solidFill>
                  <a:srgbClr val="6B7A99"/>
                </a:solidFill>
                <a:latin typeface="Segoe UI"/>
              </a:rPr>
              <a:t>Module 2  | 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1907079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00D4FF"/>
                </a:solidFill>
              </a:rPr>
              <a:t>Kerberos &amp; OAuth Bearer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</a:rPr>
              <a:t>Kerberos / GSSAPI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Enterprise-grade SSO - clients present a TGT, brokers verify against the KDC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Each broker needs a service principal </a:t>
            </a:r>
            <a:r>
              <a:rPr lang="en-US" sz="1700" dirty="0">
                <a:solidFill>
                  <a:srgbClr val="00D4FF"/>
                </a:solidFill>
                <a:latin typeface="Consolas"/>
              </a:rPr>
              <a:t>kafka/host@REALM</a:t>
            </a:r>
            <a:r>
              <a:rPr lang="en-US" sz="1700" dirty="0"/>
              <a:t> and a keytab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Strong, but operationally heavy: clock skew, DNS, keytab distribution all bite</a:t>
            </a:r>
          </a:p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</a:rPr>
              <a:t>OAUTHBEARER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Clients fetch JWTs from an IdP (Okta, Keycloak, Azure AD) and present them on connect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Short-lived tokens → rotation is automatic; integrates with existing identity stack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Best fit for cloud-native and multi-tenant Kafka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172675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1000" dirty="0">
                <a:solidFill>
                  <a:srgbClr val="6B7A99"/>
                </a:solidFill>
                <a:latin typeface="Segoe UI"/>
              </a:rPr>
              <a:t>Module 2  | 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2387313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1600" b="1" dirty="0">
                <a:solidFill>
                  <a:srgbClr val="FFB627"/>
                </a:solidFill>
                <a:latin typeface="Segoe UI"/>
              </a:rPr>
              <a:t>HANDS-ON LAB 01</a:t>
            </a:r>
            <a:r>
              <a:rPr lang="en-US" sz="1600" dirty="0">
                <a:solidFill>
                  <a:srgbClr val="6B7A99"/>
                </a:solidFill>
                <a:latin typeface="Segoe UI"/>
              </a:rPr>
              <a:t>   /   20 min</a:t>
            </a:r>
          </a:p>
          <a:p>
            <a:pPr>
              <a:buNone/>
            </a:pPr>
            <a:r>
              <a:rPr lang="en-US" sz="3000" b="1" dirty="0">
                <a:solidFill>
                  <a:srgbClr val="00D4FF"/>
                </a:solidFill>
                <a:latin typeface="Segoe UI"/>
              </a:rPr>
              <a:t>Configure SASL/SCRAM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ts val="2200"/>
              </a:lnSpc>
              <a:spcBef>
                <a:spcPts val="500"/>
              </a:spcBef>
              <a:buNone/>
            </a:pPr>
            <a:r>
              <a:rPr lang="en-US" sz="1700" b="1" dirty="0">
                <a:solidFill>
                  <a:srgbClr val="FFB627"/>
                </a:solidFill>
                <a:latin typeface="Segoe UI"/>
              </a:rPr>
              <a:t>01  </a:t>
            </a:r>
            <a:r>
              <a:rPr lang="en-US" sz="1700" dirty="0">
                <a:solidFill>
                  <a:srgbClr val="E8EEF7"/>
                </a:solidFill>
                <a:latin typeface="Segoe UI"/>
              </a:rPr>
              <a:t>Create a SCRAM user in the broker</a:t>
            </a:r>
          </a:p>
          <a:p>
            <a:pPr marL="685800">
              <a:lnSpc>
                <a:spcPts val="18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00D4FF"/>
                </a:solidFill>
                <a:latin typeface="Consolas"/>
              </a:rPr>
              <a:t>kafka-configs.sh --bootstrap-server localhost:9092 \</a:t>
            </a:r>
          </a:p>
          <a:p>
            <a:pPr marL="685800">
              <a:lnSpc>
                <a:spcPts val="18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00D4FF"/>
                </a:solidFill>
                <a:latin typeface="Consolas"/>
              </a:rPr>
              <a:t>  --alter --add-config 'SCRAM-SHA-512=[password=secret]' \</a:t>
            </a:r>
          </a:p>
          <a:p>
            <a:pPr marL="685800">
              <a:lnSpc>
                <a:spcPts val="18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00D4FF"/>
                </a:solidFill>
                <a:latin typeface="Consolas"/>
              </a:rPr>
              <a:t>  --entity-type users --entity-name alice</a:t>
            </a:r>
          </a:p>
          <a:p>
            <a:pPr marL="342900" indent="-342900">
              <a:lnSpc>
                <a:spcPts val="2200"/>
              </a:lnSpc>
              <a:spcBef>
                <a:spcPts val="500"/>
              </a:spcBef>
              <a:buNone/>
            </a:pPr>
            <a:r>
              <a:rPr lang="en-US" sz="1700" b="1" dirty="0">
                <a:solidFill>
                  <a:srgbClr val="FFB627"/>
                </a:solidFill>
                <a:latin typeface="Segoe UI"/>
              </a:rPr>
              <a:t>02  </a:t>
            </a:r>
            <a:r>
              <a:rPr lang="en-US" sz="1700" dirty="0">
                <a:solidFill>
                  <a:srgbClr val="E8EEF7"/>
                </a:solidFill>
                <a:latin typeface="Segoe UI"/>
              </a:rPr>
              <a:t>Add a SASL_SSL listener in server.properties</a:t>
            </a:r>
          </a:p>
          <a:p>
            <a:pPr marL="685800">
              <a:lnSpc>
                <a:spcPts val="18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00D4FF"/>
                </a:solidFill>
                <a:latin typeface="Consolas"/>
              </a:rPr>
              <a:t>listeners=SASL_SSL://:9093</a:t>
            </a:r>
          </a:p>
          <a:p>
            <a:pPr marL="685800">
              <a:lnSpc>
                <a:spcPts val="18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00D4FF"/>
                </a:solidFill>
                <a:latin typeface="Consolas"/>
              </a:rPr>
              <a:t>sasl.enabled.mechanisms=SCRAM-SHA-512</a:t>
            </a:r>
          </a:p>
          <a:p>
            <a:pPr marL="342900" indent="-342900">
              <a:lnSpc>
                <a:spcPts val="2200"/>
              </a:lnSpc>
              <a:spcBef>
                <a:spcPts val="500"/>
              </a:spcBef>
              <a:buNone/>
            </a:pPr>
            <a:r>
              <a:rPr lang="en-US" sz="1700" b="1" dirty="0">
                <a:solidFill>
                  <a:srgbClr val="FFB627"/>
                </a:solidFill>
                <a:latin typeface="Segoe UI"/>
              </a:rPr>
              <a:t>03  </a:t>
            </a:r>
            <a:r>
              <a:rPr lang="en-US" sz="1700" dirty="0">
                <a:solidFill>
                  <a:srgbClr val="E8EEF7"/>
                </a:solidFill>
                <a:latin typeface="Segoe UI"/>
              </a:rPr>
              <a:t>Connect with the producer client and publish an event</a:t>
            </a:r>
          </a:p>
          <a:p>
            <a:pPr marL="685800">
              <a:lnSpc>
                <a:spcPts val="18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00D4FF"/>
                </a:solidFill>
                <a:latin typeface="Consolas"/>
              </a:rPr>
              <a:t>kafka-console-producer.sh --bootstrap-server localhost:9093 \</a:t>
            </a:r>
          </a:p>
          <a:p>
            <a:pPr marL="685800">
              <a:lnSpc>
                <a:spcPts val="18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00D4FF"/>
                </a:solidFill>
                <a:latin typeface="Consolas"/>
              </a:rPr>
              <a:t>  --producer.config client-scram.properties --topic orders</a:t>
            </a:r>
          </a:p>
        </p:txBody>
      </p:sp>
    </p:spTree>
    <p:extLst>
      <p:ext uri="{BB962C8B-B14F-4D97-AF65-F5344CB8AC3E}">
        <p14:creationId xmlns:p14="http://schemas.microsoft.com/office/powerpoint/2010/main" val="985343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00D4FF"/>
                </a:solidFill>
                <a:latin typeface="Segoe UI"/>
              </a:rPr>
              <a:t>ACLs - Authorization in Kafka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  <a:latin typeface="Segoe UI"/>
              </a:rPr>
              <a:t>What ACLs control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>
                <a:solidFill>
                  <a:srgbClr val="E8F0F8"/>
                </a:solidFill>
                <a:latin typeface="Segoe UI"/>
              </a:rPr>
              <a:t>Who (principal) can do </a:t>
            </a:r>
            <a:r>
              <a:rPr lang="en-US" sz="1700" b="1" dirty="0">
                <a:solidFill>
                  <a:srgbClr val="00D4FF"/>
                </a:solidFill>
                <a:latin typeface="Segoe UI"/>
              </a:rPr>
              <a:t>what</a:t>
            </a:r>
            <a:r>
              <a:rPr lang="en-US" sz="1700" dirty="0">
                <a:solidFill>
                  <a:srgbClr val="E8F0F8"/>
                </a:solidFill>
                <a:latin typeface="Segoe UI"/>
              </a:rPr>
              <a:t> (operation) on </a:t>
            </a:r>
            <a:r>
              <a:rPr lang="en-US" sz="1700" b="1" dirty="0">
                <a:solidFill>
                  <a:srgbClr val="00D4FF"/>
                </a:solidFill>
                <a:latin typeface="Segoe UI"/>
              </a:rPr>
              <a:t>which</a:t>
            </a:r>
            <a:r>
              <a:rPr lang="en-US" sz="1700" dirty="0">
                <a:solidFill>
                  <a:srgbClr val="E8F0F8"/>
                </a:solidFill>
                <a:latin typeface="Segoe UI"/>
              </a:rPr>
              <a:t> resource (topic, group, cluster, txn-id)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>
                <a:solidFill>
                  <a:srgbClr val="E8F0F8"/>
                </a:solidFill>
                <a:latin typeface="Segoe UI"/>
              </a:rPr>
              <a:t>Default: deny - must explicitly Allow each (principal, op, resource)</a:t>
            </a:r>
          </a:p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  <a:latin typeface="Segoe UI"/>
              </a:rPr>
              <a:t>Common operations</a:t>
            </a:r>
          </a:p>
          <a:p>
            <a:pPr marL="228600" indent="-228600">
              <a:buFont typeface="Arial"/>
              <a:buChar char="•"/>
            </a:pPr>
            <a:r>
              <a:rPr lang="en-US" sz="1700" b="1" dirty="0">
                <a:solidFill>
                  <a:srgbClr val="00D4FF"/>
                </a:solidFill>
                <a:latin typeface="Consolas"/>
              </a:rPr>
              <a:t>Read / Write / Create / Delete / Describe / Alter</a:t>
            </a:r>
            <a:r>
              <a:rPr lang="en-US" sz="1700" dirty="0">
                <a:solidFill>
                  <a:srgbClr val="E8F0F8"/>
                </a:solidFill>
                <a:latin typeface="Segoe UI"/>
              </a:rPr>
              <a:t> on topics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>
                <a:solidFill>
                  <a:srgbClr val="E8F0F8"/>
                </a:solidFill>
                <a:latin typeface="Segoe UI"/>
              </a:rPr>
              <a:t>Consumer groups need </a:t>
            </a:r>
            <a:r>
              <a:rPr lang="en-US" sz="1700" b="1" dirty="0">
                <a:solidFill>
                  <a:srgbClr val="00D4FF"/>
                </a:solidFill>
                <a:latin typeface="Consolas"/>
              </a:rPr>
              <a:t>Read</a:t>
            </a:r>
            <a:r>
              <a:rPr lang="en-US" sz="1700" dirty="0">
                <a:solidFill>
                  <a:srgbClr val="E8F0F8"/>
                </a:solidFill>
                <a:latin typeface="Segoe UI"/>
              </a:rPr>
              <a:t> on the group resource</a:t>
            </a:r>
          </a:p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  <a:latin typeface="Segoe UI"/>
              </a:rPr>
              <a:t>Storage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>
                <a:solidFill>
                  <a:srgbClr val="E8F0F8"/>
                </a:solidFill>
                <a:latin typeface="Segoe UI"/>
              </a:rPr>
              <a:t>ZooKeeper (legacy) or KRaft metadata log - cluster-wide, immediate</a:t>
            </a:r>
          </a:p>
        </p:txBody>
      </p:sp>
    </p:spTree>
    <p:extLst>
      <p:ext uri="{BB962C8B-B14F-4D97-AF65-F5344CB8AC3E}">
        <p14:creationId xmlns:p14="http://schemas.microsoft.com/office/powerpoint/2010/main" val="1770583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00D4FF"/>
                </a:solidFill>
                <a:latin typeface="Segoe UI"/>
              </a:rPr>
              <a:t>RBAC - Beyond Plain ACLs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  <a:latin typeface="Segoe UI"/>
              </a:rPr>
              <a:t>Why RBAC over raw ACLs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>
                <a:solidFill>
                  <a:srgbClr val="E8F0F8"/>
                </a:solidFill>
                <a:latin typeface="Segoe UI"/>
              </a:rPr>
              <a:t>Group principals into </a:t>
            </a:r>
            <a:r>
              <a:rPr lang="en-US" sz="1700" b="1" dirty="0">
                <a:solidFill>
                  <a:srgbClr val="00D4FF"/>
                </a:solidFill>
                <a:latin typeface="Segoe UI"/>
              </a:rPr>
              <a:t>roles</a:t>
            </a:r>
            <a:r>
              <a:rPr lang="en-US" sz="1700" dirty="0">
                <a:solidFill>
                  <a:srgbClr val="E8F0F8"/>
                </a:solidFill>
                <a:latin typeface="Segoe UI"/>
              </a:rPr>
              <a:t> - manage permissions by role, not by user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>
                <a:solidFill>
                  <a:srgbClr val="E8F0F8"/>
                </a:solidFill>
                <a:latin typeface="Segoe UI"/>
              </a:rPr>
              <a:t>Scales to 100s of services without ACL sprawl</a:t>
            </a:r>
          </a:p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  <a:latin typeface="Segoe UI"/>
              </a:rPr>
              <a:t>Implementations</a:t>
            </a:r>
          </a:p>
          <a:p>
            <a:pPr marL="228600" indent="-228600">
              <a:buFont typeface="Arial"/>
              <a:buChar char="•"/>
            </a:pPr>
            <a:r>
              <a:rPr lang="en-US" sz="1700" b="1" dirty="0">
                <a:solidFill>
                  <a:srgbClr val="00D4FF"/>
                </a:solidFill>
                <a:latin typeface="Segoe UI"/>
              </a:rPr>
              <a:t>Confluent RBAC</a:t>
            </a:r>
            <a:r>
              <a:rPr lang="en-US" sz="1700" dirty="0">
                <a:solidFill>
                  <a:srgbClr val="E8F0F8"/>
                </a:solidFill>
                <a:latin typeface="Segoe UI"/>
              </a:rPr>
              <a:t> - roles like DeveloperRead, ResourceOwner, SystemAdmin</a:t>
            </a:r>
          </a:p>
          <a:p>
            <a:pPr marL="228600" indent="-228600">
              <a:buFont typeface="Arial"/>
              <a:buChar char="•"/>
            </a:pPr>
            <a:r>
              <a:rPr lang="en-US" sz="1700" b="1" dirty="0">
                <a:solidFill>
                  <a:srgbClr val="00D4FF"/>
                </a:solidFill>
                <a:latin typeface="Segoe UI"/>
              </a:rPr>
              <a:t>Strimzi/</a:t>
            </a:r>
            <a:r>
              <a:rPr lang="en-US" sz="1700" b="1" dirty="0" err="1">
                <a:solidFill>
                  <a:srgbClr val="00D4FF"/>
                </a:solidFill>
                <a:latin typeface="Segoe UI"/>
              </a:rPr>
              <a:t>Keycloak</a:t>
            </a:r>
            <a:r>
              <a:rPr lang="en-US" sz="1700" dirty="0">
                <a:solidFill>
                  <a:srgbClr val="E8F0F8"/>
                </a:solidFill>
                <a:latin typeface="Segoe UI"/>
              </a:rPr>
              <a:t> - OAuth roles mapped to topic patterns</a:t>
            </a:r>
          </a:p>
          <a:p>
            <a:pPr marL="228600" indent="-228600">
              <a:buFont typeface="Arial"/>
              <a:buChar char="•"/>
            </a:pPr>
            <a:r>
              <a:rPr lang="en-US" sz="1700" b="1" dirty="0">
                <a:solidFill>
                  <a:srgbClr val="00D4FF"/>
                </a:solidFill>
                <a:latin typeface="Segoe UI"/>
              </a:rPr>
              <a:t>OPA Authorizer</a:t>
            </a:r>
            <a:r>
              <a:rPr lang="en-US" sz="1700" dirty="0">
                <a:solidFill>
                  <a:srgbClr val="E8F0F8"/>
                </a:solidFill>
                <a:latin typeface="Segoe UI"/>
              </a:rPr>
              <a:t> - policy-as-code with Open Policy Agent</a:t>
            </a:r>
          </a:p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  <a:latin typeface="Segoe UI"/>
              </a:rPr>
              <a:t>Principle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>
                <a:solidFill>
                  <a:srgbClr val="E8F0F8"/>
                </a:solidFill>
                <a:latin typeface="Segoe UI"/>
              </a:rPr>
              <a:t>Least privilege - grant the </a:t>
            </a:r>
            <a:r>
              <a:rPr lang="en-US" sz="1700" b="1" dirty="0">
                <a:solidFill>
                  <a:srgbClr val="00D4FF"/>
                </a:solidFill>
                <a:latin typeface="Segoe UI"/>
              </a:rPr>
              <a:t>minimum</a:t>
            </a:r>
            <a:r>
              <a:rPr lang="en-US" sz="1700" dirty="0">
                <a:solidFill>
                  <a:srgbClr val="E8F0F8"/>
                </a:solidFill>
                <a:latin typeface="Segoe UI"/>
              </a:rPr>
              <a:t> ops a service needs to function</a:t>
            </a:r>
          </a:p>
        </p:txBody>
      </p:sp>
    </p:spTree>
    <p:extLst>
      <p:ext uri="{BB962C8B-B14F-4D97-AF65-F5344CB8AC3E}">
        <p14:creationId xmlns:p14="http://schemas.microsoft.com/office/powerpoint/2010/main" val="1075125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1600" b="1" dirty="0">
                <a:solidFill>
                  <a:srgbClr val="FFB627"/>
                </a:solidFill>
                <a:latin typeface="Segoe UI"/>
              </a:rPr>
              <a:t>LAB 02 - 25 min</a:t>
            </a:r>
            <a:br>
              <a:rPr lang="en-US" sz="1600" dirty="0"/>
            </a:br>
            <a:r>
              <a:rPr lang="en-US" sz="2800" b="1" dirty="0" err="1">
                <a:solidFill>
                  <a:srgbClr val="00D4FF"/>
                </a:solidFill>
                <a:latin typeface="Segoe UI"/>
              </a:rPr>
              <a:t>kafka-acls</a:t>
            </a:r>
            <a:r>
              <a:rPr lang="en-US" sz="2800" b="1" dirty="0">
                <a:solidFill>
                  <a:srgbClr val="00D4FF"/>
                </a:solidFill>
                <a:latin typeface="Segoe UI"/>
              </a:rPr>
              <a:t> - Grant &amp; Revoke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285750" indent="-285750">
              <a:buFont typeface="Arial"/>
              <a:buAutoNum type="arabicPeriod"/>
            </a:pPr>
            <a:r>
              <a:rPr lang="en-US" sz="1700" b="1" dirty="0">
                <a:solidFill>
                  <a:srgbClr val="00D4FF"/>
                </a:solidFill>
                <a:latin typeface="Segoe UI"/>
              </a:rPr>
              <a:t>Allow alice to produce to topic </a:t>
            </a:r>
            <a:r>
              <a:rPr lang="en-US" sz="1500" b="1" dirty="0">
                <a:solidFill>
                  <a:srgbClr val="00D4FF"/>
                </a:solidFill>
                <a:latin typeface="Consolas"/>
              </a:rPr>
              <a:t>orders</a:t>
            </a:r>
          </a:p>
          <a:p>
            <a:pPr marL="285750" indent="0">
              <a:buNone/>
            </a:pPr>
            <a:r>
              <a:rPr lang="en-US" sz="1300" dirty="0">
                <a:solidFill>
                  <a:srgbClr val="9CB3C7"/>
                </a:solidFill>
                <a:latin typeface="Consolas"/>
              </a:rPr>
              <a:t>kafka-acls --bootstrap-server kafka:9093 \
  --command-config client.properties \
  --add --allow-principal User:alice \
  --operation Write --topic orders</a:t>
            </a:r>
          </a:p>
          <a:p>
            <a:pPr marL="285750" indent="-285750">
              <a:buFont typeface="Arial"/>
              <a:buAutoNum type="arabicPeriod"/>
            </a:pPr>
            <a:r>
              <a:rPr lang="en-US" sz="1700" b="1" dirty="0">
                <a:solidFill>
                  <a:srgbClr val="00D4FF"/>
                </a:solidFill>
                <a:latin typeface="Segoe UI"/>
              </a:rPr>
              <a:t>Allow bob to consume with group </a:t>
            </a:r>
            <a:r>
              <a:rPr lang="en-US" sz="1500" b="1" dirty="0">
                <a:solidFill>
                  <a:srgbClr val="00D4FF"/>
                </a:solidFill>
                <a:latin typeface="Consolas"/>
              </a:rPr>
              <a:t>billing-svc</a:t>
            </a:r>
          </a:p>
          <a:p>
            <a:pPr marL="285750" indent="0">
              <a:buNone/>
            </a:pPr>
            <a:r>
              <a:rPr lang="en-US" sz="1300" dirty="0">
                <a:solidFill>
                  <a:srgbClr val="9CB3C7"/>
                </a:solidFill>
                <a:latin typeface="Consolas"/>
              </a:rPr>
              <a:t>kafka-acls --add --allow-principal User:bob \
  --operation Read --topic orders \
  --group billing-svc</a:t>
            </a:r>
          </a:p>
          <a:p>
            <a:pPr marL="285750" indent="-285750">
              <a:buFont typeface="Arial"/>
              <a:buAutoNum type="arabicPeriod"/>
            </a:pPr>
            <a:r>
              <a:rPr lang="en-US" sz="1700" b="1" dirty="0">
                <a:solidFill>
                  <a:srgbClr val="00D4FF"/>
                </a:solidFill>
                <a:latin typeface="Segoe UI"/>
              </a:rPr>
              <a:t>List + revoke</a:t>
            </a:r>
          </a:p>
          <a:p>
            <a:pPr marL="285750" indent="0">
              <a:buNone/>
            </a:pPr>
            <a:r>
              <a:rPr lang="en-US" sz="1300" dirty="0">
                <a:solidFill>
                  <a:srgbClr val="9CB3C7"/>
                </a:solidFill>
                <a:latin typeface="Consolas"/>
              </a:rPr>
              <a:t>kafka-acls --list --topic orders
kafka-acls --remove --allow-principal User:alice --operation Write --topic orders</a:t>
            </a:r>
          </a:p>
          <a:p>
            <a:pPr marL="285750" indent="-285750">
              <a:buFont typeface="Arial"/>
              <a:buAutoNum type="arabicPeriod"/>
            </a:pPr>
            <a:r>
              <a:rPr lang="en-US" sz="1700" b="1" dirty="0">
                <a:solidFill>
                  <a:srgbClr val="FFB627"/>
                </a:solidFill>
                <a:latin typeface="Segoe UI"/>
              </a:rPr>
              <a:t>Verify - alice should get TopicAuthorizationException</a:t>
            </a:r>
          </a:p>
        </p:txBody>
      </p:sp>
    </p:spTree>
    <p:extLst>
      <p:ext uri="{BB962C8B-B14F-4D97-AF65-F5344CB8AC3E}">
        <p14:creationId xmlns:p14="http://schemas.microsoft.com/office/powerpoint/2010/main" val="4091578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00D4FF"/>
                </a:solidFill>
                <a:latin typeface="Segoe UI"/>
              </a:rPr>
              <a:t>TLS Encryption In-Transit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  <a:latin typeface="Segoe UI"/>
              </a:rPr>
              <a:t>Where TLS applies</a:t>
            </a:r>
          </a:p>
          <a:p>
            <a:pPr marL="228600" indent="-228600">
              <a:buFont typeface="Arial"/>
              <a:buChar char="•"/>
            </a:pPr>
            <a:r>
              <a:rPr lang="en-US" sz="1700" b="1" dirty="0">
                <a:solidFill>
                  <a:srgbClr val="00D4FF"/>
                </a:solidFill>
                <a:latin typeface="Segoe UI"/>
              </a:rPr>
              <a:t>Client ↔ broker</a:t>
            </a:r>
            <a:r>
              <a:rPr lang="en-US" sz="1700" dirty="0">
                <a:solidFill>
                  <a:srgbClr val="E8F0F8"/>
                </a:solidFill>
                <a:latin typeface="Segoe UI"/>
              </a:rPr>
              <a:t> - listener </a:t>
            </a:r>
            <a:r>
              <a:rPr lang="en-US" sz="1500" dirty="0">
                <a:solidFill>
                  <a:srgbClr val="00D4FF"/>
                </a:solidFill>
                <a:latin typeface="Consolas"/>
              </a:rPr>
              <a:t>SSL://</a:t>
            </a:r>
            <a:r>
              <a:rPr lang="en-US" sz="1700" dirty="0">
                <a:solidFill>
                  <a:srgbClr val="E8F0F8"/>
                </a:solidFill>
                <a:latin typeface="Segoe UI"/>
              </a:rPr>
              <a:t> or </a:t>
            </a:r>
            <a:r>
              <a:rPr lang="en-US" sz="1500" dirty="0">
                <a:solidFill>
                  <a:srgbClr val="00D4FF"/>
                </a:solidFill>
                <a:latin typeface="Consolas"/>
              </a:rPr>
              <a:t>SASL_SSL://</a:t>
            </a:r>
          </a:p>
          <a:p>
            <a:pPr marL="228600" indent="-228600">
              <a:buFont typeface="Arial"/>
              <a:buChar char="•"/>
            </a:pPr>
            <a:r>
              <a:rPr lang="en-US" sz="1700" b="1" dirty="0">
                <a:solidFill>
                  <a:srgbClr val="00D4FF"/>
                </a:solidFill>
                <a:latin typeface="Segoe UI"/>
              </a:rPr>
              <a:t>Broker ↔ broker</a:t>
            </a:r>
            <a:r>
              <a:rPr lang="en-US" sz="1700" dirty="0">
                <a:solidFill>
                  <a:srgbClr val="E8F0F8"/>
                </a:solidFill>
                <a:latin typeface="Segoe UI"/>
              </a:rPr>
              <a:t> - inter-broker replication listener</a:t>
            </a:r>
          </a:p>
          <a:p>
            <a:pPr marL="228600" indent="-228600">
              <a:buFont typeface="Arial"/>
              <a:buChar char="•"/>
            </a:pPr>
            <a:r>
              <a:rPr lang="en-US" sz="1700" b="1" dirty="0">
                <a:solidFill>
                  <a:srgbClr val="00D4FF"/>
                </a:solidFill>
                <a:latin typeface="Segoe UI"/>
              </a:rPr>
              <a:t>Broker ↔ ZK/</a:t>
            </a:r>
            <a:r>
              <a:rPr lang="en-US" sz="1700" b="1" dirty="0" err="1">
                <a:solidFill>
                  <a:srgbClr val="00D4FF"/>
                </a:solidFill>
                <a:latin typeface="Segoe UI"/>
              </a:rPr>
              <a:t>KRaft</a:t>
            </a:r>
            <a:r>
              <a:rPr lang="en-US" sz="1700" dirty="0">
                <a:solidFill>
                  <a:srgbClr val="E8F0F8"/>
                </a:solidFill>
                <a:latin typeface="Segoe UI"/>
              </a:rPr>
              <a:t> - controller quorum traffic</a:t>
            </a:r>
          </a:p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  <a:latin typeface="Segoe UI"/>
              </a:rPr>
              <a:t>Key broker settings</a:t>
            </a:r>
          </a:p>
          <a:p>
            <a:pPr marL="228600" indent="-228600">
              <a:buFont typeface="Arial"/>
              <a:buChar char="•"/>
            </a:pPr>
            <a:r>
              <a:rPr lang="en-US" sz="1500" b="1" dirty="0">
                <a:solidFill>
                  <a:srgbClr val="00D4FF"/>
                </a:solidFill>
                <a:latin typeface="Consolas"/>
              </a:rPr>
              <a:t>ssl.keystore.location</a:t>
            </a:r>
            <a:r>
              <a:rPr lang="en-US" sz="1700" dirty="0">
                <a:solidFill>
                  <a:srgbClr val="E8F0F8"/>
                </a:solidFill>
                <a:latin typeface="Segoe UI"/>
              </a:rPr>
              <a:t> + </a:t>
            </a:r>
            <a:r>
              <a:rPr lang="en-US" sz="1500" b="1" dirty="0">
                <a:solidFill>
                  <a:srgbClr val="00D4FF"/>
                </a:solidFill>
                <a:latin typeface="Consolas"/>
              </a:rPr>
              <a:t>ssl.truststore.location</a:t>
            </a:r>
          </a:p>
          <a:p>
            <a:pPr marL="228600" indent="-228600">
              <a:buFont typeface="Arial"/>
              <a:buChar char="•"/>
            </a:pPr>
            <a:r>
              <a:rPr lang="en-US" sz="1500" b="1" dirty="0">
                <a:solidFill>
                  <a:srgbClr val="00D4FF"/>
                </a:solidFill>
                <a:latin typeface="Consolas"/>
              </a:rPr>
              <a:t>ssl.endpoint.identification.algorithm=HTTPS</a:t>
            </a:r>
            <a:r>
              <a:rPr lang="en-US" sz="1700" dirty="0">
                <a:solidFill>
                  <a:srgbClr val="E8F0F8"/>
                </a:solidFill>
                <a:latin typeface="Segoe UI"/>
              </a:rPr>
              <a:t> (CN validation)</a:t>
            </a:r>
          </a:p>
          <a:p>
            <a:pPr marL="228600" indent="-228600">
              <a:buFont typeface="Arial"/>
              <a:buChar char="•"/>
            </a:pPr>
            <a:r>
              <a:rPr lang="en-US" sz="1500" b="1" dirty="0">
                <a:solidFill>
                  <a:srgbClr val="00D4FF"/>
                </a:solidFill>
                <a:latin typeface="Consolas"/>
              </a:rPr>
              <a:t>ssl.client.auth=required</a:t>
            </a:r>
            <a:r>
              <a:rPr lang="en-US" sz="1700" dirty="0">
                <a:solidFill>
                  <a:srgbClr val="E8F0F8"/>
                </a:solidFill>
                <a:latin typeface="Segoe UI"/>
              </a:rPr>
              <a:t> for mTLS</a:t>
            </a:r>
          </a:p>
        </p:txBody>
      </p:sp>
    </p:spTree>
    <p:extLst>
      <p:ext uri="{BB962C8B-B14F-4D97-AF65-F5344CB8AC3E}">
        <p14:creationId xmlns:p14="http://schemas.microsoft.com/office/powerpoint/2010/main" val="1733178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00D4FF"/>
                </a:solidFill>
                <a:latin typeface="Segoe UI"/>
              </a:rPr>
              <a:t>Audit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  <a:latin typeface="Segoe UI"/>
              </a:rPr>
              <a:t>What to capture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>
                <a:solidFill>
                  <a:srgbClr val="E8F0F8"/>
                </a:solidFill>
                <a:latin typeface="Segoe UI"/>
              </a:rPr>
              <a:t>Auth events - successful + failed SASL/TLS handshakes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>
                <a:solidFill>
                  <a:srgbClr val="E8F0F8"/>
                </a:solidFill>
                <a:latin typeface="Segoe UI"/>
              </a:rPr>
              <a:t>Authorization decisions - denied operations, principal, resource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>
                <a:solidFill>
                  <a:srgbClr val="E8F0F8"/>
                </a:solidFill>
                <a:latin typeface="Segoe UI"/>
              </a:rPr>
              <a:t>Admin actions - topic create/delete, ACL changes, config updates</a:t>
            </a:r>
          </a:p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  <a:latin typeface="Segoe UI"/>
              </a:rPr>
              <a:t>How to enable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>
                <a:solidFill>
                  <a:srgbClr val="E8F0F8"/>
                </a:solidFill>
                <a:latin typeface="Segoe UI"/>
              </a:rPr>
              <a:t>Set log4j authorizer logger to </a:t>
            </a:r>
            <a:r>
              <a:rPr lang="en-US" sz="1500" b="1" dirty="0">
                <a:solidFill>
                  <a:srgbClr val="00D4FF"/>
                </a:solidFill>
                <a:latin typeface="Consolas"/>
              </a:rPr>
              <a:t>INFO</a:t>
            </a:r>
            <a:r>
              <a:rPr lang="en-US" sz="1700" dirty="0">
                <a:solidFill>
                  <a:srgbClr val="E8F0F8"/>
                </a:solidFill>
                <a:latin typeface="Segoe UI"/>
              </a:rPr>
              <a:t>; ship to SIEM via Filebeat/Fluent Bit</a:t>
            </a:r>
          </a:p>
          <a:p>
            <a:pPr marL="228600" indent="-228600">
              <a:buFont typeface="Arial"/>
              <a:buChar char="•"/>
            </a:pPr>
            <a:r>
              <a:rPr lang="en-US" sz="1700" b="1" dirty="0">
                <a:solidFill>
                  <a:srgbClr val="00D4FF"/>
                </a:solidFill>
                <a:latin typeface="Segoe UI"/>
              </a:rPr>
              <a:t>Confluent Audit Logs</a:t>
            </a:r>
            <a:r>
              <a:rPr lang="en-US" sz="1700" dirty="0">
                <a:solidFill>
                  <a:srgbClr val="E8F0F8"/>
                </a:solidFill>
                <a:latin typeface="Segoe UI"/>
              </a:rPr>
              <a:t> - CloudEvents-formatted, written to a dedicated Kafka topic</a:t>
            </a:r>
          </a:p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  <a:latin typeface="Segoe UI"/>
              </a:rPr>
              <a:t>Compliance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>
                <a:solidFill>
                  <a:srgbClr val="E8F0F8"/>
                </a:solidFill>
                <a:latin typeface="Segoe UI"/>
              </a:rPr>
              <a:t>Retain ≥1 year for SOX/PCI/GDPR; protect logs from the same RBAC roles they record</a:t>
            </a:r>
          </a:p>
        </p:txBody>
      </p:sp>
    </p:spTree>
    <p:extLst>
      <p:ext uri="{BB962C8B-B14F-4D97-AF65-F5344CB8AC3E}">
        <p14:creationId xmlns:p14="http://schemas.microsoft.com/office/powerpoint/2010/main" val="1619054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1600" b="1" dirty="0">
                <a:solidFill>
                  <a:srgbClr val="FFB627"/>
                </a:solidFill>
                <a:latin typeface="Segoe UI"/>
              </a:rPr>
              <a:t>LAB 03 - 30 min</a:t>
            </a:r>
            <a:br>
              <a:rPr lang="en-US" sz="1600" dirty="0"/>
            </a:br>
            <a:r>
              <a:rPr lang="en-US" sz="2800" b="1" dirty="0">
                <a:solidFill>
                  <a:srgbClr val="00D4FF"/>
                </a:solidFill>
                <a:latin typeface="Segoe UI"/>
              </a:rPr>
              <a:t>End-to-End TLS + SASL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AutoNum type="arabicPeriod"/>
            </a:pPr>
            <a:r>
              <a:rPr lang="en-US" sz="1700" b="1" dirty="0">
                <a:solidFill>
                  <a:srgbClr val="00D4FF"/>
                </a:solidFill>
                <a:latin typeface="Segoe UI"/>
              </a:rPr>
              <a:t>Generate broker keystore + truststore</a:t>
            </a:r>
          </a:p>
          <a:p>
            <a:pPr marL="285750" indent="0">
              <a:buNone/>
            </a:pPr>
            <a:r>
              <a:rPr lang="en-US" sz="1300" dirty="0">
                <a:solidFill>
                  <a:srgbClr val="9CB3C7"/>
                </a:solidFill>
                <a:latin typeface="Consolas"/>
              </a:rPr>
              <a:t>keytool -genkey -alias kafka -keyalg RSA -keystore kafka.keystore.jks
keytool -import -alias ca -file ca.crt -keystore kafka.truststore.jks</a:t>
            </a:r>
          </a:p>
          <a:p>
            <a:pPr marL="285750" indent="-285750">
              <a:buFont typeface="Arial"/>
              <a:buAutoNum type="arabicPeriod"/>
            </a:pPr>
            <a:r>
              <a:rPr lang="en-US" sz="1700" b="1" dirty="0">
                <a:solidFill>
                  <a:srgbClr val="00D4FF"/>
                </a:solidFill>
                <a:latin typeface="Segoe UI"/>
              </a:rPr>
              <a:t>Configure broker listener - </a:t>
            </a:r>
            <a:r>
              <a:rPr lang="en-US" sz="1500" b="1" dirty="0">
                <a:solidFill>
                  <a:srgbClr val="00D4FF"/>
                </a:solidFill>
                <a:latin typeface="Consolas"/>
              </a:rPr>
              <a:t>server.properties</a:t>
            </a:r>
          </a:p>
          <a:p>
            <a:pPr marL="285750" indent="0">
              <a:buNone/>
            </a:pPr>
            <a:r>
              <a:rPr lang="en-US" sz="1300" dirty="0">
                <a:solidFill>
                  <a:srgbClr val="9CB3C7"/>
                </a:solidFill>
                <a:latin typeface="Consolas"/>
              </a:rPr>
              <a:t>listeners=SASL_SSL://:9093
security.protocol=SASL_SSL
sasl.enabled.mechanisms=SCRAM-SHA-512
ssl.keystore.location=/etc/kafka/kafka.keystore.jks</a:t>
            </a:r>
          </a:p>
          <a:p>
            <a:pPr marL="285750" indent="-285750">
              <a:buFont typeface="Arial"/>
              <a:buAutoNum type="arabicPeriod"/>
            </a:pPr>
            <a:r>
              <a:rPr lang="en-US" sz="1700" b="1" dirty="0">
                <a:solidFill>
                  <a:srgbClr val="00D4FF"/>
                </a:solidFill>
                <a:latin typeface="Segoe UI"/>
              </a:rPr>
              <a:t>Restart + produce/consume with </a:t>
            </a:r>
            <a:r>
              <a:rPr lang="en-US" sz="1500" b="1" dirty="0">
                <a:solidFill>
                  <a:srgbClr val="00D4FF"/>
                </a:solidFill>
                <a:latin typeface="Consolas"/>
              </a:rPr>
              <a:t>client.properties</a:t>
            </a:r>
          </a:p>
          <a:p>
            <a:pPr marL="285750" indent="-285750">
              <a:buFont typeface="Arial"/>
              <a:buAutoNum type="arabicPeriod"/>
            </a:pPr>
            <a:r>
              <a:rPr lang="en-US" sz="1700" b="1" dirty="0">
                <a:solidFill>
                  <a:srgbClr val="FFB627"/>
                </a:solidFill>
                <a:latin typeface="Segoe UI"/>
              </a:rPr>
              <a:t>Verify with </a:t>
            </a:r>
            <a:r>
              <a:rPr lang="en-US" sz="1500" b="1" dirty="0">
                <a:solidFill>
                  <a:srgbClr val="FFB627"/>
                </a:solidFill>
                <a:latin typeface="Consolas"/>
              </a:rPr>
              <a:t>openssl s_client -connect kafka:9093</a:t>
            </a:r>
          </a:p>
        </p:txBody>
      </p:sp>
    </p:spTree>
    <p:extLst>
      <p:ext uri="{BB962C8B-B14F-4D97-AF65-F5344CB8AC3E}">
        <p14:creationId xmlns:p14="http://schemas.microsoft.com/office/powerpoint/2010/main" val="3485669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00D4FF"/>
                </a:solidFill>
                <a:latin typeface="Segoe UI"/>
              </a:rPr>
              <a:t>Part 2 - Monitoring &amp;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  <a:latin typeface="Segoe UI"/>
              </a:rPr>
              <a:t>Three pillars of Kafka observability</a:t>
            </a:r>
          </a:p>
          <a:p>
            <a:pPr marL="228600" indent="-228600">
              <a:buFont typeface="Arial"/>
              <a:buChar char="•"/>
            </a:pPr>
            <a:r>
              <a:rPr lang="en-US" sz="1700" b="1" dirty="0">
                <a:solidFill>
                  <a:srgbClr val="00D4FF"/>
                </a:solidFill>
                <a:latin typeface="Segoe UI"/>
              </a:rPr>
              <a:t>Metrics</a:t>
            </a:r>
            <a:r>
              <a:rPr lang="en-US" sz="1700" dirty="0">
                <a:solidFill>
                  <a:srgbClr val="E8F0F8"/>
                </a:solidFill>
                <a:latin typeface="Segoe UI"/>
              </a:rPr>
              <a:t> - JMX → Prometheus → Grafana for trends &amp; alerts</a:t>
            </a:r>
          </a:p>
          <a:p>
            <a:pPr marL="228600" indent="-228600">
              <a:buFont typeface="Arial"/>
              <a:buChar char="•"/>
            </a:pPr>
            <a:r>
              <a:rPr lang="en-US" sz="1700" b="1" dirty="0">
                <a:solidFill>
                  <a:srgbClr val="00D4FF"/>
                </a:solidFill>
                <a:latin typeface="Segoe UI"/>
              </a:rPr>
              <a:t>Logs</a:t>
            </a:r>
            <a:r>
              <a:rPr lang="en-US" sz="1700" dirty="0">
                <a:solidFill>
                  <a:srgbClr val="E8F0F8"/>
                </a:solidFill>
                <a:latin typeface="Segoe UI"/>
              </a:rPr>
              <a:t> - broker, controller, GC logs → ELK/Loki for root-cause</a:t>
            </a:r>
          </a:p>
          <a:p>
            <a:pPr marL="228600" indent="-228600">
              <a:buFont typeface="Arial"/>
              <a:buChar char="•"/>
            </a:pPr>
            <a:r>
              <a:rPr lang="en-US" sz="1700" b="1" dirty="0">
                <a:solidFill>
                  <a:srgbClr val="00D4FF"/>
                </a:solidFill>
                <a:latin typeface="Segoe UI"/>
              </a:rPr>
              <a:t>Traces</a:t>
            </a:r>
            <a:r>
              <a:rPr lang="en-US" sz="1700" dirty="0">
                <a:solidFill>
                  <a:srgbClr val="E8F0F8"/>
                </a:solidFill>
                <a:latin typeface="Segoe UI"/>
              </a:rPr>
              <a:t> - OpenTelemetry headers for end-to-end producer→consumer</a:t>
            </a:r>
          </a:p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  <a:latin typeface="Segoe UI"/>
              </a:rPr>
              <a:t>What we'll cover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>
                <a:solidFill>
                  <a:srgbClr val="E8F0F8"/>
                </a:solidFill>
                <a:latin typeface="Segoe UI"/>
              </a:rPr>
              <a:t>Key metrics for brokers, producers, consumers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>
                <a:solidFill>
                  <a:srgbClr val="E8F0F8"/>
                </a:solidFill>
                <a:latin typeface="Segoe UI"/>
              </a:rPr>
              <a:t>Prometheus + Grafana stack - wiring it up end-to-end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>
                <a:solidFill>
                  <a:srgbClr val="E8F0F8"/>
                </a:solidFill>
                <a:latin typeface="Segoe UI"/>
              </a:rPr>
              <a:t>Alerting strategy - what to page on, what to ignore</a:t>
            </a:r>
          </a:p>
        </p:txBody>
      </p:sp>
    </p:spTree>
    <p:extLst>
      <p:ext uri="{BB962C8B-B14F-4D97-AF65-F5344CB8AC3E}">
        <p14:creationId xmlns:p14="http://schemas.microsoft.com/office/powerpoint/2010/main" val="471076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00D4FF"/>
                </a:solidFill>
                <a:latin typeface="Segoe UI"/>
              </a:rPr>
              <a:t>JMX - The Source of Truth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  <a:latin typeface="Segoe UI"/>
              </a:rPr>
              <a:t>What JMX exposes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>
                <a:solidFill>
                  <a:srgbClr val="E8F0F8"/>
                </a:solidFill>
                <a:latin typeface="Segoe UI"/>
              </a:rPr>
              <a:t>Every Kafka metric - broker, network, request, replication, log - as JMX MBeans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>
                <a:solidFill>
                  <a:srgbClr val="E8F0F8"/>
                </a:solidFill>
                <a:latin typeface="Segoe UI"/>
              </a:rPr>
              <a:t>JVM internals - heap, GC pause, threads - equally critical</a:t>
            </a:r>
          </a:p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  <a:latin typeface="Segoe UI"/>
              </a:rPr>
              <a:t>Enabling JMX</a:t>
            </a:r>
          </a:p>
          <a:p>
            <a:pPr marL="285750" indent="0">
              <a:buNone/>
            </a:pPr>
            <a:r>
              <a:rPr lang="en-US" sz="1300" dirty="0">
                <a:solidFill>
                  <a:srgbClr val="9CB3C7"/>
                </a:solidFill>
                <a:latin typeface="Consolas"/>
              </a:rPr>
              <a:t>export KAFKA_JMX_OPTS="-Dcom.sun.management.jmxremote \
  -Dcom.sun.management.jmxremote.port=9999 \
  -Dcom.sun.management.jmxremote.authenticate=true \
  -Dcom.sun.management.jmxremote.ssl=true"</a:t>
            </a:r>
          </a:p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  <a:latin typeface="Segoe UI"/>
              </a:rPr>
              <a:t>Don't scrape JMX directly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>
                <a:solidFill>
                  <a:srgbClr val="E8F0F8"/>
                </a:solidFill>
                <a:latin typeface="Segoe UI"/>
              </a:rPr>
              <a:t>Use </a:t>
            </a:r>
            <a:r>
              <a:rPr lang="en-US" sz="1500" b="1" dirty="0">
                <a:solidFill>
                  <a:srgbClr val="00D4FF"/>
                </a:solidFill>
                <a:latin typeface="Consolas"/>
              </a:rPr>
              <a:t>jmx_exporter</a:t>
            </a:r>
            <a:r>
              <a:rPr lang="en-US" sz="1700" dirty="0">
                <a:solidFill>
                  <a:srgbClr val="E8F0F8"/>
                </a:solidFill>
                <a:latin typeface="Segoe UI"/>
              </a:rPr>
              <a:t> as a Java agent - translates MBeans to Prometheus </a:t>
            </a:r>
            <a:r>
              <a:rPr lang="en-US" sz="1500" b="1" dirty="0">
                <a:solidFill>
                  <a:srgbClr val="00D4FF"/>
                </a:solidFill>
                <a:latin typeface="Consolas"/>
              </a:rPr>
              <a:t>/metrics</a:t>
            </a:r>
          </a:p>
        </p:txBody>
      </p:sp>
    </p:spTree>
    <p:extLst>
      <p:ext uri="{BB962C8B-B14F-4D97-AF65-F5344CB8AC3E}">
        <p14:creationId xmlns:p14="http://schemas.microsoft.com/office/powerpoint/2010/main" val="3601140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00D4FF"/>
                </a:solidFill>
                <a:latin typeface="Segoe UI"/>
              </a:rPr>
              <a:t>Broker Metrics That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  <a:latin typeface="Segoe UI"/>
              </a:rPr>
              <a:t>Health (page on these)</a:t>
            </a:r>
          </a:p>
          <a:p>
            <a:pPr marL="228600" indent="-228600">
              <a:buFont typeface="Arial"/>
              <a:buChar char="•"/>
            </a:pPr>
            <a:r>
              <a:rPr lang="en-US" sz="1500" b="1" dirty="0">
                <a:solidFill>
                  <a:srgbClr val="00D4FF"/>
                </a:solidFill>
                <a:latin typeface="Consolas"/>
              </a:rPr>
              <a:t>UnderReplicatedPartitions</a:t>
            </a:r>
            <a:r>
              <a:rPr lang="en-US" sz="1700" dirty="0">
                <a:solidFill>
                  <a:srgbClr val="E8F0F8"/>
                </a:solidFill>
                <a:latin typeface="Segoe UI"/>
              </a:rPr>
              <a:t> &gt; 0 → broker behind or down</a:t>
            </a:r>
          </a:p>
          <a:p>
            <a:pPr marL="228600" indent="-228600">
              <a:buFont typeface="Arial"/>
              <a:buChar char="•"/>
            </a:pPr>
            <a:r>
              <a:rPr lang="en-US" sz="1500" b="1" dirty="0">
                <a:solidFill>
                  <a:srgbClr val="00D4FF"/>
                </a:solidFill>
                <a:latin typeface="Consolas"/>
              </a:rPr>
              <a:t>OfflinePartitionsCount</a:t>
            </a:r>
            <a:r>
              <a:rPr lang="en-US" sz="1700" dirty="0">
                <a:solidFill>
                  <a:srgbClr val="E8F0F8"/>
                </a:solidFill>
                <a:latin typeface="Segoe UI"/>
              </a:rPr>
              <a:t> &gt; 0 → no leader, producers blocked</a:t>
            </a:r>
          </a:p>
          <a:p>
            <a:pPr marL="228600" indent="-228600">
              <a:buFont typeface="Arial"/>
              <a:buChar char="•"/>
            </a:pPr>
            <a:r>
              <a:rPr lang="en-US" sz="1500" b="1" dirty="0">
                <a:solidFill>
                  <a:srgbClr val="00D4FF"/>
                </a:solidFill>
                <a:latin typeface="Consolas"/>
              </a:rPr>
              <a:t>ActiveControllerCount</a:t>
            </a:r>
            <a:r>
              <a:rPr lang="en-US" sz="1700" dirty="0">
                <a:solidFill>
                  <a:srgbClr val="E8F0F8"/>
                </a:solidFill>
                <a:latin typeface="Segoe UI"/>
              </a:rPr>
              <a:t> ≠ 1 cluster-wide → split brain</a:t>
            </a:r>
          </a:p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  <a:latin typeface="Segoe UI"/>
              </a:rPr>
              <a:t>Throughput &amp; latency</a:t>
            </a:r>
          </a:p>
          <a:p>
            <a:pPr marL="228600" indent="-228600">
              <a:buFont typeface="Arial"/>
              <a:buChar char="•"/>
            </a:pPr>
            <a:r>
              <a:rPr lang="en-US" sz="1500" b="1" dirty="0">
                <a:solidFill>
                  <a:srgbClr val="00D4FF"/>
                </a:solidFill>
                <a:latin typeface="Consolas"/>
              </a:rPr>
              <a:t>BytesInPerSec / BytesOutPerSec</a:t>
            </a:r>
            <a:r>
              <a:rPr lang="en-US" sz="1700" dirty="0">
                <a:solidFill>
                  <a:srgbClr val="E8F0F8"/>
                </a:solidFill>
                <a:latin typeface="Segoe UI"/>
              </a:rPr>
              <a:t> per topic</a:t>
            </a:r>
          </a:p>
          <a:p>
            <a:pPr marL="228600" indent="-228600">
              <a:buFont typeface="Arial"/>
              <a:buChar char="•"/>
            </a:pPr>
            <a:r>
              <a:rPr lang="en-US" sz="1500" b="1" dirty="0">
                <a:solidFill>
                  <a:srgbClr val="00D4FF"/>
                </a:solidFill>
                <a:latin typeface="Consolas"/>
              </a:rPr>
              <a:t>RequestQueueTimeMs</a:t>
            </a:r>
            <a:r>
              <a:rPr lang="en-US" sz="1700" dirty="0">
                <a:solidFill>
                  <a:srgbClr val="E8F0F8"/>
                </a:solidFill>
                <a:latin typeface="Segoe UI"/>
              </a:rPr>
              <a:t> p99 - broker overload signal</a:t>
            </a:r>
          </a:p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  <a:latin typeface="Segoe UI"/>
              </a:rPr>
              <a:t>JVM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>
                <a:solidFill>
                  <a:srgbClr val="E8F0F8"/>
                </a:solidFill>
                <a:latin typeface="Segoe UI"/>
              </a:rPr>
              <a:t>Heap usage, GC pause time (G1 target &lt; 200ms), file descriptor count</a:t>
            </a:r>
          </a:p>
        </p:txBody>
      </p:sp>
    </p:spTree>
    <p:extLst>
      <p:ext uri="{BB962C8B-B14F-4D97-AF65-F5344CB8AC3E}">
        <p14:creationId xmlns:p14="http://schemas.microsoft.com/office/powerpoint/2010/main" val="763798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00D4FF"/>
                </a:solidFill>
              </a:rPr>
              <a:t>Client &amp; Producer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</a:rPr>
              <a:t>Producer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>
                <a:solidFill>
                  <a:srgbClr val="00D4FF"/>
                </a:solidFill>
                <a:latin typeface="Consolas"/>
              </a:rPr>
              <a:t>record-send-rate</a:t>
            </a:r>
            <a:r>
              <a:rPr lang="en-US" sz="1700" dirty="0"/>
              <a:t> - throughput per topic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>
                <a:solidFill>
                  <a:srgbClr val="00D4FF"/>
                </a:solidFill>
                <a:latin typeface="Consolas"/>
              </a:rPr>
              <a:t>record-error-rate</a:t>
            </a:r>
            <a:r>
              <a:rPr lang="en-US" sz="1700" dirty="0"/>
              <a:t> ≠ 0 → ACL or schema break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>
                <a:solidFill>
                  <a:srgbClr val="00D4FF"/>
                </a:solidFill>
                <a:latin typeface="Consolas"/>
              </a:rPr>
              <a:t>buffer-available-bytes</a:t>
            </a:r>
            <a:r>
              <a:rPr lang="en-US" sz="1700" dirty="0"/>
              <a:t> approaching 0 → back-pressure</a:t>
            </a:r>
          </a:p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</a:rPr>
              <a:t>Consumer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>
                <a:solidFill>
                  <a:srgbClr val="00D4FF"/>
                </a:solidFill>
                <a:latin typeface="Consolas"/>
              </a:rPr>
              <a:t>records-lag-max</a:t>
            </a:r>
            <a:r>
              <a:rPr lang="en-US" sz="1700" dirty="0"/>
              <a:t> - the #1 SLO signal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>
                <a:solidFill>
                  <a:srgbClr val="00D4FF"/>
                </a:solidFill>
                <a:latin typeface="Consolas"/>
              </a:rPr>
              <a:t>commit-latency-avg</a:t>
            </a:r>
            <a:r>
              <a:rPr lang="en-US" sz="1700" dirty="0"/>
              <a:t>, rebalance frequency</a:t>
            </a:r>
          </a:p>
        </p:txBody>
      </p:sp>
    </p:spTree>
    <p:extLst>
      <p:ext uri="{BB962C8B-B14F-4D97-AF65-F5344CB8AC3E}">
        <p14:creationId xmlns:p14="http://schemas.microsoft.com/office/powerpoint/2010/main" val="4003966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00D4FF"/>
                </a:solidFill>
              </a:rPr>
              <a:t>Lab 04 - JMX + Prometheus Exporter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500" b="1" dirty="0">
                <a:solidFill>
                  <a:srgbClr val="FFB627"/>
                </a:solidFill>
              </a:rPr>
              <a:t>LAB 04   •   25 min   •   Goal: scrape broker JMX into Prometheus.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solidFill>
                  <a:srgbClr val="FFB627"/>
                </a:solidFill>
              </a:rPr>
              <a:t>1. </a:t>
            </a:r>
            <a:r>
              <a:rPr lang="en-US" sz="1600" dirty="0"/>
              <a:t>Attach jmx_exporter as javaagent on each broker</a:t>
            </a:r>
          </a:p>
          <a:p>
            <a:pPr marL="457200" indent="0">
              <a:buNone/>
            </a:pPr>
            <a:r>
              <a:rPr lang="en-US" sz="1400" dirty="0">
                <a:solidFill>
                  <a:srgbClr val="00D4FF"/>
                </a:solidFill>
                <a:latin typeface="Consolas"/>
              </a:rPr>
              <a:t>-javaagent:./jmx_prometheus_javaagent.jar=7071:kafka.yml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solidFill>
                  <a:srgbClr val="FFB627"/>
                </a:solidFill>
              </a:rPr>
              <a:t>2. </a:t>
            </a:r>
            <a:r>
              <a:rPr lang="en-US" sz="1600" dirty="0"/>
              <a:t>Add scrape target in </a:t>
            </a:r>
            <a:r>
              <a:rPr lang="en-US" sz="1600" dirty="0">
                <a:solidFill>
                  <a:srgbClr val="00D4FF"/>
                </a:solidFill>
                <a:latin typeface="Consolas"/>
              </a:rPr>
              <a:t>prometheus.yml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solidFill>
                  <a:srgbClr val="FFB627"/>
                </a:solidFill>
              </a:rPr>
              <a:t>3. </a:t>
            </a:r>
            <a:r>
              <a:rPr lang="en-US" sz="1600" dirty="0"/>
              <a:t>Verify </a:t>
            </a:r>
            <a:r>
              <a:rPr lang="en-US" sz="1600" dirty="0">
                <a:solidFill>
                  <a:srgbClr val="00D4FF"/>
                </a:solidFill>
                <a:latin typeface="Consolas"/>
              </a:rPr>
              <a:t>kafka_server_BrokerTopicMetrics_BytesInPerSec</a:t>
            </a:r>
            <a:r>
              <a:rPr lang="en-US" sz="1600" dirty="0"/>
              <a:t> in /metrics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solidFill>
                  <a:srgbClr val="FFB627"/>
                </a:solidFill>
              </a:rPr>
              <a:t>4. </a:t>
            </a:r>
            <a:r>
              <a:rPr lang="en-US" sz="1600" dirty="0"/>
              <a:t>Import the Confluent Kafka dashboard (id 7589) into Grafana</a:t>
            </a:r>
          </a:p>
        </p:txBody>
      </p:sp>
    </p:spTree>
    <p:extLst>
      <p:ext uri="{BB962C8B-B14F-4D97-AF65-F5344CB8AC3E}">
        <p14:creationId xmlns:p14="http://schemas.microsoft.com/office/powerpoint/2010/main" val="10482014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00D4FF"/>
                </a:solidFill>
              </a:rPr>
              <a:t>Consumer Lag - The Truth Metric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</a:rPr>
              <a:t>What it really means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Lag = </a:t>
            </a:r>
            <a:r>
              <a:rPr lang="en-US" sz="1700" dirty="0">
                <a:solidFill>
                  <a:srgbClr val="00D4FF"/>
                </a:solidFill>
                <a:latin typeface="Consolas"/>
              </a:rPr>
              <a:t>log-end-offset − committed-offset</a:t>
            </a:r>
            <a:r>
              <a:rPr lang="en-US" sz="1700" dirty="0"/>
              <a:t> per partition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Rising lag = consumer can't keep up; flat-high = stuck consumer</a:t>
            </a:r>
          </a:p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</a:rPr>
              <a:t>How to measure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>
                <a:solidFill>
                  <a:srgbClr val="00D4FF"/>
                </a:solidFill>
                <a:latin typeface="Consolas"/>
              </a:rPr>
              <a:t>kafka-consumer-groups.sh --describe</a:t>
            </a:r>
            <a:r>
              <a:rPr lang="en-US" sz="1700" dirty="0"/>
              <a:t> for ad-hoc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>
                <a:solidFill>
                  <a:srgbClr val="00D4FF"/>
                </a:solidFill>
                <a:latin typeface="Consolas"/>
              </a:rPr>
              <a:t>Burrow</a:t>
            </a:r>
            <a:r>
              <a:rPr lang="en-US" sz="1700" dirty="0"/>
              <a:t> or </a:t>
            </a:r>
            <a:r>
              <a:rPr lang="en-US" sz="1700" dirty="0">
                <a:solidFill>
                  <a:srgbClr val="00D4FF"/>
                </a:solidFill>
                <a:latin typeface="Consolas"/>
              </a:rPr>
              <a:t>kafka-lag-exporter</a:t>
            </a:r>
            <a:r>
              <a:rPr lang="en-US" sz="1700" dirty="0"/>
              <a:t> for continuous monitoring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Alert on </a:t>
            </a:r>
            <a:r>
              <a:rPr lang="en-US" sz="1700" dirty="0">
                <a:solidFill>
                  <a:srgbClr val="00D4FF"/>
                </a:solidFill>
                <a:latin typeface="Consolas"/>
              </a:rPr>
              <a:t>lag-in-seconds</a:t>
            </a:r>
            <a:r>
              <a:rPr lang="en-US" sz="1700" dirty="0"/>
              <a:t>, not raw offset (load-independent)</a:t>
            </a:r>
          </a:p>
        </p:txBody>
      </p:sp>
    </p:spTree>
    <p:extLst>
      <p:ext uri="{BB962C8B-B14F-4D97-AF65-F5344CB8AC3E}">
        <p14:creationId xmlns:p14="http://schemas.microsoft.com/office/powerpoint/2010/main" val="29121664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00D4FF"/>
                </a:solidFill>
              </a:rPr>
              <a:t>Lab 05 - Consumer Lag Alerting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500" b="1" dirty="0">
                <a:solidFill>
                  <a:srgbClr val="FFB627"/>
                </a:solidFill>
              </a:rPr>
              <a:t>LAB 05   •   20 min   •   Goal: alert when lag breaches SLO.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solidFill>
                  <a:srgbClr val="FFB627"/>
                </a:solidFill>
              </a:rPr>
              <a:t>1. </a:t>
            </a:r>
            <a:r>
              <a:rPr lang="en-US" sz="1600" dirty="0"/>
              <a:t>Deploy kafka-lag-exporter; point at all consumer groups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solidFill>
                  <a:srgbClr val="FFB627"/>
                </a:solidFill>
              </a:rPr>
              <a:t>2. </a:t>
            </a:r>
            <a:r>
              <a:rPr lang="en-US" sz="1600" dirty="0"/>
              <a:t>Write a Prometheus rule for SLO breach</a:t>
            </a:r>
          </a:p>
          <a:p>
            <a:pPr marL="457200" indent="0">
              <a:buNone/>
            </a:pPr>
            <a:r>
              <a:rPr lang="en-US" sz="1400" dirty="0">
                <a:solidFill>
                  <a:srgbClr val="00D4FF"/>
                </a:solidFill>
                <a:latin typeface="Consolas"/>
              </a:rPr>
              <a:t>kafka_consumergroup_group_max_lag_seconds &gt; 30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solidFill>
                  <a:srgbClr val="FFB627"/>
                </a:solidFill>
              </a:rPr>
              <a:t>3. </a:t>
            </a:r>
            <a:r>
              <a:rPr lang="en-US" sz="1600" dirty="0"/>
              <a:t>Simulate by stopping a consumer; watch alert fire in &lt; 1 min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solidFill>
                  <a:srgbClr val="FFB627"/>
                </a:solidFill>
              </a:rPr>
              <a:t>4. </a:t>
            </a:r>
            <a:r>
              <a:rPr lang="en-US" sz="1600" dirty="0"/>
              <a:t>Restart, confirm lag recovers and alert resolves</a:t>
            </a:r>
          </a:p>
        </p:txBody>
      </p:sp>
    </p:spTree>
    <p:extLst>
      <p:ext uri="{BB962C8B-B14F-4D97-AF65-F5344CB8AC3E}">
        <p14:creationId xmlns:p14="http://schemas.microsoft.com/office/powerpoint/2010/main" val="2187857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00D4FF"/>
                </a:solidFill>
              </a:rPr>
              <a:t>Centralized Logging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</a:rPr>
              <a:t>What to ship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>
                <a:solidFill>
                  <a:srgbClr val="00D4FF"/>
                </a:solidFill>
                <a:latin typeface="Consolas"/>
              </a:rPr>
              <a:t>server.log</a:t>
            </a:r>
            <a:r>
              <a:rPr lang="en-US" sz="1700" dirty="0"/>
              <a:t> (broker), </a:t>
            </a:r>
            <a:r>
              <a:rPr lang="en-US" sz="1700" dirty="0">
                <a:solidFill>
                  <a:srgbClr val="00D4FF"/>
                </a:solidFill>
                <a:latin typeface="Consolas"/>
              </a:rPr>
              <a:t>controller.log</a:t>
            </a:r>
            <a:r>
              <a:rPr lang="en-US" sz="1700" dirty="0"/>
              <a:t>, </a:t>
            </a:r>
            <a:r>
              <a:rPr lang="en-US" sz="1700" dirty="0">
                <a:solidFill>
                  <a:srgbClr val="00D4FF"/>
                </a:solidFill>
                <a:latin typeface="Consolas"/>
              </a:rPr>
              <a:t>state-change.log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>
                <a:solidFill>
                  <a:srgbClr val="00D4FF"/>
                </a:solidFill>
                <a:latin typeface="Consolas"/>
              </a:rPr>
              <a:t>kafka-authorizer.log</a:t>
            </a:r>
            <a:r>
              <a:rPr lang="en-US" sz="1700" dirty="0"/>
              <a:t> - audit trail for ACL denials</a:t>
            </a:r>
          </a:p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</a:rPr>
              <a:t>How to ship it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Filebeat / Fluent Bit → Elasticsearch or Loki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Tag every event with </a:t>
            </a:r>
            <a:r>
              <a:rPr lang="en-US" sz="1700" dirty="0">
                <a:solidFill>
                  <a:srgbClr val="00D4FF"/>
                </a:solidFill>
                <a:latin typeface="Consolas"/>
              </a:rPr>
              <a:t>broker.id</a:t>
            </a:r>
            <a:r>
              <a:rPr lang="en-US" sz="1700" dirty="0"/>
              <a:t>, </a:t>
            </a:r>
            <a:r>
              <a:rPr lang="en-US" sz="1700" dirty="0">
                <a:solidFill>
                  <a:srgbClr val="00D4FF"/>
                </a:solidFill>
                <a:latin typeface="Consolas"/>
              </a:rPr>
              <a:t>cluster</a:t>
            </a:r>
            <a:r>
              <a:rPr lang="en-US" sz="1700" dirty="0"/>
              <a:t>, </a:t>
            </a:r>
            <a:r>
              <a:rPr lang="en-US" sz="1700" dirty="0">
                <a:solidFill>
                  <a:srgbClr val="00D4FF"/>
                </a:solidFill>
                <a:latin typeface="Consolas"/>
              </a:rPr>
              <a:t>env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Retain authorizer logs ≥ 90 days for compliance</a:t>
            </a:r>
          </a:p>
        </p:txBody>
      </p:sp>
    </p:spTree>
    <p:extLst>
      <p:ext uri="{BB962C8B-B14F-4D97-AF65-F5344CB8AC3E}">
        <p14:creationId xmlns:p14="http://schemas.microsoft.com/office/powerpoint/2010/main" val="3353112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00D4FF"/>
                </a:solidFill>
              </a:rPr>
              <a:t>Distributed Tracing for Kafka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</a:rPr>
              <a:t>The problem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Kafka breaks the synchronous call chain - traces lose the thread on </a:t>
            </a:r>
            <a:r>
              <a:rPr lang="en-US" sz="1700" dirty="0">
                <a:solidFill>
                  <a:srgbClr val="00D4FF"/>
                </a:solidFill>
                <a:latin typeface="Consolas"/>
              </a:rPr>
              <a:t>produce</a:t>
            </a:r>
          </a:p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</a:rPr>
              <a:t>The pattern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Inject </a:t>
            </a:r>
            <a:r>
              <a:rPr lang="en-US" sz="1700" dirty="0">
                <a:solidFill>
                  <a:srgbClr val="00D4FF"/>
                </a:solidFill>
                <a:latin typeface="Consolas"/>
              </a:rPr>
              <a:t>traceparent</a:t>
            </a:r>
            <a:r>
              <a:rPr lang="en-US" sz="1700" dirty="0"/>
              <a:t> into Kafka headers on produce (W3C Trace Context)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Consumer extracts header, continues the span with </a:t>
            </a:r>
            <a:r>
              <a:rPr lang="en-US" sz="1700" dirty="0">
                <a:solidFill>
                  <a:srgbClr val="00D4FF"/>
                </a:solidFill>
                <a:latin typeface="Consolas"/>
              </a:rPr>
              <a:t>follows_from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OpenTelemetry Kafka instrumentation handles this automatically</a:t>
            </a:r>
          </a:p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</a:rPr>
              <a:t>The payoff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End-to-end latency view in Jaeger / Tempo across the entire event pipeline</a:t>
            </a:r>
          </a:p>
        </p:txBody>
      </p:sp>
    </p:spTree>
    <p:extLst>
      <p:ext uri="{BB962C8B-B14F-4D97-AF65-F5344CB8AC3E}">
        <p14:creationId xmlns:p14="http://schemas.microsoft.com/office/powerpoint/2010/main" val="21320747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00D4FF"/>
                </a:solidFill>
              </a:rPr>
              <a:t>Lab 06 - Grafana Dashboard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500" b="1" dirty="0">
                <a:solidFill>
                  <a:srgbClr val="FFB627"/>
                </a:solidFill>
              </a:rPr>
              <a:t>LAB 06   •   30 min   •   Goal: a cluster overview dashboard you'd actually page on.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solidFill>
                  <a:srgbClr val="FFB627"/>
                </a:solidFill>
              </a:rPr>
              <a:t>1. </a:t>
            </a:r>
            <a:r>
              <a:rPr lang="en-US" sz="1600" dirty="0"/>
              <a:t>Stat panels: broker count, under-replicated, offline partitions, active controller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solidFill>
                  <a:srgbClr val="FFB627"/>
                </a:solidFill>
              </a:rPr>
              <a:t>2. </a:t>
            </a:r>
            <a:r>
              <a:rPr lang="en-US" sz="1600" dirty="0"/>
              <a:t>Time series: </a:t>
            </a:r>
            <a:r>
              <a:rPr lang="en-US" sz="1600" dirty="0">
                <a:solidFill>
                  <a:srgbClr val="00D4FF"/>
                </a:solidFill>
                <a:latin typeface="Consolas"/>
              </a:rPr>
              <a:t>BytesIn/OutPerSec</a:t>
            </a:r>
            <a:r>
              <a:rPr lang="en-US" sz="1600" dirty="0"/>
              <a:t> by topic (top 10)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solidFill>
                  <a:srgbClr val="FFB627"/>
                </a:solidFill>
              </a:rPr>
              <a:t>3. </a:t>
            </a:r>
            <a:r>
              <a:rPr lang="en-US" sz="1600" dirty="0"/>
              <a:t>Heatmap: consumer-group lag-in-seconds by group × partition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solidFill>
                  <a:srgbClr val="FFB627"/>
                </a:solidFill>
              </a:rPr>
              <a:t>4. </a:t>
            </a:r>
            <a:r>
              <a:rPr lang="en-US" sz="1600" dirty="0"/>
              <a:t>Add annotations from Alertmanager so incidents overlay on charts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solidFill>
                  <a:srgbClr val="FFB627"/>
                </a:solidFill>
              </a:rPr>
              <a:t>5. </a:t>
            </a:r>
            <a:r>
              <a:rPr lang="en-US" sz="1600" dirty="0"/>
              <a:t>Export JSON, commit to your dashboards-as-code repo</a:t>
            </a:r>
          </a:p>
        </p:txBody>
      </p:sp>
    </p:spTree>
    <p:extLst>
      <p:ext uri="{BB962C8B-B14F-4D97-AF65-F5344CB8AC3E}">
        <p14:creationId xmlns:p14="http://schemas.microsoft.com/office/powerpoint/2010/main" val="16862234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00D4FF"/>
                </a:solidFill>
              </a:rPr>
              <a:t>SLOs &amp; Alerting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</a:rPr>
              <a:t>Define SLOs from the consumer's view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Availability: % of messages durably committed (RF≥2, acks=all)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Latency: p99 end-to-end produce→consume &lt; target (e.g. 5 s)</a:t>
            </a:r>
          </a:p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</a:rPr>
              <a:t>Alert on symptoms, not causes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Page on lag-in-seconds, error rate, URP - not CPU or disk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Use multi-window burn-rate alerts (1h fast + 6h slow) to avoid noise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Every alert points to a runbook; if it doesn't, delete the alert</a:t>
            </a:r>
          </a:p>
        </p:txBody>
      </p:sp>
    </p:spTree>
    <p:extLst>
      <p:ext uri="{BB962C8B-B14F-4D97-AF65-F5344CB8AC3E}">
        <p14:creationId xmlns:p14="http://schemas.microsoft.com/office/powerpoint/2010/main" val="22252805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en-US" sz="3200" b="1" dirty="0">
                <a:solidFill>
                  <a:srgbClr val="00D4FF"/>
                </a:solidFill>
              </a:rPr>
              <a:t>Part 3 - Operations &amp; Incident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None/>
            </a:pPr>
            <a:r>
              <a:rPr lang="en-US" sz="2000" dirty="0"/>
              <a:t>Where you stop reading dashboards and start fixing clusters.</a:t>
            </a:r>
          </a:p>
          <a:p>
            <a:pPr algn="l">
              <a:buNone/>
            </a:pPr>
            <a:endParaRPr lang="en-US" sz="1800" dirty="0"/>
          </a:p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</a:rPr>
              <a:t>In this section</a:t>
            </a:r>
          </a:p>
          <a:p>
            <a:pPr marL="228600" indent="-228600">
              <a:buFont typeface="Arial"/>
              <a:buChar char="•"/>
            </a:pPr>
            <a:r>
              <a:rPr lang="en-US" sz="1800" dirty="0"/>
              <a:t>Common failure modes and how to recognize them fast</a:t>
            </a:r>
          </a:p>
          <a:p>
            <a:pPr marL="228600" indent="-228600">
              <a:buFont typeface="Arial"/>
              <a:buChar char="•"/>
            </a:pPr>
            <a:r>
              <a:rPr lang="en-US" sz="1800" dirty="0"/>
              <a:t>Rebalancing partitions and replacing brokers safely</a:t>
            </a:r>
          </a:p>
          <a:p>
            <a:pPr marL="228600" indent="-228600">
              <a:buFont typeface="Arial"/>
              <a:buChar char="•"/>
            </a:pPr>
            <a:r>
              <a:rPr lang="en-US" sz="1800" dirty="0"/>
              <a:t>Capacity planning, chaos drills, and runbook patterns</a:t>
            </a:r>
          </a:p>
        </p:txBody>
      </p:sp>
    </p:spTree>
    <p:extLst>
      <p:ext uri="{BB962C8B-B14F-4D97-AF65-F5344CB8AC3E}">
        <p14:creationId xmlns:p14="http://schemas.microsoft.com/office/powerpoint/2010/main" val="35748126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en-US" sz="3200" b="1" dirty="0">
                <a:solidFill>
                  <a:srgbClr val="00D4FF"/>
                </a:solidFill>
              </a:rPr>
              <a:t>Common Failure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</a:rPr>
              <a:t>Disk full on a broker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Symptom: broker offline, URP spikes  →  Fix: shrink retention, add disk, never delete segments</a:t>
            </a:r>
          </a:p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</a:rPr>
              <a:t>Split-brain controller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Symptom: </a:t>
            </a:r>
            <a:r>
              <a:rPr lang="en-US" sz="1700" dirty="0">
                <a:solidFill>
                  <a:srgbClr val="00D4FF"/>
                </a:solidFill>
                <a:latin typeface="Consolas"/>
              </a:rPr>
              <a:t>ActiveControllerCount</a:t>
            </a:r>
            <a:r>
              <a:rPr lang="en-US" sz="1700" dirty="0"/>
              <a:t> ≠ 1 → ZK/KRaft network issue, restart contender</a:t>
            </a:r>
          </a:p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</a:rPr>
              <a:t>Stuck rebalance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Symptom: consumer group stays in </a:t>
            </a:r>
            <a:r>
              <a:rPr lang="en-US" sz="1700" dirty="0">
                <a:solidFill>
                  <a:srgbClr val="00D4FF"/>
                </a:solidFill>
                <a:latin typeface="Consolas"/>
              </a:rPr>
              <a:t>PreparingRebalance</a:t>
            </a:r>
            <a:r>
              <a:rPr lang="en-US" sz="1700" dirty="0"/>
              <a:t> → kill slow consumer</a:t>
            </a:r>
          </a:p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</a:rPr>
              <a:t>Hot partition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Symptom: one broker pegged, others idle → reshape partition key or increase partition count</a:t>
            </a:r>
          </a:p>
        </p:txBody>
      </p:sp>
    </p:spTree>
    <p:extLst>
      <p:ext uri="{BB962C8B-B14F-4D97-AF65-F5344CB8AC3E}">
        <p14:creationId xmlns:p14="http://schemas.microsoft.com/office/powerpoint/2010/main" val="25252597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00D4FF"/>
                </a:solidFill>
              </a:rPr>
              <a:t>Lab 07 - Broker Failure Drill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500" b="1" dirty="0">
                <a:solidFill>
                  <a:srgbClr val="FFB627"/>
                </a:solidFill>
              </a:rPr>
              <a:t>LAB 07   •   30 min   •   Goal: survive a broker death without data loss.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solidFill>
                  <a:srgbClr val="FFB627"/>
                </a:solidFill>
              </a:rPr>
              <a:t>1. </a:t>
            </a:r>
            <a:r>
              <a:rPr lang="en-US" sz="1600" dirty="0"/>
              <a:t>Verify topic has </a:t>
            </a:r>
            <a:r>
              <a:rPr lang="en-US" sz="1600" dirty="0">
                <a:solidFill>
                  <a:srgbClr val="00D4FF"/>
                </a:solidFill>
                <a:latin typeface="Consolas"/>
              </a:rPr>
              <a:t>replication-factor=3, min.insync.replicas=2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solidFill>
                  <a:srgbClr val="FFB627"/>
                </a:solidFill>
              </a:rPr>
              <a:t>2. </a:t>
            </a:r>
            <a:r>
              <a:rPr lang="en-US" sz="1600" dirty="0"/>
              <a:t>Start a continuous producer with </a:t>
            </a:r>
            <a:r>
              <a:rPr lang="en-US" sz="1600" dirty="0">
                <a:solidFill>
                  <a:srgbClr val="00D4FF"/>
                </a:solidFill>
                <a:latin typeface="Consolas"/>
              </a:rPr>
              <a:t>acks=all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solidFill>
                  <a:srgbClr val="FFB627"/>
                </a:solidFill>
              </a:rPr>
              <a:t>3. </a:t>
            </a:r>
            <a:r>
              <a:rPr lang="en-US" sz="1600" dirty="0"/>
              <a:t>Kill broker-2; observe leader re-election in dashboards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solidFill>
                  <a:srgbClr val="FFB627"/>
                </a:solidFill>
              </a:rPr>
              <a:t>4. </a:t>
            </a:r>
            <a:r>
              <a:rPr lang="en-US" sz="1600" dirty="0"/>
              <a:t>Confirm no produce errors, no lost messages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solidFill>
                  <a:srgbClr val="FFB627"/>
                </a:solidFill>
              </a:rPr>
              <a:t>5. </a:t>
            </a:r>
            <a:r>
              <a:rPr lang="en-US" sz="1600" dirty="0"/>
              <a:t>Bring broker back, watch URP drain back to 0</a:t>
            </a:r>
          </a:p>
        </p:txBody>
      </p:sp>
    </p:spTree>
    <p:extLst>
      <p:ext uri="{BB962C8B-B14F-4D97-AF65-F5344CB8AC3E}">
        <p14:creationId xmlns:p14="http://schemas.microsoft.com/office/powerpoint/2010/main" val="31406868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00D4FF"/>
                </a:solidFill>
              </a:rPr>
              <a:t>Rebalancing Partitions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</a:rPr>
              <a:t>When to rebalance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After adding a broker (new node owns 0 partitions until you reassign)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When disk usage or BytesIn skews &gt; 20% across brokers</a:t>
            </a:r>
          </a:p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</a:rPr>
              <a:t>The safe workflow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>
                <a:solidFill>
                  <a:srgbClr val="00D4FF"/>
                </a:solidFill>
                <a:latin typeface="Consolas"/>
              </a:rPr>
              <a:t>kafka-reassign-partitions.sh --generate</a:t>
            </a:r>
            <a:r>
              <a:rPr lang="en-US" sz="1700" dirty="0"/>
              <a:t> - propose a plan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Always pass </a:t>
            </a:r>
            <a:r>
              <a:rPr lang="en-US" sz="1700" dirty="0">
                <a:solidFill>
                  <a:srgbClr val="00D4FF"/>
                </a:solidFill>
                <a:latin typeface="Consolas"/>
              </a:rPr>
              <a:t>--throttle</a:t>
            </a:r>
            <a:r>
              <a:rPr lang="en-US" sz="1700" dirty="0"/>
              <a:t> (≤ 50 MB/s typical) to protect client traffic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Verify with </a:t>
            </a:r>
            <a:r>
              <a:rPr lang="en-US" sz="1700" dirty="0">
                <a:solidFill>
                  <a:srgbClr val="00D4FF"/>
                </a:solidFill>
                <a:latin typeface="Consolas"/>
              </a:rPr>
              <a:t>--verify</a:t>
            </a:r>
            <a:r>
              <a:rPr lang="en-US" sz="1700" dirty="0"/>
              <a:t>, remove throttle when done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For large clusters, use </a:t>
            </a:r>
            <a:r>
              <a:rPr lang="en-US" sz="1700" dirty="0">
                <a:solidFill>
                  <a:srgbClr val="00D4FF"/>
                </a:solidFill>
                <a:latin typeface="Consolas"/>
              </a:rPr>
              <a:t>Cruise Control</a:t>
            </a:r>
            <a:r>
              <a:rPr lang="en-US" sz="1700" dirty="0"/>
              <a:t> - automated, goal-based</a:t>
            </a:r>
          </a:p>
        </p:txBody>
      </p:sp>
    </p:spTree>
    <p:extLst>
      <p:ext uri="{BB962C8B-B14F-4D97-AF65-F5344CB8AC3E}">
        <p14:creationId xmlns:p14="http://schemas.microsoft.com/office/powerpoint/2010/main" val="10595146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00D4FF"/>
                </a:solidFill>
              </a:rPr>
              <a:t>Capacity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</a:rPr>
              <a:t>Size from real numbers, not vibes</a:t>
            </a:r>
          </a:p>
          <a:p>
            <a:pPr marL="228600" indent="-228600">
              <a:buFont typeface="Arial"/>
              <a:buChar char="•"/>
            </a:pPr>
            <a:r>
              <a:rPr lang="en-US" sz="1700" b="1" dirty="0">
                <a:solidFill>
                  <a:srgbClr val="00D4FF"/>
                </a:solidFill>
              </a:rPr>
              <a:t>Throughput: </a:t>
            </a:r>
            <a:r>
              <a:rPr lang="en-US" sz="1700" dirty="0"/>
              <a:t>peak MB/s × retention days × RF = raw disk needed</a:t>
            </a:r>
          </a:p>
          <a:p>
            <a:pPr marL="228600" indent="-228600">
              <a:buFont typeface="Arial"/>
              <a:buChar char="•"/>
            </a:pPr>
            <a:r>
              <a:rPr lang="en-US" sz="1700" b="1" dirty="0">
                <a:solidFill>
                  <a:srgbClr val="00D4FF"/>
                </a:solidFill>
              </a:rPr>
              <a:t>Headroom: </a:t>
            </a:r>
            <a:r>
              <a:rPr lang="en-US" sz="1700" dirty="0"/>
              <a:t>cap brokers at ~70% disk and ~60% CPU at peak</a:t>
            </a:r>
          </a:p>
          <a:p>
            <a:pPr marL="228600" indent="-228600">
              <a:buFont typeface="Arial"/>
              <a:buChar char="•"/>
            </a:pPr>
            <a:r>
              <a:rPr lang="en-US" sz="1700" b="1" dirty="0">
                <a:solidFill>
                  <a:srgbClr val="00D4FF"/>
                </a:solidFill>
              </a:rPr>
              <a:t>Partitions: </a:t>
            </a:r>
            <a:r>
              <a:rPr lang="en-US" sz="1700" dirty="0"/>
              <a:t>at least 1 per consumer; keep total &lt; 4 000 per broker</a:t>
            </a:r>
          </a:p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</a:rPr>
              <a:t>Forecast monthly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Trend BytesInPerSec, disk, partition count - extrapolate 90 days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Order hardware before you cross the 70% line, not after</a:t>
            </a:r>
          </a:p>
        </p:txBody>
      </p:sp>
    </p:spTree>
    <p:extLst>
      <p:ext uri="{BB962C8B-B14F-4D97-AF65-F5344CB8AC3E}">
        <p14:creationId xmlns:p14="http://schemas.microsoft.com/office/powerpoint/2010/main" val="41934520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00D4FF"/>
                </a:solidFill>
              </a:rPr>
              <a:t>Lab 08 - Chaos &amp; Runbook Drill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500" b="1" dirty="0">
                <a:solidFill>
                  <a:srgbClr val="FFB627"/>
                </a:solidFill>
              </a:rPr>
              <a:t>LAB 08   •   40 min   •   Goal: practice your runbook before you need it.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solidFill>
                  <a:srgbClr val="FFB627"/>
                </a:solidFill>
              </a:rPr>
              <a:t>1. </a:t>
            </a:r>
            <a:r>
              <a:rPr lang="en-US" sz="1600" dirty="0"/>
              <a:t>Inject a network partition between two brokers using </a:t>
            </a:r>
            <a:r>
              <a:rPr lang="en-US" sz="1600" dirty="0">
                <a:solidFill>
                  <a:srgbClr val="00D4FF"/>
                </a:solidFill>
                <a:latin typeface="Consolas"/>
              </a:rPr>
              <a:t>iptables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solidFill>
                  <a:srgbClr val="FFB627"/>
                </a:solidFill>
              </a:rPr>
              <a:t>2. </a:t>
            </a:r>
            <a:r>
              <a:rPr lang="en-US" sz="1600" dirty="0"/>
              <a:t>Time how long until your alert fires (SLO: &lt; 2 min)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solidFill>
                  <a:srgbClr val="FFB627"/>
                </a:solidFill>
              </a:rPr>
              <a:t>3. </a:t>
            </a:r>
            <a:r>
              <a:rPr lang="en-US" sz="1600" dirty="0"/>
              <a:t>Follow your runbook to triage, mitigate, recover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solidFill>
                  <a:srgbClr val="FFB627"/>
                </a:solidFill>
              </a:rPr>
              <a:t>4. </a:t>
            </a:r>
            <a:r>
              <a:rPr lang="en-US" sz="1600" dirty="0"/>
              <a:t>Restore connectivity; verify cluster fully healed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solidFill>
                  <a:srgbClr val="FFB627"/>
                </a:solidFill>
              </a:rPr>
              <a:t>5. </a:t>
            </a:r>
            <a:r>
              <a:rPr lang="en-US" sz="1600" dirty="0"/>
              <a:t>Post-incident: list 1 runbook gap + 1 alert that didn't fire</a:t>
            </a:r>
          </a:p>
        </p:txBody>
      </p:sp>
    </p:spTree>
    <p:extLst>
      <p:ext uri="{BB962C8B-B14F-4D97-AF65-F5344CB8AC3E}">
        <p14:creationId xmlns:p14="http://schemas.microsoft.com/office/powerpoint/2010/main" val="33962684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00D4FF"/>
                </a:solidFill>
              </a:rPr>
              <a:t>Production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</a:rPr>
              <a:t>Security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TLS everywhere + SASL/OAuth; deny-by-default ACLs; rotate creds quarterly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Forward authorizer logs to your SIEM</a:t>
            </a:r>
          </a:p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</a:rPr>
              <a:t>Reliability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RF=3, min.insync.replicas=2, </a:t>
            </a:r>
            <a:r>
              <a:rPr lang="en-US" sz="1700" dirty="0">
                <a:solidFill>
                  <a:srgbClr val="00D4FF"/>
                </a:solidFill>
                <a:latin typeface="Consolas"/>
              </a:rPr>
              <a:t>acks=all</a:t>
            </a:r>
            <a:r>
              <a:rPr lang="en-US" sz="1700" dirty="0"/>
              <a:t> on the producer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Spread replicas across racks/AZs; never co-locate ZK/KRaft with brokers</a:t>
            </a:r>
          </a:p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</a:rPr>
              <a:t>Observability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Page on URP, OfflinePartitions, ActiveController, lag-in-seconds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Dashboards-as-code, runbooks linked from every alert</a:t>
            </a:r>
          </a:p>
        </p:txBody>
      </p:sp>
    </p:spTree>
    <p:extLst>
      <p:ext uri="{BB962C8B-B14F-4D97-AF65-F5344CB8AC3E}">
        <p14:creationId xmlns:p14="http://schemas.microsoft.com/office/powerpoint/2010/main" val="4664843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00D4FF"/>
                </a:solidFill>
              </a:rPr>
              <a:t>Recap &amp; 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</a:rPr>
              <a:t>You can now…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Configure TLS + SASL/OAuth, write deny-by-default ACLs, audit access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Wire JMX → Prometheus → Grafana, instrument lag, set actionable alerts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Recognize failure modes, rebalance safely, plan capacity from real data</a:t>
            </a:r>
          </a:p>
          <a:p>
            <a:pPr>
              <a:buNone/>
            </a:pPr>
            <a:r>
              <a:rPr lang="en-US" sz="1900" b="1" dirty="0">
                <a:solidFill>
                  <a:srgbClr val="FFB627"/>
                </a:solidFill>
              </a:rPr>
              <a:t>Further reading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>
                <a:solidFill>
                  <a:srgbClr val="00D4FF"/>
                </a:solidFill>
                <a:latin typeface="Consolas"/>
              </a:rPr>
              <a:t>kafka.apache.org/documentation/#security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Confluent: Kafka Security in Depth; Cruise Control; LinkedIn Burrow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Google SRE Workbook - chapters on SLOs and alerting on burn rate</a:t>
            </a:r>
          </a:p>
        </p:txBody>
      </p:sp>
    </p:spTree>
    <p:extLst>
      <p:ext uri="{BB962C8B-B14F-4D97-AF65-F5344CB8AC3E}">
        <p14:creationId xmlns:p14="http://schemas.microsoft.com/office/powerpoint/2010/main" val="24018971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4400" b="1" dirty="0">
                <a:solidFill>
                  <a:srgbClr val="00D4FF"/>
                </a:solidFill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endParaRPr lang="en-US" sz="2000" dirty="0"/>
          </a:p>
          <a:p>
            <a:pPr algn="ctr">
              <a:buNone/>
            </a:pPr>
            <a:r>
              <a:rPr lang="en-US" sz="2800" dirty="0">
                <a:solidFill>
                  <a:srgbClr val="FFB627"/>
                </a:solidFill>
              </a:rPr>
              <a:t>Questions?</a:t>
            </a:r>
          </a:p>
          <a:p>
            <a:pPr algn="ctr">
              <a:buNone/>
            </a:pPr>
            <a:endParaRPr lang="en-US" sz="1600" dirty="0"/>
          </a:p>
          <a:p>
            <a:pPr algn="ctr">
              <a:buNone/>
            </a:pPr>
            <a:r>
              <a:rPr lang="en-US" sz="1800" dirty="0"/>
              <a:t>Vikash Vema</a:t>
            </a:r>
          </a:p>
          <a:p>
            <a:pPr algn="ctr">
              <a:buNone/>
            </a:pPr>
            <a:r>
              <a:rPr lang="en-US" sz="1600" dirty="0">
                <a:solidFill>
                  <a:srgbClr val="A5B3C7"/>
                </a:solidFill>
              </a:rPr>
              <a:t>Kafka Training - Security &amp; Monitoring</a:t>
            </a:r>
          </a:p>
        </p:txBody>
      </p:sp>
    </p:spTree>
    <p:extLst>
      <p:ext uri="{BB962C8B-B14F-4D97-AF65-F5344CB8AC3E}">
        <p14:creationId xmlns:p14="http://schemas.microsoft.com/office/powerpoint/2010/main" val="23161698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 [1779646229063]">
  <a:themeElements>
    <a:clrScheme name="Integral">
      <a:dk1>
        <a:srgbClr val="FFFFFF"/>
      </a:dk1>
      <a:lt1>
        <a:srgbClr val="0F1B2D"/>
      </a:lt1>
      <a:dk2>
        <a:srgbClr val="FFFFFF"/>
      </a:dk2>
      <a:lt2>
        <a:srgbClr val="1A2A42"/>
      </a:lt2>
      <a:accent1>
        <a:srgbClr val="00D4FF"/>
      </a:accent1>
      <a:accent2>
        <a:srgbClr val="0098C7"/>
      </a:accent2>
      <a:accent3>
        <a:srgbClr val="FFB62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Segoe UI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egoe UI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9F82886-DF52-4D59-9C9C-EBB8FC51A9CF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f7578a23-f893-472b-be66-e08e4fa50f1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49</TotalTime>
  <Words>2620</Words>
  <Application>Microsoft Office PowerPoint</Application>
  <PresentationFormat>On-screen Show (4:3)</PresentationFormat>
  <Paragraphs>286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Consolas</vt:lpstr>
      <vt:lpstr>Segoe UI</vt:lpstr>
      <vt:lpstr>Tw Cen MT</vt:lpstr>
      <vt:lpstr>Wingdings 3</vt:lpstr>
      <vt:lpstr>Integral [1779646229063]</vt:lpstr>
      <vt:lpstr>Kafka Security &amp; Monitoring</vt:lpstr>
      <vt:lpstr>Learning Objectives</vt:lpstr>
      <vt:lpstr>Why Kafka Security Matters</vt:lpstr>
      <vt:lpstr>The Four Security Layers</vt:lpstr>
      <vt:lpstr>SASL/PLAIN and SASL/SCRAM</vt:lpstr>
      <vt:lpstr>mTLS (Mutual TLS) Authentication</vt:lpstr>
      <vt:lpstr>Kerberos &amp; OAuth Bearer</vt:lpstr>
      <vt:lpstr>HANDS-ON LAB 01   /   20 min Configure SASL/SCRAM Authentication</vt:lpstr>
      <vt:lpstr>ACLs - Authorization in Kafka</vt:lpstr>
      <vt:lpstr>RBAC - Beyond Plain ACLs</vt:lpstr>
      <vt:lpstr>LAB 02 - 25 min kafka-acls - Grant &amp; Revoke</vt:lpstr>
      <vt:lpstr>TLS Encryption In-Transit</vt:lpstr>
      <vt:lpstr>Audit Logging</vt:lpstr>
      <vt:lpstr>LAB 03 - 30 min End-to-End TLS + SASL</vt:lpstr>
      <vt:lpstr>Part 2 - Monitoring &amp; Observability</vt:lpstr>
      <vt:lpstr>JMX - The Source of Truth</vt:lpstr>
      <vt:lpstr>Broker Metrics That Matter</vt:lpstr>
      <vt:lpstr>Client &amp; Producer Metrics</vt:lpstr>
      <vt:lpstr>Lab 04 - JMX + Prometheus Exporter</vt:lpstr>
      <vt:lpstr>Consumer Lag - The Truth Metric</vt:lpstr>
      <vt:lpstr>Lab 05 - Consumer Lag Alerting</vt:lpstr>
      <vt:lpstr>Centralized Logging Strategy</vt:lpstr>
      <vt:lpstr>Distributed Tracing for Kafka</vt:lpstr>
      <vt:lpstr>Lab 06 - Grafana Dashboard Build</vt:lpstr>
      <vt:lpstr>SLOs &amp; Alerting Strategy</vt:lpstr>
      <vt:lpstr>Part 3 - Operations &amp; Incident Response</vt:lpstr>
      <vt:lpstr>Common Failure Modes</vt:lpstr>
      <vt:lpstr>Lab 07 - Broker Failure Drill</vt:lpstr>
      <vt:lpstr>Rebalancing Partitions</vt:lpstr>
      <vt:lpstr>Capacity Planning</vt:lpstr>
      <vt:lpstr>Lab 08 - Chaos &amp; Runbook Drill</vt:lpstr>
      <vt:lpstr>Production Best Practices</vt:lpstr>
      <vt:lpstr>Recap &amp; What's Next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10</cp:revision>
  <dcterms:created xsi:type="dcterms:W3CDTF">2013-01-27T09:14:16Z</dcterms:created>
  <dcterms:modified xsi:type="dcterms:W3CDTF">2026-05-24T18:52:57Z</dcterms:modified>
  <cp:category/>
</cp:coreProperties>
</file>